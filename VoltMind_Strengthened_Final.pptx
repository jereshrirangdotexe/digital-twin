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4e61c1e08b43ea" /><Relationship Type="http://schemas.openxmlformats.org/officeDocument/2006/relationships/extended-properties" Target="/docProps/app.xml" Id="Rbd26c71398d14bdf" /><Relationship Type="http://schemas.openxmlformats.org/officeDocument/2006/relationships/officeDocument" Target="/ppt/presentation.xml" Id="R3952908006a54c7d" /></Relationships>
</file>

<file path=ppt/presentation.xml><?xml version="1.0" encoding="utf-8"?>
<p:presentation xmlns:p="http://schemas.openxmlformats.org/presentationml/2006/main">
  <p:sldMasterIdLst>
    <p:sldMasterId xmlns:r="http://schemas.openxmlformats.org/officeDocument/2006/relationships" id="2147483648" r:id="Re3b83680dfbc4034"/>
  </p:sldMasterIdLst>
  <p:notesMasterIdLst>
    <p:notesMasterId xmlns:r="http://schemas.openxmlformats.org/officeDocument/2006/relationships" r:id="R2084dda43ab14025"/>
  </p:notesMasterIdLst>
  <p:sldIdLst>
    <p:sldId xmlns:r="http://schemas.openxmlformats.org/officeDocument/2006/relationships" id="256" r:id="R55fbcbfebf9e46a3"/>
    <p:sldId xmlns:r="http://schemas.openxmlformats.org/officeDocument/2006/relationships" id="257" r:id="Re60ebd1f2650439b"/>
    <p:sldId xmlns:r="http://schemas.openxmlformats.org/officeDocument/2006/relationships" id="258" r:id="Rb6f63862bae54bb3"/>
    <p:sldId xmlns:r="http://schemas.openxmlformats.org/officeDocument/2006/relationships" id="259" r:id="R785990060eda45be"/>
    <p:sldId xmlns:r="http://schemas.openxmlformats.org/officeDocument/2006/relationships" id="260" r:id="R599b9e7a385e48a1"/>
    <p:sldId xmlns:r="http://schemas.openxmlformats.org/officeDocument/2006/relationships" id="261" r:id="R3cacb9dbac35458d"/>
    <p:sldId xmlns:r="http://schemas.openxmlformats.org/officeDocument/2006/relationships" id="262" r:id="R47fe93e645e74b2b"/>
    <p:sldId xmlns:r="http://schemas.openxmlformats.org/officeDocument/2006/relationships" id="263" r:id="Rfc92789f630e46c8"/>
    <p:sldId xmlns:r="http://schemas.openxmlformats.org/officeDocument/2006/relationships" id="264" r:id="R746f977c05a943f3"/>
    <p:sldId xmlns:r="http://schemas.openxmlformats.org/officeDocument/2006/relationships" id="265" r:id="Ra11f29da74234345"/>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ae240e1bf1c4cb2" /><Relationship Type="http://schemas.openxmlformats.org/officeDocument/2006/relationships/slideMaster" Target="/ppt/slideMasters/slideMaster1.xml" Id="Re3b83680dfbc4034" /><Relationship Type="http://schemas.openxmlformats.org/officeDocument/2006/relationships/notesMaster" Target="/ppt/notesMasters/notesMaster1.xml" Id="R2084dda43ab14025" /><Relationship Type="http://schemas.openxmlformats.org/officeDocument/2006/relationships/presProps" Target="/ppt/presProps.xml" Id="R5b953fb0cc4d4383" /><Relationship Type="http://schemas.openxmlformats.org/officeDocument/2006/relationships/viewProps" Target="/ppt/viewProps.xml" Id="R330991346f1545d3" /><Relationship Type="http://schemas.openxmlformats.org/officeDocument/2006/relationships/tableStyles" Target="/ppt/tableStyles.xml" Id="R5c35c1d1a9a846b1" /><Relationship Type="http://schemas.openxmlformats.org/officeDocument/2006/relationships/slide" Target="/ppt/slides/slide1.xml" Id="R55fbcbfebf9e46a3" /><Relationship Type="http://schemas.openxmlformats.org/officeDocument/2006/relationships/slide" Target="/ppt/slides/slide2.xml" Id="Re60ebd1f2650439b" /><Relationship Type="http://schemas.openxmlformats.org/officeDocument/2006/relationships/slide" Target="/ppt/slides/slide3.xml" Id="Rb6f63862bae54bb3" /><Relationship Type="http://schemas.openxmlformats.org/officeDocument/2006/relationships/slide" Target="/ppt/slides/slide4.xml" Id="R785990060eda45be" /><Relationship Type="http://schemas.openxmlformats.org/officeDocument/2006/relationships/slide" Target="/ppt/slides/slide5.xml" Id="R599b9e7a385e48a1" /><Relationship Type="http://schemas.openxmlformats.org/officeDocument/2006/relationships/slide" Target="/ppt/slides/slide6.xml" Id="R3cacb9dbac35458d" /><Relationship Type="http://schemas.openxmlformats.org/officeDocument/2006/relationships/slide" Target="/ppt/slides/slide7.xml" Id="R47fe93e645e74b2b" /><Relationship Type="http://schemas.openxmlformats.org/officeDocument/2006/relationships/slide" Target="/ppt/slides/slide8.xml" Id="Rfc92789f630e46c8" /><Relationship Type="http://schemas.openxmlformats.org/officeDocument/2006/relationships/slide" Target="/ppt/slides/slide9.xml" Id="R746f977c05a943f3" /><Relationship Type="http://schemas.openxmlformats.org/officeDocument/2006/relationships/slide" Target="/ppt/slides/slide10.xml" Id="Ra11f29da742343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e2733417ab4d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PRI Grid Grey">
  <a:themeElements>
    <a:clrScheme name="CPRI Grid Grey">
      <a:dk1>
        <a:srgbClr val="1E1E1E"/>
      </a:dk1>
      <a:lt1>
        <a:srgbClr val="F5F5F5"/>
      </a:lt1>
      <a:dk2>
        <a:srgbClr val="555555"/>
      </a:dk2>
      <a:lt2>
        <a:srgbClr val="E6E6E6"/>
      </a:lt2>
      <a:accent1>
        <a:srgbClr val="D46A12"/>
      </a:accent1>
      <a:accent2>
        <a:srgbClr val="BDBDBD"/>
      </a:accent2>
      <a:accent3>
        <a:srgbClr val="F1D9C3"/>
      </a:accent3>
      <a:accent4>
        <a:srgbClr val="8A8A8A"/>
      </a:accent4>
      <a:accent5>
        <a:srgbClr val="6F6F6F"/>
      </a:accent5>
      <a:accent6>
        <a:srgbClr val="B0541A"/>
      </a:accent6>
      <a:hlink>
        <a:srgbClr val="D46A12"/>
      </a:hlink>
      <a:folHlink>
        <a:srgbClr val="8A8A8A"/>
      </a:folHlink>
    </a:clrScheme>
    <a:fontScheme name="CPRI Grid Gre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PRI Grid Gre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fc4f58a68443bc" /><Relationship Type="http://schemas.openxmlformats.org/officeDocument/2006/relationships/notesMaster" Target="/ppt/notesMasters/notesMaster1.xml" Id="R263c5fabc05949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4413e02a4e4f24" /><Relationship Type="http://schemas.openxmlformats.org/officeDocument/2006/relationships/notesMaster" Target="/ppt/notesMasters/notesMaster1.xml" Id="R66653db0b8f24e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082c5cff834366" /><Relationship Type="http://schemas.openxmlformats.org/officeDocument/2006/relationships/notesMaster" Target="/ppt/notesMasters/notesMaster1.xml" Id="R79f26434045845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e96d7500614b13" /><Relationship Type="http://schemas.openxmlformats.org/officeDocument/2006/relationships/notesMaster" Target="/ppt/notesMasters/notesMaster1.xml" Id="Rbfa77d5db87148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123addd1ff4b2f" /><Relationship Type="http://schemas.openxmlformats.org/officeDocument/2006/relationships/notesMaster" Target="/ppt/notesMasters/notesMaster1.xml" Id="Re925f9327e8f4e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1be9f1155e40ac" /><Relationship Type="http://schemas.openxmlformats.org/officeDocument/2006/relationships/notesMaster" Target="/ppt/notesMasters/notesMaster1.xml" Id="R0ca6b17b17d94c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a3675cb4e84480" /><Relationship Type="http://schemas.openxmlformats.org/officeDocument/2006/relationships/notesMaster" Target="/ppt/notesMasters/notesMaster1.xml" Id="R9bc75ca24ea340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ab7d9f22e24106" /><Relationship Type="http://schemas.openxmlformats.org/officeDocument/2006/relationships/notesMaster" Target="/ppt/notesMasters/notesMaster1.xml" Id="R420c25d5012149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ab84dc73074556" /><Relationship Type="http://schemas.openxmlformats.org/officeDocument/2006/relationships/notesMaster" Target="/ppt/notesMasters/notesMaster1.xml" Id="R1cb4cebb547a42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51ce1247bf460b" /><Relationship Type="http://schemas.openxmlformats.org/officeDocument/2006/relationships/notesMaster" Target="/ppt/notesMasters/notesMaster1.xml" Id="R56c97e6cb44846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VoltMind is a transformer-specific operational thermal twin prototype. The current interface replays synthetic measurements or accepts uploaded measurements. No physical sensor feed is connected. Expected oil depends causally on preceding electrical loading and ambient. Engineers retain decisions. Source: project README.md; docs/FINAL_IMPLEMENTATION_ARCHITECTURE.md.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°C is an illustrative temperature, not a trained threshold or protection limit. Current base: I_rated=100000/(sqrt(3)*433)=133.34 A. 24 five-minute sample slots form the two-hour publication block. Fixed limits remain useful for protection; the project adds operating context. Removed unsourced national failure numbers and the oversimplified insulation-aging multiplier. Source: ml/integration100.py; ml/assessment_window.py.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Manager and Session classes own replay state. Spring Boot is an allowlisted proxy and forwards HTTP/SSE. React shows processed evidence and deterministic local explanations. SQLite stores 100-kVA incidents, maintenance and references. Uploads support explicit mappings and calibrated five-minute inference. A live gateway would require engineering and verification. Sources: ml/service.py; backend/src/main/java/com/example/dtbackend/TransformerController.java; frontend/src/services/monitoringInsights.js; docs/FINAL_INTELLIGENCE.md.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chart uses all 288 original 10 February 2026 five-minute observations from data/demo100/100kVA_THERMAL_TWIN_DEMO_4032.csv and expected oil computed by unchanged FinalRuntime100 using data/demo100/calibration.json. Maximum residual 11.03498 °C. Chart values rounded to six decimals for Excel portability. No smoothing or fabricated chart data. Thermal LR inputs: current residual, mean 30 min, mean 60 min, change 30 min. Scores are uncalibrated detector scores. Independent asset calibration and causal history are mandatory. Electrical warnings are engineering rules. Sources: ml/integration100.py; ml/final100/ORIGINAL_TRAINING_README.md; data/demo100/validation.json.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Replay inventory: 100 kVA 241920 original rows plus 4032 demo; 250 kVA 145152; 630 kVA 193536. Total584640. These totals exclude extra training, validation and commissioning copies. Each 4032-row story has 4032 five-minute sample slots, fourteen days, first-to-last time span13d23h55m. Demo is idealized matched-physics illustration and cannot substantiate model generalization. Labels/events/profiles are not runtime features. Source: data/final100; data/demo100; ml/service.py; ml/integration100.py.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locked 100-kVA V4 bundle holds three independently fitted LR heads: thermal4, oil8, R-terminal5 derived features. Oil features use measured level and oil temperature with configured geometry. Terminal features use R-terminal surface temperature, ambient and current. Optional detectors abstain without evidence. 250 kVA uses its frozen HGB runtime; 630 kVA has a physics detector, no trained classifier. No cross-rating benchmark comparability. Sources: ml/final100/ORIGINAL_TRAINING_README.md; ml/vendor250/MODEL_CARD.md; ml/integration630.py.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source is DEMO100_THERMAL_TWIN. At60x4032rows take approximately67seconds plus processing overhead. Select1Feb,10Feb,14Feb in Live Twin. The full replay produced911 thermal-alert rows representing one contiguous episode, not911 independent errors, and eleven thermal warm-up/unassessed rows. First thermal alert9Feb00:55IST. Finalday has zero thermal alerts. Complete browser replay: one recorded thermal episode, zero active warnings, one readiness event. Separate first8days have31clean load-response episodes; this does not automatically lock a DNA reference. UI screenshot is the verified actual app, historical10Feb graph. Sources: data/demo100/validation.json; README.md; docs/PUBLIC_RELEASE_VALIDATION.md; reports/frontend_polish_20261011/thermal-demo-graph.png.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Thermal DNA is descriptive screening, not a trained damage detector or genetic information. It extracts steps &gt;=15load percentage points with clean five-minute history, stable load and ambient. Reference requires explicit healthy attestation, provenance, at least3clean episodes and no thermalalert in the reference history. Comparison requires3new comparable episodes after the reference period. Drift screens are engineering assumptions. Falsification Twin matches load/ambient windows around engineer-entered maintenance and reports association. Source: ml/intelligence.py; docs/FINAL_INTELLIGENCE.md.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post-lock primary test contains48384rows; optional oil controls add20736rows for69120total oil/terminal evaluation rows. All come from the same simulator family. Thermal22/23events detected, median82.5min,p90218min,coverage93.1238%,18falseepisodes/141.81597negative-truth day-equivalents=.126925. The denominator pools histories and is not a field reliability forecast. Thermal row precision91.33% versus baseline96.79%; increased coverage also reflects runtime/warmup policies. Oil assessed-row precision97.88%, recall95.73%, but recall including abstentions55.24%,coverage55.08%. Terminal assessed precision97.32%,recall95.25%; recall including abstentions82.06%,coverage83.40%. Fixed tournament7thermal/6oil/6terminal LR configurations selected on validation, then frozen before fresh test.480kill-first checks include hashes, alignment, causality, truth exclusion and missing-data attacks; these are not480independent physical fault experiments. Application checks:80Python+21frontend+5backend=106.209protected model/data files preserved. Sources: ml/final100/reports/FRESH_POST_LOCK_TEST.json; ORIGINAL_TRAINING_README.md; docs/PUBLIC_RELEASE_VALIDATION.md.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push logs show public repository main and LFS uploaded. Source URL: https://github.com/jereshrirangdotexe/Digital-Twin. Original project work uses MIT with retained third-party rights. No claim that portable one-command retraining exists: frozen training audit sources depend on historical cached artifacts. Immediate development priorities: measured SCADA, independent calibration, false alarms and abstentions. Current unsupported diagnoses: tank pressure, calibrated vibration/mechanical damage, internal bushing dielectric faults, internal short circuits, measured impedance change, measured hotspot and remaining life. Digital-twin maintenance timing is decision support, not an optimized work order. Sources: README.md; SECURITY.md; THIRD_PARTY_NOTICES.md; ml/final100/ORIGINAL_TRAINING_README.md; docs/FINAL_INTELLIGENCE.md.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9904700cc744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d45b9c0a7641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af4dd7a0f84e1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CONTENT">
    <p:bg>
      <p:bgPr>
        <a:solidFill xmlns:a="http://schemas.openxmlformats.org/drawingml/2006/main">
          <a:srgbClr val="E6E6E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EDF1745-EE9E-4E57-BE43-1198722261B7}"/>
              </a:ext>
            </a:extLst>
          </p:cNvPr>
          <p:cNvSpPr>
            <a:spLocks xmlns:a="http://schemas.openxmlformats.org/drawingml/2006/main" noGrp="1"/>
          </p:cNvSpPr>
          <p:nvPr/>
        </p:nvSpPr>
        <p:spPr>
          <a:xfrm xmlns:a="http://schemas.openxmlformats.org/drawingml/2006/main">
            <a:off x="548640" y="566928"/>
            <a:ext cx="274320" cy="274320"/>
          </a:xfrm>
          <a:prstGeom xmlns:a="http://schemas.openxmlformats.org/drawingml/2006/main" prst="rect">
            <a:avLst/>
          </a:prstGeom>
          <a:solidFill xmlns:a="http://schemas.openxmlformats.org/drawingml/2006/main">
            <a:srgbClr val="D46A12"/>
          </a:solidFill>
        </p:spPr>
      </p:sp>
      <p:sp>
        <p:nvSpPr>
          <p:cNvPr id="3" name="Shape 1">
            <a:extLst xmlns:a="http://schemas.openxmlformats.org/drawingml/2006/main">
              <a:ext uri="{FF2B5EF4-FFF2-40B4-BE49-F238E27FC236}">
                <a16:creationId xmlns:a16="http://schemas.microsoft.com/office/drawing/2014/main" id="{512C3F2D-F6EB-4666-A688-EDBB82F202A5}"/>
              </a:ext>
            </a:extLst>
          </p:cNvPr>
          <p:cNvSpPr>
            <a:spLocks xmlns:a="http://schemas.openxmlformats.org/drawingml/2006/main" noGrp="1"/>
          </p:cNvSpPr>
          <p:nvPr/>
        </p:nvSpPr>
        <p:spPr>
          <a:xfrm xmlns:a="http://schemas.openxmlformats.org/drawingml/2006/main">
            <a:off x="704088" y="566928"/>
            <a:ext cx="118872" cy="118872"/>
          </a:xfrm>
          <a:prstGeom xmlns:a="http://schemas.openxmlformats.org/drawingml/2006/main" prst="rect">
            <a:avLst/>
          </a:prstGeom>
          <a:solidFill xmlns:a="http://schemas.openxmlformats.org/drawingml/2006/main">
            <a:srgbClr val="E6E6E6"/>
          </a:solidFill>
        </p:spPr>
      </p:sp>
      <p:sp>
        <p:nvSpPr>
          <p:cNvPr id="4" name="Text 2">
            <a:extLst xmlns:a="http://schemas.openxmlformats.org/drawingml/2006/main">
              <a:ext uri="{FF2B5EF4-FFF2-40B4-BE49-F238E27FC236}">
                <a16:creationId xmlns:a16="http://schemas.microsoft.com/office/drawing/2014/main" id="{BB79128D-6381-4097-8EFD-1996F26437B4}"/>
              </a:ext>
            </a:extLst>
          </p:cNvPr>
          <p:cNvSpPr>
            <a:spLocks xmlns:a="http://schemas.openxmlformats.org/drawingml/2006/main" noGrp="1"/>
          </p:cNvSpPr>
          <p:nvPr>
            <p:ph type="title" idx="102" hasCustomPrompt="1"/>
          </p:nvPr>
        </p:nvSpPr>
        <p:spPr>
          <a:xfrm xmlns:a="http://schemas.openxmlformats.org/drawingml/2006/main">
            <a:off x="1051560" y="365760"/>
            <a:ext cx="10515600" cy="6858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rgbClr val="1E1E1E"/>
                </a:solidFill>
                <a:latin typeface="Arial"/>
                <a:ea typeface="Arial"/>
                <a:cs typeface="Arial"/>
              </a:defRPr>
            </a:lvl1pPr>
          </a:lstStyle>
          <a:p xmlns:a="http://schemas.openxmlformats.org/drawingml/2006/main">
            <a:pPr marL="0" indent="0" algn="l">
              <a:buNone/>
            </a:pPr>
            <a:endParaRPr sz="3000"/>
          </a:p>
        </p:txBody>
      </p:sp>
      <p:sp>
        <p:nvSpPr>
          <p:cNvPr id="5" name="Shape 2">
            <a:extLst xmlns:a="http://schemas.openxmlformats.org/drawingml/2006/main">
              <a:ext uri="{FF2B5EF4-FFF2-40B4-BE49-F238E27FC236}">
                <a16:creationId xmlns:a16="http://schemas.microsoft.com/office/drawing/2014/main" id="{9808AC3D-4801-488A-8BCA-280A4929B311}"/>
              </a:ext>
            </a:extLst>
          </p:cNvPr>
          <p:cNvSpPr>
            <a:spLocks xmlns:a="http://schemas.openxmlformats.org/drawingml/2006/main" noGrp="1"/>
          </p:cNvSpPr>
          <p:nvPr/>
        </p:nvSpPr>
        <p:spPr>
          <a:xfrm xmlns:a="http://schemas.openxmlformats.org/drawingml/2006/main">
            <a:off x="548640" y="6217920"/>
            <a:ext cx="960120" cy="420624"/>
          </a:xfrm>
          <a:prstGeom xmlns:a="http://schemas.openxmlformats.org/drawingml/2006/main" prst="rect">
            <a:avLst/>
          </a:prstGeom>
          <a:solidFill xmlns:a="http://schemas.openxmlformats.org/drawingml/2006/main">
            <a:srgbClr val="F5F5F5"/>
          </a:solidFill>
          <a:ln xmlns:a="http://schemas.openxmlformats.org/drawingml/2006/main" w="12700">
            <a:solidFill>
              <a:srgbClr val="9A9A9A"/>
            </a:solidFill>
            <a:prstDash val="dash"/>
          </a:ln>
        </p:spPr>
      </p:sp>
      <p:sp>
        <p:nvSpPr>
          <p:cNvPr id="6" name="Text 3">
            <a:extLst xmlns:a="http://schemas.openxmlformats.org/drawingml/2006/main">
              <a:ext uri="{FF2B5EF4-FFF2-40B4-BE49-F238E27FC236}">
                <a16:creationId xmlns:a16="http://schemas.microsoft.com/office/drawing/2014/main" id="{00366090-3D54-410A-836A-F840992C0046}"/>
              </a:ext>
            </a:extLst>
          </p:cNvPr>
          <p:cNvSpPr>
            <a:spLocks xmlns:a="http://schemas.openxmlformats.org/drawingml/2006/main" noGrp="1"/>
          </p:cNvSpPr>
          <p:nvPr/>
        </p:nvSpPr>
        <p:spPr>
          <a:xfrm xmlns:a="http://schemas.openxmlformats.org/drawingml/2006/main">
            <a:off x="548640" y="6217920"/>
            <a:ext cx="960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7A7A"/>
                </a:solidFill>
                <a:latin typeface="Arial"/>
                <a:ea typeface="Arial"/>
                <a:cs typeface="Arial"/>
              </a:rPr>
              <a:t>CPRI logo</a:t>
            </a:r>
            <a:endParaRPr sz="1000"/>
          </a:p>
        </p:txBody>
      </p:sp>
      <p:sp>
        <p:nvSpPr>
          <p:cNvPr id="7" name="Shape 4">
            <a:extLst xmlns:a="http://schemas.openxmlformats.org/drawingml/2006/main">
              <a:ext uri="{FF2B5EF4-FFF2-40B4-BE49-F238E27FC236}">
                <a16:creationId xmlns:a16="http://schemas.microsoft.com/office/drawing/2014/main" id="{FD906992-CC98-4DB7-9E54-32F56F436A86}"/>
              </a:ext>
            </a:extLst>
          </p:cNvPr>
          <p:cNvSpPr>
            <a:spLocks xmlns:a="http://schemas.openxmlformats.org/drawingml/2006/main" noGrp="1"/>
          </p:cNvSpPr>
          <p:nvPr/>
        </p:nvSpPr>
        <p:spPr>
          <a:xfrm xmlns:a="http://schemas.openxmlformats.org/drawingml/2006/main">
            <a:off x="1645920" y="6217920"/>
            <a:ext cx="960120" cy="420624"/>
          </a:xfrm>
          <a:prstGeom xmlns:a="http://schemas.openxmlformats.org/drawingml/2006/main" prst="rect">
            <a:avLst/>
          </a:prstGeom>
          <a:solidFill xmlns:a="http://schemas.openxmlformats.org/drawingml/2006/main">
            <a:srgbClr val="F5F5F5"/>
          </a:solidFill>
          <a:ln xmlns:a="http://schemas.openxmlformats.org/drawingml/2006/main" w="12700">
            <a:solidFill>
              <a:srgbClr val="9A9A9A"/>
            </a:solidFill>
            <a:prstDash val="dash"/>
          </a:ln>
        </p:spPr>
      </p:sp>
      <p:sp>
        <p:nvSpPr>
          <p:cNvPr id="8" name="Text 5">
            <a:extLst xmlns:a="http://schemas.openxmlformats.org/drawingml/2006/main">
              <a:ext uri="{FF2B5EF4-FFF2-40B4-BE49-F238E27FC236}">
                <a16:creationId xmlns:a16="http://schemas.microsoft.com/office/drawing/2014/main" id="{C4D04280-E236-4B42-95B8-2A0C4878F815}"/>
              </a:ext>
            </a:extLst>
          </p:cNvPr>
          <p:cNvSpPr>
            <a:spLocks xmlns:a="http://schemas.openxmlformats.org/drawingml/2006/main" noGrp="1"/>
          </p:cNvSpPr>
          <p:nvPr/>
        </p:nvSpPr>
        <p:spPr>
          <a:xfrm xmlns:a="http://schemas.openxmlformats.org/drawingml/2006/main">
            <a:off x="1645920" y="6217920"/>
            <a:ext cx="960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7A7A"/>
                </a:solidFill>
                <a:latin typeface="Arial"/>
                <a:ea typeface="Arial"/>
                <a:cs typeface="Arial"/>
              </a:rPr>
              <a:t>IEEE logo</a:t>
            </a:r>
            <a:endParaRPr sz="1000"/>
          </a:p>
        </p:txBody>
      </p:sp>
      <p:sp>
        <p:nvSpPr>
          <p:cNvPr id="9" name="Shape 6">
            <a:extLst xmlns:a="http://schemas.openxmlformats.org/drawingml/2006/main">
              <a:ext uri="{FF2B5EF4-FFF2-40B4-BE49-F238E27FC236}">
                <a16:creationId xmlns:a16="http://schemas.microsoft.com/office/drawing/2014/main" id="{DCEB6981-DE29-48F5-8BA9-7910CB49D943}"/>
              </a:ext>
            </a:extLst>
          </p:cNvPr>
          <p:cNvSpPr>
            <a:spLocks xmlns:a="http://schemas.openxmlformats.org/drawingml/2006/main" noGrp="1"/>
          </p:cNvSpPr>
          <p:nvPr/>
        </p:nvSpPr>
        <p:spPr>
          <a:xfrm xmlns:a="http://schemas.openxmlformats.org/drawingml/2006/main">
            <a:off x="2743200" y="6217920"/>
            <a:ext cx="960120" cy="420624"/>
          </a:xfrm>
          <a:prstGeom xmlns:a="http://schemas.openxmlformats.org/drawingml/2006/main" prst="rect">
            <a:avLst/>
          </a:prstGeom>
          <a:solidFill xmlns:a="http://schemas.openxmlformats.org/drawingml/2006/main">
            <a:srgbClr val="F5F5F5"/>
          </a:solidFill>
          <a:ln xmlns:a="http://schemas.openxmlformats.org/drawingml/2006/main" w="12700">
            <a:solidFill>
              <a:srgbClr val="9A9A9A"/>
            </a:solidFill>
            <a:prstDash val="dash"/>
          </a:ln>
        </p:spPr>
      </p:sp>
      <p:sp>
        <p:nvSpPr>
          <p:cNvPr id="10" name="Text 7">
            <a:extLst xmlns:a="http://schemas.openxmlformats.org/drawingml/2006/main">
              <a:ext uri="{FF2B5EF4-FFF2-40B4-BE49-F238E27FC236}">
                <a16:creationId xmlns:a16="http://schemas.microsoft.com/office/drawing/2014/main" id="{EE90B860-0F74-4E68-9925-0BCBCD2772F6}"/>
              </a:ext>
            </a:extLst>
          </p:cNvPr>
          <p:cNvSpPr>
            <a:spLocks xmlns:a="http://schemas.openxmlformats.org/drawingml/2006/main" noGrp="1"/>
          </p:cNvSpPr>
          <p:nvPr/>
        </p:nvSpPr>
        <p:spPr>
          <a:xfrm xmlns:a="http://schemas.openxmlformats.org/drawingml/2006/main">
            <a:off x="2743200" y="6217920"/>
            <a:ext cx="960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7A7A"/>
                </a:solidFill>
                <a:latin typeface="Arial"/>
                <a:ea typeface="Arial"/>
                <a:cs typeface="Arial"/>
              </a:rPr>
              <a:t>COLLEGE logo</a:t>
            </a:r>
            <a:endParaRPr sz="1000"/>
          </a:p>
        </p:txBody>
      </p:sp>
      <p:sp>
        <p:nvSpPr>
          <p:cNvPr id="11" name="Text 8">
            <a:extLst xmlns:a="http://schemas.openxmlformats.org/drawingml/2006/main">
              <a:ext uri="{FF2B5EF4-FFF2-40B4-BE49-F238E27FC236}">
                <a16:creationId xmlns:a16="http://schemas.microsoft.com/office/drawing/2014/main" id="{48BBF1D0-D7F0-4F05-82F0-75480E26C953}"/>
              </a:ext>
            </a:extLst>
          </p:cNvPr>
          <p:cNvSpPr>
            <a:spLocks xmlns:a="http://schemas.openxmlformats.org/drawingml/2006/main" noGrp="1"/>
          </p:cNvSpPr>
          <p:nvPr/>
        </p:nvSpPr>
        <p:spPr>
          <a:xfrm xmlns:a="http://schemas.openxmlformats.org/drawingml/2006/main">
            <a:off x="4023360" y="6217920"/>
            <a:ext cx="630936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555555"/>
                </a:solidFill>
                <a:latin typeface="Arial"/>
                <a:ea typeface="Arial"/>
                <a:cs typeface="Arial"/>
              </a:rPr>
              <a:t>Team [Team Name]   |   Digital Twin Hackathon   |   Organised by CPRI</a:t>
            </a:r>
            <a:endParaRPr sz="1100"/>
          </a:p>
        </p:txBody>
      </p:sp>
      <p:sp>
        <p:nvSpPr>
          <p:cNvPr id="25" name="Slide Number Placeholder 0">
            <a:extLst xmlns:a="http://schemas.openxmlformats.org/drawingml/2006/main">
              <a:ext uri="{FF2B5EF4-FFF2-40B4-BE49-F238E27FC236}">
                <a16:creationId xmlns:a16="http://schemas.microsoft.com/office/drawing/2014/main" id="{2268BAD8-635D-48BA-93E0-0293C26CE65D}"/>
              </a:ext>
            </a:extLst>
          </p:cNvPr>
          <p:cNvSpPr>
            <a:spLocks xmlns:a="http://schemas.openxmlformats.org/drawingml/2006/main" noGrp="1"/>
          </p:cNvSpPr>
          <p:nvPr>
            <p:ph type="sldNum" idx="4294967295"/>
          </p:nvPr>
        </p:nvSpPr>
        <p:spPr>
          <a:xfrm xmlns:a="http://schemas.openxmlformats.org/drawingml/2006/main">
            <a:off x="10881360" y="6217920"/>
            <a:ext cx="731520" cy="420624"/>
          </a:xfrm>
          <a:prstGeom xmlns:a="http://schemas.openxmlformats.org/drawingml/2006/main" prst="rect">
            <a:avLst/>
          </a:prstGeom>
        </p:spPr>
        <p:txBody>
          <a:bodyPr xmlns:a="http://schemas.openxmlformats.org/drawingml/2006/main" anchor="ctr"/>
          <a:lstStyle xmlns:a="http://schemas.openxmlformats.org/drawingml/2006/main">
            <a:lvl1pPr>
              <a:buNone/>
              <a:defRPr sz="1100">
                <a:solidFill>
                  <a:srgbClr val="555555"/>
                </a:solidFill>
                <a:latin typeface="Arial"/>
                <a:ea typeface="Arial"/>
                <a:cs typeface="Arial"/>
              </a:defRPr>
            </a:lvl1pPr>
          </a:lstStyle>
          <a:p xmlns:a="http://schemas.openxmlformats.org/drawingml/2006/main">
            <a:pPr algn="r">
              <a:buNone/>
            </a:pPr>
            <a:fld id="{F7021451-1387-4CA6-816F-3879F97B5CBC}" type="slidenum">
              <a:rPr b="0"/>
              <a:t>‹#›</a:t>
            </a:fld>
            <a:endParaRPr/>
          </a:p>
        </p:txBody>
      </p:sp>
    </p:spTree>
  </p:cSld>
</p:sldLayout>
</file>

<file path=ppt/slideLayouts/slideLayout3.xml><?xml version="1.0" encoding="utf-8"?>
<p:sldLayout xmlns:p="http://schemas.openxmlformats.org/presentationml/2006/main" preserve="1">
  <p:cSld name="TITLE">
    <p:bg>
      <p:bgPr>
        <a:solidFill xmlns:a="http://schemas.openxmlformats.org/drawingml/2006/main">
          <a:srgbClr val="E6E6E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9E9C2F0-026E-4ADA-B337-0CB65F66E5F5}"/>
              </a:ext>
            </a:extLst>
          </p:cNvPr>
          <p:cNvSpPr>
            <a:spLocks xmlns:a="http://schemas.openxmlformats.org/drawingml/2006/main" noGrp="1"/>
          </p:cNvSpPr>
          <p:nvPr/>
        </p:nvSpPr>
        <p:spPr>
          <a:xfrm xmlns:a="http://schemas.openxmlformats.org/drawingml/2006/main">
            <a:off x="548640" y="566928"/>
            <a:ext cx="274320" cy="274320"/>
          </a:xfrm>
          <a:prstGeom xmlns:a="http://schemas.openxmlformats.org/drawingml/2006/main" prst="rect">
            <a:avLst/>
          </a:prstGeom>
          <a:solidFill xmlns:a="http://schemas.openxmlformats.org/drawingml/2006/main">
            <a:srgbClr val="D46A12"/>
          </a:solidFill>
        </p:spPr>
      </p:sp>
      <p:sp>
        <p:nvSpPr>
          <p:cNvPr id="3" name="Shape 1">
            <a:extLst xmlns:a="http://schemas.openxmlformats.org/drawingml/2006/main">
              <a:ext uri="{FF2B5EF4-FFF2-40B4-BE49-F238E27FC236}">
                <a16:creationId xmlns:a16="http://schemas.microsoft.com/office/drawing/2014/main" id="{285DDCBD-F827-4683-A8BD-6CE2B529E3B7}"/>
              </a:ext>
            </a:extLst>
          </p:cNvPr>
          <p:cNvSpPr>
            <a:spLocks xmlns:a="http://schemas.openxmlformats.org/drawingml/2006/main" noGrp="1"/>
          </p:cNvSpPr>
          <p:nvPr/>
        </p:nvSpPr>
        <p:spPr>
          <a:xfrm xmlns:a="http://schemas.openxmlformats.org/drawingml/2006/main">
            <a:off x="704088" y="566928"/>
            <a:ext cx="118872" cy="118872"/>
          </a:xfrm>
          <a:prstGeom xmlns:a="http://schemas.openxmlformats.org/drawingml/2006/main" prst="rect">
            <a:avLst/>
          </a:prstGeom>
          <a:solidFill xmlns:a="http://schemas.openxmlformats.org/drawingml/2006/main">
            <a:srgbClr val="E6E6E6"/>
          </a:solidFill>
        </p:spPr>
      </p:sp>
      <p:sp>
        <p:nvSpPr>
          <p:cNvPr id="4" name="Text 2">
            <a:extLst xmlns:a="http://schemas.openxmlformats.org/drawingml/2006/main">
              <a:ext uri="{FF2B5EF4-FFF2-40B4-BE49-F238E27FC236}">
                <a16:creationId xmlns:a16="http://schemas.microsoft.com/office/drawing/2014/main" id="{EBE00BC0-DFAA-442E-8BEC-3ADEE5E3F547}"/>
              </a:ext>
            </a:extLst>
          </p:cNvPr>
          <p:cNvSpPr>
            <a:spLocks xmlns:a="http://schemas.openxmlformats.org/drawingml/2006/main" noGrp="1"/>
          </p:cNvSpPr>
          <p:nvPr>
            <p:ph type="title" idx="102" hasCustomPrompt="1"/>
          </p:nvPr>
        </p:nvSpPr>
        <p:spPr>
          <a:xfrm xmlns:a="http://schemas.openxmlformats.org/drawingml/2006/main">
            <a:off x="548640" y="1234440"/>
            <a:ext cx="6309360" cy="25146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5400" b="1">
                <a:solidFill>
                  <a:srgbClr val="1E1E1E"/>
                </a:solidFill>
                <a:latin typeface="Arial"/>
                <a:ea typeface="Arial"/>
                <a:cs typeface="Arial"/>
              </a:defRPr>
            </a:lvl1pPr>
          </a:lstStyle>
          <a:p xmlns:a="http://schemas.openxmlformats.org/drawingml/2006/main">
            <a:pPr marL="0" indent="0" algn="l">
              <a:buNone/>
            </a:pPr>
            <a:endParaRPr sz="5400"/>
          </a:p>
        </p:txBody>
      </p:sp>
      <p:sp>
        <p:nvSpPr>
          <p:cNvPr id="5" name="Shape 2">
            <a:extLst xmlns:a="http://schemas.openxmlformats.org/drawingml/2006/main">
              <a:ext uri="{FF2B5EF4-FFF2-40B4-BE49-F238E27FC236}">
                <a16:creationId xmlns:a16="http://schemas.microsoft.com/office/drawing/2014/main" id="{130F1DF8-7E70-40B5-937E-06E201BC149E}"/>
              </a:ext>
            </a:extLst>
          </p:cNvPr>
          <p:cNvSpPr>
            <a:spLocks xmlns:a="http://schemas.openxmlformats.org/drawingml/2006/main" noGrp="1"/>
          </p:cNvSpPr>
          <p:nvPr/>
        </p:nvSpPr>
        <p:spPr>
          <a:xfrm xmlns:a="http://schemas.openxmlformats.org/drawingml/2006/main">
            <a:off x="548640" y="6217920"/>
            <a:ext cx="960120" cy="420624"/>
          </a:xfrm>
          <a:prstGeom xmlns:a="http://schemas.openxmlformats.org/drawingml/2006/main" prst="rect">
            <a:avLst/>
          </a:prstGeom>
          <a:solidFill xmlns:a="http://schemas.openxmlformats.org/drawingml/2006/main">
            <a:srgbClr val="F5F5F5"/>
          </a:solidFill>
          <a:ln xmlns:a="http://schemas.openxmlformats.org/drawingml/2006/main" w="12700">
            <a:solidFill>
              <a:srgbClr val="9A9A9A"/>
            </a:solidFill>
            <a:prstDash val="dash"/>
          </a:ln>
        </p:spPr>
      </p:sp>
      <p:sp>
        <p:nvSpPr>
          <p:cNvPr id="6" name="Text 3">
            <a:extLst xmlns:a="http://schemas.openxmlformats.org/drawingml/2006/main">
              <a:ext uri="{FF2B5EF4-FFF2-40B4-BE49-F238E27FC236}">
                <a16:creationId xmlns:a16="http://schemas.microsoft.com/office/drawing/2014/main" id="{658237EE-F77A-4259-A7BA-7E0EBCCF5A49}"/>
              </a:ext>
            </a:extLst>
          </p:cNvPr>
          <p:cNvSpPr>
            <a:spLocks xmlns:a="http://schemas.openxmlformats.org/drawingml/2006/main" noGrp="1"/>
          </p:cNvSpPr>
          <p:nvPr/>
        </p:nvSpPr>
        <p:spPr>
          <a:xfrm xmlns:a="http://schemas.openxmlformats.org/drawingml/2006/main">
            <a:off x="548640" y="6217920"/>
            <a:ext cx="960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7A7A"/>
                </a:solidFill>
                <a:latin typeface="Arial"/>
                <a:ea typeface="Arial"/>
                <a:cs typeface="Arial"/>
              </a:rPr>
              <a:t>CPRI logo</a:t>
            </a:r>
            <a:endParaRPr sz="1000"/>
          </a:p>
        </p:txBody>
      </p:sp>
      <p:sp>
        <p:nvSpPr>
          <p:cNvPr id="7" name="Shape 4">
            <a:extLst xmlns:a="http://schemas.openxmlformats.org/drawingml/2006/main">
              <a:ext uri="{FF2B5EF4-FFF2-40B4-BE49-F238E27FC236}">
                <a16:creationId xmlns:a16="http://schemas.microsoft.com/office/drawing/2014/main" id="{DE366414-E13C-40EE-A855-8075DEDD15B9}"/>
              </a:ext>
            </a:extLst>
          </p:cNvPr>
          <p:cNvSpPr>
            <a:spLocks xmlns:a="http://schemas.openxmlformats.org/drawingml/2006/main" noGrp="1"/>
          </p:cNvSpPr>
          <p:nvPr/>
        </p:nvSpPr>
        <p:spPr>
          <a:xfrm xmlns:a="http://schemas.openxmlformats.org/drawingml/2006/main">
            <a:off x="1645920" y="6217920"/>
            <a:ext cx="960120" cy="420624"/>
          </a:xfrm>
          <a:prstGeom xmlns:a="http://schemas.openxmlformats.org/drawingml/2006/main" prst="rect">
            <a:avLst/>
          </a:prstGeom>
          <a:solidFill xmlns:a="http://schemas.openxmlformats.org/drawingml/2006/main">
            <a:srgbClr val="F5F5F5"/>
          </a:solidFill>
          <a:ln xmlns:a="http://schemas.openxmlformats.org/drawingml/2006/main" w="12700">
            <a:solidFill>
              <a:srgbClr val="9A9A9A"/>
            </a:solidFill>
            <a:prstDash val="dash"/>
          </a:ln>
        </p:spPr>
      </p:sp>
      <p:sp>
        <p:nvSpPr>
          <p:cNvPr id="8" name="Text 5">
            <a:extLst xmlns:a="http://schemas.openxmlformats.org/drawingml/2006/main">
              <a:ext uri="{FF2B5EF4-FFF2-40B4-BE49-F238E27FC236}">
                <a16:creationId xmlns:a16="http://schemas.microsoft.com/office/drawing/2014/main" id="{17B0F2DA-3397-42CC-8C56-52CD60EF37CF}"/>
              </a:ext>
            </a:extLst>
          </p:cNvPr>
          <p:cNvSpPr>
            <a:spLocks xmlns:a="http://schemas.openxmlformats.org/drawingml/2006/main" noGrp="1"/>
          </p:cNvSpPr>
          <p:nvPr/>
        </p:nvSpPr>
        <p:spPr>
          <a:xfrm xmlns:a="http://schemas.openxmlformats.org/drawingml/2006/main">
            <a:off x="1645920" y="6217920"/>
            <a:ext cx="960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7A7A"/>
                </a:solidFill>
                <a:latin typeface="Arial"/>
                <a:ea typeface="Arial"/>
                <a:cs typeface="Arial"/>
              </a:rPr>
              <a:t>IEEE logo</a:t>
            </a:r>
            <a:endParaRPr sz="1000"/>
          </a:p>
        </p:txBody>
      </p:sp>
      <p:sp>
        <p:nvSpPr>
          <p:cNvPr id="9" name="Shape 6">
            <a:extLst xmlns:a="http://schemas.openxmlformats.org/drawingml/2006/main">
              <a:ext uri="{FF2B5EF4-FFF2-40B4-BE49-F238E27FC236}">
                <a16:creationId xmlns:a16="http://schemas.microsoft.com/office/drawing/2014/main" id="{67694E2D-C63B-43B0-BF73-B068BFD9DAB7}"/>
              </a:ext>
            </a:extLst>
          </p:cNvPr>
          <p:cNvSpPr>
            <a:spLocks xmlns:a="http://schemas.openxmlformats.org/drawingml/2006/main" noGrp="1"/>
          </p:cNvSpPr>
          <p:nvPr/>
        </p:nvSpPr>
        <p:spPr>
          <a:xfrm xmlns:a="http://schemas.openxmlformats.org/drawingml/2006/main">
            <a:off x="2743200" y="6217920"/>
            <a:ext cx="960120" cy="420624"/>
          </a:xfrm>
          <a:prstGeom xmlns:a="http://schemas.openxmlformats.org/drawingml/2006/main" prst="rect">
            <a:avLst/>
          </a:prstGeom>
          <a:solidFill xmlns:a="http://schemas.openxmlformats.org/drawingml/2006/main">
            <a:srgbClr val="F5F5F5"/>
          </a:solidFill>
          <a:ln xmlns:a="http://schemas.openxmlformats.org/drawingml/2006/main" w="12700">
            <a:solidFill>
              <a:srgbClr val="9A9A9A"/>
            </a:solidFill>
            <a:prstDash val="dash"/>
          </a:ln>
        </p:spPr>
      </p:sp>
      <p:sp>
        <p:nvSpPr>
          <p:cNvPr id="10" name="Text 7">
            <a:extLst xmlns:a="http://schemas.openxmlformats.org/drawingml/2006/main">
              <a:ext uri="{FF2B5EF4-FFF2-40B4-BE49-F238E27FC236}">
                <a16:creationId xmlns:a16="http://schemas.microsoft.com/office/drawing/2014/main" id="{0BA77373-C09C-4D59-83F4-53F078808286}"/>
              </a:ext>
            </a:extLst>
          </p:cNvPr>
          <p:cNvSpPr>
            <a:spLocks xmlns:a="http://schemas.openxmlformats.org/drawingml/2006/main" noGrp="1"/>
          </p:cNvSpPr>
          <p:nvPr/>
        </p:nvSpPr>
        <p:spPr>
          <a:xfrm xmlns:a="http://schemas.openxmlformats.org/drawingml/2006/main">
            <a:off x="2743200" y="6217920"/>
            <a:ext cx="960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7A7A"/>
                </a:solidFill>
                <a:latin typeface="Arial"/>
                <a:ea typeface="Arial"/>
                <a:cs typeface="Arial"/>
              </a:rPr>
              <a:t>COLLEGE logo</a:t>
            </a:r>
            <a:endParaRPr sz="1000"/>
          </a:p>
        </p:txBody>
      </p:sp>
      <p:sp>
        <p:nvSpPr>
          <p:cNvPr id="11" name="Text 8">
            <a:extLst xmlns:a="http://schemas.openxmlformats.org/drawingml/2006/main">
              <a:ext uri="{FF2B5EF4-FFF2-40B4-BE49-F238E27FC236}">
                <a16:creationId xmlns:a16="http://schemas.microsoft.com/office/drawing/2014/main" id="{3A23C425-03F1-4A1C-B0B2-334467340326}"/>
              </a:ext>
            </a:extLst>
          </p:cNvPr>
          <p:cNvSpPr>
            <a:spLocks xmlns:a="http://schemas.openxmlformats.org/drawingml/2006/main" noGrp="1"/>
          </p:cNvSpPr>
          <p:nvPr/>
        </p:nvSpPr>
        <p:spPr>
          <a:xfrm xmlns:a="http://schemas.openxmlformats.org/drawingml/2006/main">
            <a:off x="4023360" y="6217920"/>
            <a:ext cx="630936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555555"/>
                </a:solidFill>
                <a:latin typeface="Arial"/>
                <a:ea typeface="Arial"/>
                <a:cs typeface="Arial"/>
              </a:rPr>
              <a:t>Team [Team Name]   |   Digital Twin Hackathon   |   Organised by CPRI</a:t>
            </a:r>
            <a:endParaRPr sz="11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a2792278104809" /><Relationship Type="http://schemas.openxmlformats.org/officeDocument/2006/relationships/slideLayout" Target="/ppt/slideLayouts/slideLayout1.xml" Id="R39df583ae41142e8" /><Relationship Type="http://schemas.openxmlformats.org/officeDocument/2006/relationships/slideLayout" Target="/ppt/slideLayouts/slideLayout2.xml" Id="R4cc3841778e64f49" /><Relationship Type="http://schemas.openxmlformats.org/officeDocument/2006/relationships/slideLayout" Target="/ppt/slideLayouts/slideLayout3.xml" Id="Ra258bc56966c4ba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6EB9A66F-7857-4040-A279-36D124326335}"/>
              </a:ext>
            </a:extLst>
          </p:cNvPr>
          <p:cNvSpPr>
            <a:spLocks xmlns:a="http://schemas.openxmlformats.org/drawingml/2006/main" noGrp="1"/>
          </p:cNvSpPr>
          <p:nvPr>
            <p:ph type="sldNum" idx="4294967295"/>
          </p:nvPr>
        </p:nvSpPr>
        <p:spPr>
          <a:xfrm xmlns:a="http://schemas.openxmlformats.org/drawingml/2006/main">
            <a:off x="10881360" y="6217920"/>
            <a:ext cx="731520" cy="420624"/>
          </a:xfrm>
          <a:prstGeom xmlns:a="http://schemas.openxmlformats.org/drawingml/2006/main" prst="rect">
            <a:avLst/>
          </a:prstGeom>
        </p:spPr>
        <p:txBody>
          <a:bodyPr xmlns:a="http://schemas.openxmlformats.org/drawingml/2006/main" anchor="ctr"/>
          <a:lstStyle xmlns:a="http://schemas.openxmlformats.org/drawingml/2006/main">
            <a:lvl1pPr>
              <a:buNone/>
              <a:defRPr sz="1100">
                <a:solidFill>
                  <a:srgbClr val="555555"/>
                </a:solidFill>
                <a:latin typeface="Arial"/>
                <a:ea typeface="Arial"/>
                <a:cs typeface="Aria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df583ae41142e8"/>
    <p:sldLayoutId xmlns:r="http://schemas.openxmlformats.org/officeDocument/2006/relationships" id="2147483650" r:id="R4cc3841778e64f49"/>
    <p:sldLayoutId xmlns:r="http://schemas.openxmlformats.org/officeDocument/2006/relationships" id="2147483651" r:id="Ra258bc56966c4ba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PRI Grid Grey">
  <a:themeElements>
    <a:clrScheme name="CPRI Grid Grey">
      <a:dk1>
        <a:srgbClr val="1E1E1E"/>
      </a:dk1>
      <a:lt1>
        <a:srgbClr val="F5F5F5"/>
      </a:lt1>
      <a:dk2>
        <a:srgbClr val="555555"/>
      </a:dk2>
      <a:lt2>
        <a:srgbClr val="E6E6E6"/>
      </a:lt2>
      <a:accent1>
        <a:srgbClr val="D46A12"/>
      </a:accent1>
      <a:accent2>
        <a:srgbClr val="BDBDBD"/>
      </a:accent2>
      <a:accent3>
        <a:srgbClr val="F1D9C3"/>
      </a:accent3>
      <a:accent4>
        <a:srgbClr val="8A8A8A"/>
      </a:accent4>
      <a:accent5>
        <a:srgbClr val="6F6F6F"/>
      </a:accent5>
      <a:accent6>
        <a:srgbClr val="B0541A"/>
      </a:accent6>
      <a:hlink>
        <a:srgbClr val="D46A12"/>
      </a:hlink>
      <a:folHlink>
        <a:srgbClr val="8A8A8A"/>
      </a:folHlink>
    </a:clrScheme>
    <a:fontScheme name="CPRI Grid Gre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PRI Grid Gre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60dcead373bf4248" /><Relationship Type="http://schemas.openxmlformats.org/officeDocument/2006/relationships/image" Target="/ppt/media/image.png" Id="Ra5d2c2adf09640ca" /><Relationship Type="http://schemas.openxmlformats.org/officeDocument/2006/relationships/notesSlide" Target="/ppt/notesSlides/notesSlide1.xml" Id="R116d0d93afbd41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e1be6b54380f4eb8" /><Relationship Type="http://schemas.openxmlformats.org/officeDocument/2006/relationships/image" Target="/ppt/media/image.png" Id="R9cd82c3c3c0749be" /><Relationship Type="http://schemas.openxmlformats.org/officeDocument/2006/relationships/notesSlide" Target="/ppt/notesSlides/notesSlide2.xml" Id="R092b73ab034e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03cee6e1202f4527" /><Relationship Type="http://schemas.openxmlformats.org/officeDocument/2006/relationships/image" Target="/ppt/media/image.png" Id="Re2201e637c4b4618" /><Relationship Type="http://schemas.openxmlformats.org/officeDocument/2006/relationships/notesSlide" Target="/ppt/notesSlides/notesSlide3.xml" Id="R52e0fde27f6e42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47850f7fc032449d" /><Relationship Type="http://schemas.openxmlformats.org/officeDocument/2006/relationships/image" Target="/ppt/media/image.png" Id="Ra1040f0d99424c05" /><Relationship Type="http://schemas.openxmlformats.org/officeDocument/2006/relationships/chart" Target="/ppt/slides/charts/chart1.xml" Id="Rffb8f6394f074427" /><Relationship Type="http://schemas.openxmlformats.org/officeDocument/2006/relationships/notesSlide" Target="/ppt/notesSlides/notesSlide4.xml" Id="R6e94fc6ec62244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690b63c2e364b68" /><Relationship Type="http://schemas.openxmlformats.org/officeDocument/2006/relationships/image" Target="/ppt/media/image.png" Id="R9aa2bfa0f32d4fd9" /><Relationship Type="http://schemas.openxmlformats.org/officeDocument/2006/relationships/notesSlide" Target="/ppt/notesSlides/notesSlide5.xml" Id="R2257797d7cf648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a6bbb26304244754" /><Relationship Type="http://schemas.openxmlformats.org/officeDocument/2006/relationships/image" Target="/ppt/media/image.png" Id="Rcd656a7d9d30400a" /><Relationship Type="http://schemas.openxmlformats.org/officeDocument/2006/relationships/notesSlide" Target="/ppt/notesSlides/notesSlide6.xml" Id="R16bc4937528442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efe4f951069b4edf" /><Relationship Type="http://schemas.openxmlformats.org/officeDocument/2006/relationships/image" Target="/ppt/media/image.png" Id="R1112ae447f2b4469" /><Relationship Type="http://schemas.openxmlformats.org/officeDocument/2006/relationships/image" Target="/ppt/media/image.jpeg" Id="Radcb1a31bb444c10" /><Relationship Type="http://schemas.openxmlformats.org/officeDocument/2006/relationships/notesSlide" Target="/ppt/notesSlides/notesSlide7.xml" Id="R8a4bb92052704f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1e267465450b4b37" /><Relationship Type="http://schemas.openxmlformats.org/officeDocument/2006/relationships/image" Target="/ppt/media/image.png" Id="R2da3b509d5af482a" /><Relationship Type="http://schemas.openxmlformats.org/officeDocument/2006/relationships/notesSlide" Target="/ppt/notesSlides/notesSlide8.xml" Id="R940be1c0a8064e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98fa8d8e1a4847c8" /><Relationship Type="http://schemas.openxmlformats.org/officeDocument/2006/relationships/image" Target="/ppt/media/image.png" Id="R1d36537bc9a6429c" /><Relationship Type="http://schemas.openxmlformats.org/officeDocument/2006/relationships/notesSlide" Target="/ppt/notesSlides/notesSlide9.xml" Id="R63321410ceba47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b8b5b02b5e1d4ad1" /><Relationship Type="http://schemas.openxmlformats.org/officeDocument/2006/relationships/image" Target="/ppt/media/image.png" Id="Re9f98c5b445e4229" /><Relationship Type="http://schemas.openxmlformats.org/officeDocument/2006/relationships/notesSlide" Target="/ppt/notesSlides/notesSlide10.xml" Id="R9a449ca27cc14b7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Actual top-oil</c:v>
          </c:tx>
          <c:spPr>
            <a:ln xmlns:a="http://schemas.openxmlformats.org/drawingml/2006/main" w="22860">
              <a:solidFill>
                <a:srgbClr val="F4F1EC"/>
              </a:solidFill>
              <a:prstDash val="solid"/>
            </a:ln>
          </c:spPr>
          <c:marker>
            <c:symbol val="none"/>
          </c:marker>
          <c:xVal>
            <c:numRef>
              <c:f>'Chart Data'!$A$2:$A$289</c:f>
              <c:numCache>
                <c:formatCode>General</c:formatCode>
                <c:ptCount val="288"/>
                <c:pt idx="0">
                  <c:v>0</c:v>
                </c:pt>
                <c:pt idx="1">
                  <c:v>0.083333</c:v>
                </c:pt>
                <c:pt idx="2">
                  <c:v>0.166667</c:v>
                </c:pt>
                <c:pt idx="3">
                  <c:v>0.25</c:v>
                </c:pt>
                <c:pt idx="4">
                  <c:v>0.333333</c:v>
                </c:pt>
                <c:pt idx="5">
                  <c:v>0.416667</c:v>
                </c:pt>
                <c:pt idx="6">
                  <c:v>0.5</c:v>
                </c:pt>
                <c:pt idx="7">
                  <c:v>0.583333</c:v>
                </c:pt>
                <c:pt idx="8">
                  <c:v>0.666667</c:v>
                </c:pt>
                <c:pt idx="9">
                  <c:v>0.75</c:v>
                </c:pt>
                <c:pt idx="10">
                  <c:v>0.833333</c:v>
                </c:pt>
                <c:pt idx="11">
                  <c:v>0.916667</c:v>
                </c:pt>
                <c:pt idx="12">
                  <c:v>1</c:v>
                </c:pt>
                <c:pt idx="13">
                  <c:v>1.083333</c:v>
                </c:pt>
                <c:pt idx="14">
                  <c:v>1.166667</c:v>
                </c:pt>
                <c:pt idx="15">
                  <c:v>1.25</c:v>
                </c:pt>
                <c:pt idx="16">
                  <c:v>1.333333</c:v>
                </c:pt>
                <c:pt idx="17">
                  <c:v>1.416667</c:v>
                </c:pt>
                <c:pt idx="18">
                  <c:v>1.5</c:v>
                </c:pt>
                <c:pt idx="19">
                  <c:v>1.583333</c:v>
                </c:pt>
                <c:pt idx="20">
                  <c:v>1.666667</c:v>
                </c:pt>
                <c:pt idx="21">
                  <c:v>1.75</c:v>
                </c:pt>
                <c:pt idx="22">
                  <c:v>1.833333</c:v>
                </c:pt>
                <c:pt idx="23">
                  <c:v>1.916667</c:v>
                </c:pt>
                <c:pt idx="24">
                  <c:v>2</c:v>
                </c:pt>
                <c:pt idx="25">
                  <c:v>2.083333</c:v>
                </c:pt>
                <c:pt idx="26">
                  <c:v>2.166667</c:v>
                </c:pt>
                <c:pt idx="27">
                  <c:v>2.25</c:v>
                </c:pt>
                <c:pt idx="28">
                  <c:v>2.333333</c:v>
                </c:pt>
                <c:pt idx="29">
                  <c:v>2.416667</c:v>
                </c:pt>
                <c:pt idx="30">
                  <c:v>2.5</c:v>
                </c:pt>
                <c:pt idx="31">
                  <c:v>2.583333</c:v>
                </c:pt>
                <c:pt idx="32">
                  <c:v>2.666667</c:v>
                </c:pt>
                <c:pt idx="33">
                  <c:v>2.75</c:v>
                </c:pt>
                <c:pt idx="34">
                  <c:v>2.833333</c:v>
                </c:pt>
                <c:pt idx="35">
                  <c:v>2.916667</c:v>
                </c:pt>
                <c:pt idx="36">
                  <c:v>3</c:v>
                </c:pt>
                <c:pt idx="37">
                  <c:v>3.083333</c:v>
                </c:pt>
                <c:pt idx="38">
                  <c:v>3.166667</c:v>
                </c:pt>
                <c:pt idx="39">
                  <c:v>3.25</c:v>
                </c:pt>
                <c:pt idx="40">
                  <c:v>3.333333</c:v>
                </c:pt>
                <c:pt idx="41">
                  <c:v>3.416667</c:v>
                </c:pt>
                <c:pt idx="42">
                  <c:v>3.5</c:v>
                </c:pt>
                <c:pt idx="43">
                  <c:v>3.583333</c:v>
                </c:pt>
                <c:pt idx="44">
                  <c:v>3.666667</c:v>
                </c:pt>
                <c:pt idx="45">
                  <c:v>3.75</c:v>
                </c:pt>
                <c:pt idx="46">
                  <c:v>3.833333</c:v>
                </c:pt>
                <c:pt idx="47">
                  <c:v>3.916667</c:v>
                </c:pt>
                <c:pt idx="48">
                  <c:v>4</c:v>
                </c:pt>
                <c:pt idx="49">
                  <c:v>4.083333</c:v>
                </c:pt>
                <c:pt idx="50">
                  <c:v>4.166667</c:v>
                </c:pt>
                <c:pt idx="51">
                  <c:v>4.25</c:v>
                </c:pt>
                <c:pt idx="52">
                  <c:v>4.333333</c:v>
                </c:pt>
                <c:pt idx="53">
                  <c:v>4.416667</c:v>
                </c:pt>
                <c:pt idx="54">
                  <c:v>4.5</c:v>
                </c:pt>
                <c:pt idx="55">
                  <c:v>4.583333</c:v>
                </c:pt>
                <c:pt idx="56">
                  <c:v>4.666667</c:v>
                </c:pt>
                <c:pt idx="57">
                  <c:v>4.75</c:v>
                </c:pt>
                <c:pt idx="58">
                  <c:v>4.833333</c:v>
                </c:pt>
                <c:pt idx="59">
                  <c:v>4.916667</c:v>
                </c:pt>
                <c:pt idx="60">
                  <c:v>5</c:v>
                </c:pt>
                <c:pt idx="61">
                  <c:v>5.083333</c:v>
                </c:pt>
                <c:pt idx="62">
                  <c:v>5.166667</c:v>
                </c:pt>
                <c:pt idx="63">
                  <c:v>5.25</c:v>
                </c:pt>
                <c:pt idx="64">
                  <c:v>5.333333</c:v>
                </c:pt>
                <c:pt idx="65">
                  <c:v>5.416667</c:v>
                </c:pt>
                <c:pt idx="66">
                  <c:v>5.5</c:v>
                </c:pt>
                <c:pt idx="67">
                  <c:v>5.583333</c:v>
                </c:pt>
                <c:pt idx="68">
                  <c:v>5.666667</c:v>
                </c:pt>
                <c:pt idx="69">
                  <c:v>5.75</c:v>
                </c:pt>
                <c:pt idx="70">
                  <c:v>5.833333</c:v>
                </c:pt>
                <c:pt idx="71">
                  <c:v>5.916667</c:v>
                </c:pt>
                <c:pt idx="72">
                  <c:v>6</c:v>
                </c:pt>
                <c:pt idx="73">
                  <c:v>6.083333</c:v>
                </c:pt>
                <c:pt idx="74">
                  <c:v>6.166667</c:v>
                </c:pt>
                <c:pt idx="75">
                  <c:v>6.25</c:v>
                </c:pt>
                <c:pt idx="76">
                  <c:v>6.333333</c:v>
                </c:pt>
                <c:pt idx="77">
                  <c:v>6.416667</c:v>
                </c:pt>
                <c:pt idx="78">
                  <c:v>6.5</c:v>
                </c:pt>
                <c:pt idx="79">
                  <c:v>6.583333</c:v>
                </c:pt>
                <c:pt idx="80">
                  <c:v>6.666667</c:v>
                </c:pt>
                <c:pt idx="81">
                  <c:v>6.75</c:v>
                </c:pt>
                <c:pt idx="82">
                  <c:v>6.833333</c:v>
                </c:pt>
                <c:pt idx="83">
                  <c:v>6.916667</c:v>
                </c:pt>
                <c:pt idx="84">
                  <c:v>7</c:v>
                </c:pt>
                <c:pt idx="85">
                  <c:v>7.083333</c:v>
                </c:pt>
                <c:pt idx="86">
                  <c:v>7.166667</c:v>
                </c:pt>
                <c:pt idx="87">
                  <c:v>7.25</c:v>
                </c:pt>
                <c:pt idx="88">
                  <c:v>7.333333</c:v>
                </c:pt>
                <c:pt idx="89">
                  <c:v>7.416667</c:v>
                </c:pt>
                <c:pt idx="90">
                  <c:v>7.5</c:v>
                </c:pt>
                <c:pt idx="91">
                  <c:v>7.583333</c:v>
                </c:pt>
                <c:pt idx="92">
                  <c:v>7.666667</c:v>
                </c:pt>
                <c:pt idx="93">
                  <c:v>7.75</c:v>
                </c:pt>
                <c:pt idx="94">
                  <c:v>7.833333</c:v>
                </c:pt>
                <c:pt idx="95">
                  <c:v>7.916667</c:v>
                </c:pt>
                <c:pt idx="96">
                  <c:v>8</c:v>
                </c:pt>
                <c:pt idx="97">
                  <c:v>8.083333</c:v>
                </c:pt>
                <c:pt idx="98">
                  <c:v>8.166667</c:v>
                </c:pt>
                <c:pt idx="99">
                  <c:v>8.25</c:v>
                </c:pt>
                <c:pt idx="100">
                  <c:v>8.333333</c:v>
                </c:pt>
                <c:pt idx="101">
                  <c:v>8.416667</c:v>
                </c:pt>
                <c:pt idx="102">
                  <c:v>8.5</c:v>
                </c:pt>
                <c:pt idx="103">
                  <c:v>8.583333</c:v>
                </c:pt>
                <c:pt idx="104">
                  <c:v>8.666667</c:v>
                </c:pt>
                <c:pt idx="105">
                  <c:v>8.75</c:v>
                </c:pt>
                <c:pt idx="106">
                  <c:v>8.833333</c:v>
                </c:pt>
                <c:pt idx="107">
                  <c:v>8.916667</c:v>
                </c:pt>
                <c:pt idx="108">
                  <c:v>9</c:v>
                </c:pt>
                <c:pt idx="109">
                  <c:v>9.083333</c:v>
                </c:pt>
                <c:pt idx="110">
                  <c:v>9.166667</c:v>
                </c:pt>
                <c:pt idx="111">
                  <c:v>9.25</c:v>
                </c:pt>
                <c:pt idx="112">
                  <c:v>9.333333</c:v>
                </c:pt>
                <c:pt idx="113">
                  <c:v>9.416667</c:v>
                </c:pt>
                <c:pt idx="114">
                  <c:v>9.5</c:v>
                </c:pt>
                <c:pt idx="115">
                  <c:v>9.583333</c:v>
                </c:pt>
                <c:pt idx="116">
                  <c:v>9.666667</c:v>
                </c:pt>
                <c:pt idx="117">
                  <c:v>9.75</c:v>
                </c:pt>
                <c:pt idx="118">
                  <c:v>9.833333</c:v>
                </c:pt>
                <c:pt idx="119">
                  <c:v>9.916667</c:v>
                </c:pt>
                <c:pt idx="120">
                  <c:v>10</c:v>
                </c:pt>
                <c:pt idx="121">
                  <c:v>10.083333</c:v>
                </c:pt>
                <c:pt idx="122">
                  <c:v>10.166667</c:v>
                </c:pt>
                <c:pt idx="123">
                  <c:v>10.25</c:v>
                </c:pt>
                <c:pt idx="124">
                  <c:v>10.333333</c:v>
                </c:pt>
                <c:pt idx="125">
                  <c:v>10.416667</c:v>
                </c:pt>
                <c:pt idx="126">
                  <c:v>10.5</c:v>
                </c:pt>
                <c:pt idx="127">
                  <c:v>10.583333</c:v>
                </c:pt>
                <c:pt idx="128">
                  <c:v>10.666667</c:v>
                </c:pt>
                <c:pt idx="129">
                  <c:v>10.75</c:v>
                </c:pt>
                <c:pt idx="130">
                  <c:v>10.833333</c:v>
                </c:pt>
                <c:pt idx="131">
                  <c:v>10.916667</c:v>
                </c:pt>
                <c:pt idx="132">
                  <c:v>11</c:v>
                </c:pt>
                <c:pt idx="133">
                  <c:v>11.083333</c:v>
                </c:pt>
                <c:pt idx="134">
                  <c:v>11.166667</c:v>
                </c:pt>
                <c:pt idx="135">
                  <c:v>11.25</c:v>
                </c:pt>
                <c:pt idx="136">
                  <c:v>11.333333</c:v>
                </c:pt>
                <c:pt idx="137">
                  <c:v>11.416667</c:v>
                </c:pt>
                <c:pt idx="138">
                  <c:v>11.5</c:v>
                </c:pt>
                <c:pt idx="139">
                  <c:v>11.583333</c:v>
                </c:pt>
                <c:pt idx="140">
                  <c:v>11.666667</c:v>
                </c:pt>
                <c:pt idx="141">
                  <c:v>11.75</c:v>
                </c:pt>
                <c:pt idx="142">
                  <c:v>11.833333</c:v>
                </c:pt>
                <c:pt idx="143">
                  <c:v>11.916667</c:v>
                </c:pt>
                <c:pt idx="144">
                  <c:v>12</c:v>
                </c:pt>
                <c:pt idx="145">
                  <c:v>12.083333</c:v>
                </c:pt>
                <c:pt idx="146">
                  <c:v>12.166667</c:v>
                </c:pt>
                <c:pt idx="147">
                  <c:v>12.25</c:v>
                </c:pt>
                <c:pt idx="148">
                  <c:v>12.333333</c:v>
                </c:pt>
                <c:pt idx="149">
                  <c:v>12.416667</c:v>
                </c:pt>
                <c:pt idx="150">
                  <c:v>12.5</c:v>
                </c:pt>
                <c:pt idx="151">
                  <c:v>12.583333</c:v>
                </c:pt>
                <c:pt idx="152">
                  <c:v>12.666667</c:v>
                </c:pt>
                <c:pt idx="153">
                  <c:v>12.75</c:v>
                </c:pt>
                <c:pt idx="154">
                  <c:v>12.833333</c:v>
                </c:pt>
                <c:pt idx="155">
                  <c:v>12.916667</c:v>
                </c:pt>
                <c:pt idx="156">
                  <c:v>13</c:v>
                </c:pt>
                <c:pt idx="157">
                  <c:v>13.083333</c:v>
                </c:pt>
                <c:pt idx="158">
                  <c:v>13.166667</c:v>
                </c:pt>
                <c:pt idx="159">
                  <c:v>13.25</c:v>
                </c:pt>
                <c:pt idx="160">
                  <c:v>13.333333</c:v>
                </c:pt>
                <c:pt idx="161">
                  <c:v>13.416667</c:v>
                </c:pt>
                <c:pt idx="162">
                  <c:v>13.5</c:v>
                </c:pt>
                <c:pt idx="163">
                  <c:v>13.583333</c:v>
                </c:pt>
                <c:pt idx="164">
                  <c:v>13.666667</c:v>
                </c:pt>
                <c:pt idx="165">
                  <c:v>13.75</c:v>
                </c:pt>
                <c:pt idx="166">
                  <c:v>13.833333</c:v>
                </c:pt>
                <c:pt idx="167">
                  <c:v>13.916667</c:v>
                </c:pt>
                <c:pt idx="168">
                  <c:v>14</c:v>
                </c:pt>
                <c:pt idx="169">
                  <c:v>14.083333</c:v>
                </c:pt>
                <c:pt idx="170">
                  <c:v>14.166667</c:v>
                </c:pt>
                <c:pt idx="171">
                  <c:v>14.25</c:v>
                </c:pt>
                <c:pt idx="172">
                  <c:v>14.333333</c:v>
                </c:pt>
                <c:pt idx="173">
                  <c:v>14.416667</c:v>
                </c:pt>
                <c:pt idx="174">
                  <c:v>14.5</c:v>
                </c:pt>
                <c:pt idx="175">
                  <c:v>14.583333</c:v>
                </c:pt>
                <c:pt idx="176">
                  <c:v>14.666667</c:v>
                </c:pt>
                <c:pt idx="177">
                  <c:v>14.75</c:v>
                </c:pt>
                <c:pt idx="178">
                  <c:v>14.833333</c:v>
                </c:pt>
                <c:pt idx="179">
                  <c:v>14.916667</c:v>
                </c:pt>
                <c:pt idx="180">
                  <c:v>15</c:v>
                </c:pt>
                <c:pt idx="181">
                  <c:v>15.083333</c:v>
                </c:pt>
                <c:pt idx="182">
                  <c:v>15.166667</c:v>
                </c:pt>
                <c:pt idx="183">
                  <c:v>15.25</c:v>
                </c:pt>
                <c:pt idx="184">
                  <c:v>15.333333</c:v>
                </c:pt>
                <c:pt idx="185">
                  <c:v>15.416667</c:v>
                </c:pt>
                <c:pt idx="186">
                  <c:v>15.5</c:v>
                </c:pt>
                <c:pt idx="187">
                  <c:v>15.583333</c:v>
                </c:pt>
                <c:pt idx="188">
                  <c:v>15.666667</c:v>
                </c:pt>
                <c:pt idx="189">
                  <c:v>15.75</c:v>
                </c:pt>
                <c:pt idx="190">
                  <c:v>15.833333</c:v>
                </c:pt>
                <c:pt idx="191">
                  <c:v>15.916667</c:v>
                </c:pt>
                <c:pt idx="192">
                  <c:v>16</c:v>
                </c:pt>
                <c:pt idx="193">
                  <c:v>16.083333</c:v>
                </c:pt>
                <c:pt idx="194">
                  <c:v>16.166667</c:v>
                </c:pt>
                <c:pt idx="195">
                  <c:v>16.25</c:v>
                </c:pt>
                <c:pt idx="196">
                  <c:v>16.333333</c:v>
                </c:pt>
                <c:pt idx="197">
                  <c:v>16.416667</c:v>
                </c:pt>
                <c:pt idx="198">
                  <c:v>16.5</c:v>
                </c:pt>
                <c:pt idx="199">
                  <c:v>16.583333</c:v>
                </c:pt>
                <c:pt idx="200">
                  <c:v>16.666667</c:v>
                </c:pt>
                <c:pt idx="201">
                  <c:v>16.75</c:v>
                </c:pt>
                <c:pt idx="202">
                  <c:v>16.833333</c:v>
                </c:pt>
                <c:pt idx="203">
                  <c:v>16.916667</c:v>
                </c:pt>
                <c:pt idx="204">
                  <c:v>17</c:v>
                </c:pt>
                <c:pt idx="205">
                  <c:v>17.083333</c:v>
                </c:pt>
                <c:pt idx="206">
                  <c:v>17.166667</c:v>
                </c:pt>
                <c:pt idx="207">
                  <c:v>17.25</c:v>
                </c:pt>
                <c:pt idx="208">
                  <c:v>17.333333</c:v>
                </c:pt>
                <c:pt idx="209">
                  <c:v>17.416667</c:v>
                </c:pt>
                <c:pt idx="210">
                  <c:v>17.5</c:v>
                </c:pt>
                <c:pt idx="211">
                  <c:v>17.583333</c:v>
                </c:pt>
                <c:pt idx="212">
                  <c:v>17.666667</c:v>
                </c:pt>
                <c:pt idx="213">
                  <c:v>17.75</c:v>
                </c:pt>
                <c:pt idx="214">
                  <c:v>17.833333</c:v>
                </c:pt>
                <c:pt idx="215">
                  <c:v>17.916667</c:v>
                </c:pt>
                <c:pt idx="216">
                  <c:v>18</c:v>
                </c:pt>
                <c:pt idx="217">
                  <c:v>18.083333</c:v>
                </c:pt>
                <c:pt idx="218">
                  <c:v>18.166667</c:v>
                </c:pt>
                <c:pt idx="219">
                  <c:v>18.25</c:v>
                </c:pt>
                <c:pt idx="220">
                  <c:v>18.333333</c:v>
                </c:pt>
                <c:pt idx="221">
                  <c:v>18.416667</c:v>
                </c:pt>
                <c:pt idx="222">
                  <c:v>18.5</c:v>
                </c:pt>
                <c:pt idx="223">
                  <c:v>18.583333</c:v>
                </c:pt>
                <c:pt idx="224">
                  <c:v>18.666667</c:v>
                </c:pt>
                <c:pt idx="225">
                  <c:v>18.75</c:v>
                </c:pt>
                <c:pt idx="226">
                  <c:v>18.833333</c:v>
                </c:pt>
                <c:pt idx="227">
                  <c:v>18.916667</c:v>
                </c:pt>
                <c:pt idx="228">
                  <c:v>19</c:v>
                </c:pt>
                <c:pt idx="229">
                  <c:v>19.083333</c:v>
                </c:pt>
                <c:pt idx="230">
                  <c:v>19.166667</c:v>
                </c:pt>
                <c:pt idx="231">
                  <c:v>19.25</c:v>
                </c:pt>
                <c:pt idx="232">
                  <c:v>19.333333</c:v>
                </c:pt>
                <c:pt idx="233">
                  <c:v>19.416667</c:v>
                </c:pt>
                <c:pt idx="234">
                  <c:v>19.5</c:v>
                </c:pt>
                <c:pt idx="235">
                  <c:v>19.583333</c:v>
                </c:pt>
                <c:pt idx="236">
                  <c:v>19.666667</c:v>
                </c:pt>
                <c:pt idx="237">
                  <c:v>19.75</c:v>
                </c:pt>
                <c:pt idx="238">
                  <c:v>19.833333</c:v>
                </c:pt>
                <c:pt idx="239">
                  <c:v>19.916667</c:v>
                </c:pt>
                <c:pt idx="240">
                  <c:v>20</c:v>
                </c:pt>
                <c:pt idx="241">
                  <c:v>20.083333</c:v>
                </c:pt>
                <c:pt idx="242">
                  <c:v>20.166667</c:v>
                </c:pt>
                <c:pt idx="243">
                  <c:v>20.25</c:v>
                </c:pt>
                <c:pt idx="244">
                  <c:v>20.333333</c:v>
                </c:pt>
                <c:pt idx="245">
                  <c:v>20.416667</c:v>
                </c:pt>
                <c:pt idx="246">
                  <c:v>20.5</c:v>
                </c:pt>
                <c:pt idx="247">
                  <c:v>20.583333</c:v>
                </c:pt>
                <c:pt idx="248">
                  <c:v>20.666667</c:v>
                </c:pt>
                <c:pt idx="249">
                  <c:v>20.75</c:v>
                </c:pt>
                <c:pt idx="250">
                  <c:v>20.833333</c:v>
                </c:pt>
                <c:pt idx="251">
                  <c:v>20.916667</c:v>
                </c:pt>
                <c:pt idx="252">
                  <c:v>21</c:v>
                </c:pt>
                <c:pt idx="253">
                  <c:v>21.083333</c:v>
                </c:pt>
                <c:pt idx="254">
                  <c:v>21.166667</c:v>
                </c:pt>
                <c:pt idx="255">
                  <c:v>21.25</c:v>
                </c:pt>
                <c:pt idx="256">
                  <c:v>21.333333</c:v>
                </c:pt>
                <c:pt idx="257">
                  <c:v>21.416667</c:v>
                </c:pt>
                <c:pt idx="258">
                  <c:v>21.5</c:v>
                </c:pt>
                <c:pt idx="259">
                  <c:v>21.583333</c:v>
                </c:pt>
                <c:pt idx="260">
                  <c:v>21.666667</c:v>
                </c:pt>
                <c:pt idx="261">
                  <c:v>21.75</c:v>
                </c:pt>
                <c:pt idx="262">
                  <c:v>21.833333</c:v>
                </c:pt>
                <c:pt idx="263">
                  <c:v>21.916667</c:v>
                </c:pt>
                <c:pt idx="264">
                  <c:v>22</c:v>
                </c:pt>
                <c:pt idx="265">
                  <c:v>22.083333</c:v>
                </c:pt>
                <c:pt idx="266">
                  <c:v>22.166667</c:v>
                </c:pt>
                <c:pt idx="267">
                  <c:v>22.25</c:v>
                </c:pt>
                <c:pt idx="268">
                  <c:v>22.333333</c:v>
                </c:pt>
                <c:pt idx="269">
                  <c:v>22.416667</c:v>
                </c:pt>
                <c:pt idx="270">
                  <c:v>22.5</c:v>
                </c:pt>
                <c:pt idx="271">
                  <c:v>22.583333</c:v>
                </c:pt>
                <c:pt idx="272">
                  <c:v>22.666667</c:v>
                </c:pt>
                <c:pt idx="273">
                  <c:v>22.75</c:v>
                </c:pt>
                <c:pt idx="274">
                  <c:v>22.833333</c:v>
                </c:pt>
                <c:pt idx="275">
                  <c:v>22.916667</c:v>
                </c:pt>
                <c:pt idx="276">
                  <c:v>23</c:v>
                </c:pt>
                <c:pt idx="277">
                  <c:v>23.083333</c:v>
                </c:pt>
                <c:pt idx="278">
                  <c:v>23.166667</c:v>
                </c:pt>
                <c:pt idx="279">
                  <c:v>23.25</c:v>
                </c:pt>
                <c:pt idx="280">
                  <c:v>23.333333</c:v>
                </c:pt>
                <c:pt idx="281">
                  <c:v>23.416667</c:v>
                </c:pt>
                <c:pt idx="282">
                  <c:v>23.5</c:v>
                </c:pt>
                <c:pt idx="283">
                  <c:v>23.583333</c:v>
                </c:pt>
                <c:pt idx="284">
                  <c:v>23.666667</c:v>
                </c:pt>
                <c:pt idx="285">
                  <c:v>23.75</c:v>
                </c:pt>
                <c:pt idx="286">
                  <c:v>23.833333</c:v>
                </c:pt>
                <c:pt idx="287">
                  <c:v>23.916667</c:v>
                </c:pt>
              </c:numCache>
            </c:numRef>
          </c:xVal>
          <c:yVal>
            <c:numRef>
              <c:f>'Chart Data'!$B$2:$B$289</c:f>
              <c:numCache>
                <c:formatCode>General</c:formatCode>
                <c:ptCount val="288"/>
                <c:pt idx="0">
                  <c:v>59.784834</c:v>
                </c:pt>
                <c:pt idx="1">
                  <c:v>59.565661</c:v>
                </c:pt>
                <c:pt idx="2">
                  <c:v>59.355032</c:v>
                </c:pt>
                <c:pt idx="3">
                  <c:v>59.151731</c:v>
                </c:pt>
                <c:pt idx="4">
                  <c:v>58.954515</c:v>
                </c:pt>
                <c:pt idx="5">
                  <c:v>58.762209</c:v>
                </c:pt>
                <c:pt idx="6">
                  <c:v>58.573803</c:v>
                </c:pt>
                <c:pt idx="7">
                  <c:v>58.388526</c:v>
                </c:pt>
                <c:pt idx="8">
                  <c:v>58.205898</c:v>
                </c:pt>
                <c:pt idx="9">
                  <c:v>58.025765</c:v>
                </c:pt>
                <c:pt idx="10">
                  <c:v>57.848287</c:v>
                </c:pt>
                <c:pt idx="11">
                  <c:v>57.673913</c:v>
                </c:pt>
                <c:pt idx="12">
                  <c:v>57.503316</c:v>
                </c:pt>
                <c:pt idx="13">
                  <c:v>57.337316</c:v>
                </c:pt>
                <c:pt idx="14">
                  <c:v>57.176787</c:v>
                </c:pt>
                <c:pt idx="15">
                  <c:v>57.022554</c:v>
                </c:pt>
                <c:pt idx="16">
                  <c:v>56.875305</c:v>
                </c:pt>
                <c:pt idx="17">
                  <c:v>56.735507</c:v>
                </c:pt>
                <c:pt idx="18">
                  <c:v>56.603349</c:v>
                </c:pt>
                <c:pt idx="19">
                  <c:v>56.478712</c:v>
                </c:pt>
                <c:pt idx="20">
                  <c:v>56.361166</c:v>
                </c:pt>
                <c:pt idx="21">
                  <c:v>56.249996</c:v>
                </c:pt>
                <c:pt idx="22">
                  <c:v>56.144264</c:v>
                </c:pt>
                <c:pt idx="23">
                  <c:v>56.042881</c:v>
                </c:pt>
                <c:pt idx="24">
                  <c:v>55.9447</c:v>
                </c:pt>
                <c:pt idx="25">
                  <c:v>55.848619</c:v>
                </c:pt>
                <c:pt idx="26">
                  <c:v>55.753668</c:v>
                </c:pt>
                <c:pt idx="27">
                  <c:v>55.659096</c:v>
                </c:pt>
                <c:pt idx="28">
                  <c:v>55.564431</c:v>
                </c:pt>
                <c:pt idx="29">
                  <c:v>55.469515</c:v>
                </c:pt>
                <c:pt idx="30">
                  <c:v>55.374511</c:v>
                </c:pt>
                <c:pt idx="31">
                  <c:v>55.279874</c:v>
                </c:pt>
                <c:pt idx="32">
                  <c:v>55.186303</c:v>
                </c:pt>
                <c:pt idx="33">
                  <c:v>55.094664</c:v>
                </c:pt>
                <c:pt idx="34">
                  <c:v>55.005899</c:v>
                </c:pt>
                <c:pt idx="35">
                  <c:v>54.920927</c:v>
                </c:pt>
                <c:pt idx="36">
                  <c:v>54.84055</c:v>
                </c:pt>
                <c:pt idx="37">
                  <c:v>54.765368</c:v>
                </c:pt>
                <c:pt idx="38">
                  <c:v>54.695715</c:v>
                </c:pt>
                <c:pt idx="39">
                  <c:v>54.631619</c:v>
                </c:pt>
                <c:pt idx="40">
                  <c:v>54.572791</c:v>
                </c:pt>
                <c:pt idx="41">
                  <c:v>54.518649</c:v>
                </c:pt>
                <c:pt idx="42">
                  <c:v>54.468366</c:v>
                </c:pt>
                <c:pt idx="43">
                  <c:v>54.420938</c:v>
                </c:pt>
                <c:pt idx="44">
                  <c:v>54.375281</c:v>
                </c:pt>
                <c:pt idx="45">
                  <c:v>54.330321</c:v>
                </c:pt>
                <c:pt idx="46">
                  <c:v>54.285096</c:v>
                </c:pt>
                <c:pt idx="47">
                  <c:v>54.238839</c:v>
                </c:pt>
                <c:pt idx="48">
                  <c:v>54.191045</c:v>
                </c:pt>
                <c:pt idx="49">
                  <c:v>54.141517</c:v>
                </c:pt>
                <c:pt idx="50">
                  <c:v>54.090378</c:v>
                </c:pt>
                <c:pt idx="51">
                  <c:v>54.038051</c:v>
                </c:pt>
                <c:pt idx="52">
                  <c:v>53.985219</c:v>
                </c:pt>
                <c:pt idx="53">
                  <c:v>53.932754</c:v>
                </c:pt>
                <c:pt idx="54">
                  <c:v>53.881625</c:v>
                </c:pt>
                <c:pt idx="55">
                  <c:v>53.832805</c:v>
                </c:pt>
                <c:pt idx="56">
                  <c:v>53.787176</c:v>
                </c:pt>
                <c:pt idx="57">
                  <c:v>53.745434</c:v>
                </c:pt>
                <c:pt idx="58">
                  <c:v>53.708024</c:v>
                </c:pt>
                <c:pt idx="59">
                  <c:v>53.675094</c:v>
                </c:pt>
                <c:pt idx="60">
                  <c:v>53.646471</c:v>
                </c:pt>
                <c:pt idx="61">
                  <c:v>53.621681</c:v>
                </c:pt>
                <c:pt idx="62">
                  <c:v>53.599986</c:v>
                </c:pt>
                <c:pt idx="63">
                  <c:v>53.580454</c:v>
                </c:pt>
                <c:pt idx="64">
                  <c:v>53.562041</c:v>
                </c:pt>
                <c:pt idx="65">
                  <c:v>53.543689</c:v>
                </c:pt>
                <c:pt idx="66">
                  <c:v>53.524425</c:v>
                </c:pt>
                <c:pt idx="67">
                  <c:v>53.503448</c:v>
                </c:pt>
                <c:pt idx="68">
                  <c:v>53.480205</c:v>
                </c:pt>
                <c:pt idx="69">
                  <c:v>53.454437</c:v>
                </c:pt>
                <c:pt idx="70">
                  <c:v>53.426207</c:v>
                </c:pt>
                <c:pt idx="71">
                  <c:v>53.395885</c:v>
                </c:pt>
                <c:pt idx="72">
                  <c:v>53.364114</c:v>
                </c:pt>
                <c:pt idx="73">
                  <c:v>53.588154</c:v>
                </c:pt>
                <c:pt idx="74">
                  <c:v>53.80468</c:v>
                </c:pt>
                <c:pt idx="75">
                  <c:v>54.014939</c:v>
                </c:pt>
                <c:pt idx="76">
                  <c:v>54.220101</c:v>
                </c:pt>
                <c:pt idx="77">
                  <c:v>54.421168</c:v>
                </c:pt>
                <c:pt idx="78">
                  <c:v>54.618899</c:v>
                </c:pt>
                <c:pt idx="79">
                  <c:v>54.813755</c:v>
                </c:pt>
                <c:pt idx="80">
                  <c:v>55.005878</c:v>
                </c:pt>
                <c:pt idx="81">
                  <c:v>55.19509</c:v>
                </c:pt>
                <c:pt idx="82">
                  <c:v>55.38093</c:v>
                </c:pt>
                <c:pt idx="83">
                  <c:v>55.562715</c:v>
                </c:pt>
                <c:pt idx="84">
                  <c:v>55.739623</c:v>
                </c:pt>
                <c:pt idx="85">
                  <c:v>55.910783</c:v>
                </c:pt>
                <c:pt idx="86">
                  <c:v>56.075376</c:v>
                </c:pt>
                <c:pt idx="87">
                  <c:v>56.23273</c:v>
                </c:pt>
                <c:pt idx="88">
                  <c:v>56.382395</c:v>
                </c:pt>
                <c:pt idx="89">
                  <c:v>56.524201</c:v>
                </c:pt>
                <c:pt idx="90">
                  <c:v>56.65829</c:v>
                </c:pt>
                <c:pt idx="91">
                  <c:v>56.785111</c:v>
                </c:pt>
                <c:pt idx="92">
                  <c:v>56.905394</c:v>
                </c:pt>
                <c:pt idx="93">
                  <c:v>57.020094</c:v>
                </c:pt>
                <c:pt idx="94">
                  <c:v>57.130306</c:v>
                </c:pt>
                <c:pt idx="95">
                  <c:v>57.237178</c:v>
                </c:pt>
                <c:pt idx="96">
                  <c:v>57.341809</c:v>
                </c:pt>
                <c:pt idx="97">
                  <c:v>57.445159</c:v>
                </c:pt>
                <c:pt idx="98">
                  <c:v>57.547964</c:v>
                </c:pt>
                <c:pt idx="99">
                  <c:v>57.650679</c:v>
                </c:pt>
                <c:pt idx="100">
                  <c:v>57.753443</c:v>
                </c:pt>
                <c:pt idx="101">
                  <c:v>57.856077</c:v>
                </c:pt>
                <c:pt idx="102">
                  <c:v>57.958108</c:v>
                </c:pt>
                <c:pt idx="103">
                  <c:v>58.058827</c:v>
                </c:pt>
                <c:pt idx="104">
                  <c:v>58.157362</c:v>
                </c:pt>
                <c:pt idx="105">
                  <c:v>58.252769</c:v>
                </c:pt>
                <c:pt idx="106">
                  <c:v>58.344134</c:v>
                </c:pt>
                <c:pt idx="107">
                  <c:v>58.430667</c:v>
                </c:pt>
                <c:pt idx="108">
                  <c:v>58.511783</c:v>
                </c:pt>
                <c:pt idx="109">
                  <c:v>58.587167</c:v>
                </c:pt>
                <c:pt idx="110">
                  <c:v>58.656811</c:v>
                </c:pt>
                <c:pt idx="111">
                  <c:v>58.721022</c:v>
                </c:pt>
                <c:pt idx="112">
                  <c:v>58.780399</c:v>
                </c:pt>
                <c:pt idx="113">
                  <c:v>58.835786</c:v>
                </c:pt>
                <c:pt idx="114">
                  <c:v>58.888191</c:v>
                </c:pt>
                <c:pt idx="115">
                  <c:v>58.938704</c:v>
                </c:pt>
                <c:pt idx="116">
                  <c:v>58.988393</c:v>
                </c:pt>
                <c:pt idx="117">
                  <c:v>59.038213</c:v>
                </c:pt>
                <c:pt idx="118">
                  <c:v>59.088918</c:v>
                </c:pt>
                <c:pt idx="119">
                  <c:v>59.140993</c:v>
                </c:pt>
                <c:pt idx="120">
                  <c:v>59.194618</c:v>
                </c:pt>
                <c:pt idx="121">
                  <c:v>59.249652</c:v>
                </c:pt>
                <c:pt idx="122">
                  <c:v>59.305655</c:v>
                </c:pt>
                <c:pt idx="123">
                  <c:v>59.36193</c:v>
                </c:pt>
                <c:pt idx="124">
                  <c:v>59.417598</c:v>
                </c:pt>
                <c:pt idx="125">
                  <c:v>59.471688</c:v>
                </c:pt>
                <c:pt idx="126">
                  <c:v>59.523229</c:v>
                </c:pt>
                <c:pt idx="127">
                  <c:v>59.571351</c:v>
                </c:pt>
                <c:pt idx="128">
                  <c:v>59.61537</c:v>
                </c:pt>
                <c:pt idx="129">
                  <c:v>59.65486</c:v>
                </c:pt>
                <c:pt idx="130">
                  <c:v>59.689693</c:v>
                </c:pt>
                <c:pt idx="131">
                  <c:v>59.720061</c:v>
                </c:pt>
                <c:pt idx="132">
                  <c:v>59.746457</c:v>
                </c:pt>
                <c:pt idx="133">
                  <c:v>59.769634</c:v>
                </c:pt>
                <c:pt idx="134">
                  <c:v>59.790534</c:v>
                </c:pt>
                <c:pt idx="135">
                  <c:v>59.810206</c:v>
                </c:pt>
                <c:pt idx="136">
                  <c:v>59.829706</c:v>
                </c:pt>
                <c:pt idx="137">
                  <c:v>59.850001</c:v>
                </c:pt>
                <c:pt idx="138">
                  <c:v>59.871878</c:v>
                </c:pt>
                <c:pt idx="139">
                  <c:v>59.895877</c:v>
                </c:pt>
                <c:pt idx="140">
                  <c:v>59.922235</c:v>
                </c:pt>
                <c:pt idx="141">
                  <c:v>59.950875</c:v>
                </c:pt>
                <c:pt idx="142">
                  <c:v>59.981408</c:v>
                </c:pt>
                <c:pt idx="143">
                  <c:v>60.013179</c:v>
                </c:pt>
                <c:pt idx="144">
                  <c:v>60.045328</c:v>
                </c:pt>
                <c:pt idx="145">
                  <c:v>59.820467</c:v>
                </c:pt>
                <c:pt idx="146">
                  <c:v>59.601894</c:v>
                </c:pt>
                <c:pt idx="147">
                  <c:v>59.388442</c:v>
                </c:pt>
                <c:pt idx="148">
                  <c:v>59.179114</c:v>
                </c:pt>
                <c:pt idx="149">
                  <c:v>58.973162</c:v>
                </c:pt>
                <c:pt idx="150">
                  <c:v>58.770137</c:v>
                </c:pt>
                <c:pt idx="151">
                  <c:v>58.569914</c:v>
                </c:pt>
                <c:pt idx="152">
                  <c:v>58.372684</c:v>
                </c:pt>
                <c:pt idx="153">
                  <c:v>58.178917</c:v>
                </c:pt>
                <c:pt idx="154">
                  <c:v>57.989302</c:v>
                </c:pt>
                <c:pt idx="155">
                  <c:v>57.804664</c:v>
                </c:pt>
                <c:pt idx="156">
                  <c:v>57.62587</c:v>
                </c:pt>
                <c:pt idx="157">
                  <c:v>57.453726</c:v>
                </c:pt>
                <c:pt idx="158">
                  <c:v>57.28889</c:v>
                </c:pt>
                <c:pt idx="159">
                  <c:v>57.131794</c:v>
                </c:pt>
                <c:pt idx="160">
                  <c:v>56.982585</c:v>
                </c:pt>
                <c:pt idx="161">
                  <c:v>56.8411</c:v>
                </c:pt>
                <c:pt idx="162">
                  <c:v>56.706867</c:v>
                </c:pt>
                <c:pt idx="163">
                  <c:v>56.579138</c:v>
                </c:pt>
                <c:pt idx="164">
                  <c:v>56.456947</c:v>
                </c:pt>
                <c:pt idx="165">
                  <c:v>56.339188</c:v>
                </c:pt>
                <c:pt idx="166">
                  <c:v>56.224712</c:v>
                </c:pt>
                <c:pt idx="167">
                  <c:v>56.112424</c:v>
                </c:pt>
                <c:pt idx="168">
                  <c:v>56.001373</c:v>
                </c:pt>
                <c:pt idx="169">
                  <c:v>55.890838</c:v>
                </c:pt>
                <c:pt idx="170">
                  <c:v>55.78038</c:v>
                </c:pt>
                <c:pt idx="171">
                  <c:v>55.669879</c:v>
                </c:pt>
                <c:pt idx="172">
                  <c:v>55.559531</c:v>
                </c:pt>
                <c:pt idx="173">
                  <c:v>55.449825</c:v>
                </c:pt>
                <c:pt idx="174">
                  <c:v>55.34148</c:v>
                </c:pt>
                <c:pt idx="175">
                  <c:v>55.235377</c:v>
                </c:pt>
                <c:pt idx="176">
                  <c:v>55.132458</c:v>
                </c:pt>
                <c:pt idx="177">
                  <c:v>55.033631</c:v>
                </c:pt>
                <c:pt idx="178">
                  <c:v>54.939677</c:v>
                </c:pt>
                <c:pt idx="179">
                  <c:v>54.851166</c:v>
                </c:pt>
                <c:pt idx="180">
                  <c:v>54.768395</c:v>
                </c:pt>
                <c:pt idx="181">
                  <c:v>54.691353</c:v>
                </c:pt>
                <c:pt idx="182">
                  <c:v>54.619712</c:v>
                </c:pt>
                <c:pt idx="183">
                  <c:v>54.552859</c:v>
                </c:pt>
                <c:pt idx="184">
                  <c:v>54.489938</c:v>
                </c:pt>
                <c:pt idx="185">
                  <c:v>54.429932</c:v>
                </c:pt>
                <c:pt idx="186">
                  <c:v>54.371752</c:v>
                </c:pt>
                <c:pt idx="187">
                  <c:v>54.314334</c:v>
                </c:pt>
                <c:pt idx="188">
                  <c:v>54.256734</c:v>
                </c:pt>
                <c:pt idx="189">
                  <c:v>54.198213</c:v>
                </c:pt>
                <c:pt idx="190">
                  <c:v>54.138305</c:v>
                </c:pt>
                <c:pt idx="191">
                  <c:v>54.07685</c:v>
                </c:pt>
                <c:pt idx="192">
                  <c:v>54.014009</c:v>
                </c:pt>
                <c:pt idx="193">
                  <c:v>53.950242</c:v>
                </c:pt>
                <c:pt idx="194">
                  <c:v>53.886259</c:v>
                </c:pt>
                <c:pt idx="195">
                  <c:v>53.822948</c:v>
                </c:pt>
                <c:pt idx="196">
                  <c:v>53.761286</c:v>
                </c:pt>
                <c:pt idx="197">
                  <c:v>53.702241</c:v>
                </c:pt>
                <c:pt idx="198">
                  <c:v>53.646676</c:v>
                </c:pt>
                <c:pt idx="199">
                  <c:v>53.595262</c:v>
                </c:pt>
                <c:pt idx="200">
                  <c:v>53.54841</c:v>
                </c:pt>
                <c:pt idx="201">
                  <c:v>53.506229</c:v>
                </c:pt>
                <c:pt idx="202">
                  <c:v>53.468511</c:v>
                </c:pt>
                <c:pt idx="203">
                  <c:v>53.434748</c:v>
                </c:pt>
                <c:pt idx="204">
                  <c:v>53.404174</c:v>
                </c:pt>
                <c:pt idx="205">
                  <c:v>53.37584</c:v>
                </c:pt>
                <c:pt idx="206">
                  <c:v>53.348696</c:v>
                </c:pt>
                <c:pt idx="207">
                  <c:v>53.321691</c:v>
                </c:pt>
                <c:pt idx="208">
                  <c:v>53.293868</c:v>
                </c:pt>
                <c:pt idx="209">
                  <c:v>53.264454</c:v>
                </c:pt>
                <c:pt idx="210">
                  <c:v>53.232931</c:v>
                </c:pt>
                <c:pt idx="211">
                  <c:v>53.19908</c:v>
                </c:pt>
                <c:pt idx="212">
                  <c:v>53.163002</c:v>
                </c:pt>
                <c:pt idx="213">
                  <c:v>53.125105</c:v>
                </c:pt>
                <c:pt idx="214">
                  <c:v>53.08606</c:v>
                </c:pt>
                <c:pt idx="215">
                  <c:v>53.046739</c:v>
                </c:pt>
                <c:pt idx="216">
                  <c:v>53.008126</c:v>
                </c:pt>
                <c:pt idx="217">
                  <c:v>53.227634</c:v>
                </c:pt>
                <c:pt idx="218">
                  <c:v>53.441883</c:v>
                </c:pt>
                <c:pt idx="219">
                  <c:v>53.651866</c:v>
                </c:pt>
                <c:pt idx="220">
                  <c:v>53.858324</c:v>
                </c:pt>
                <c:pt idx="221">
                  <c:v>54.061695</c:v>
                </c:pt>
                <c:pt idx="222">
                  <c:v>54.262097</c:v>
                </c:pt>
                <c:pt idx="223">
                  <c:v>54.459327</c:v>
                </c:pt>
                <c:pt idx="224">
                  <c:v>54.652911</c:v>
                </c:pt>
                <c:pt idx="225">
                  <c:v>54.842155</c:v>
                </c:pt>
                <c:pt idx="226">
                  <c:v>55.02624</c:v>
                </c:pt>
                <c:pt idx="227">
                  <c:v>55.204308</c:v>
                </c:pt>
                <c:pt idx="228">
                  <c:v>55.375566</c:v>
                </c:pt>
                <c:pt idx="229">
                  <c:v>55.539377</c:v>
                </c:pt>
                <c:pt idx="230">
                  <c:v>55.695333</c:v>
                </c:pt>
                <c:pt idx="231">
                  <c:v>55.843312</c:v>
                </c:pt>
                <c:pt idx="232">
                  <c:v>55.983505</c:v>
                </c:pt>
                <c:pt idx="233">
                  <c:v>56.116407</c:v>
                </c:pt>
                <c:pt idx="234">
                  <c:v>56.242791</c:v>
                </c:pt>
                <c:pt idx="235">
                  <c:v>56.36364</c:v>
                </c:pt>
                <c:pt idx="236">
                  <c:v>56.48007</c:v>
                </c:pt>
                <c:pt idx="237">
                  <c:v>56.593239</c:v>
                </c:pt>
                <c:pt idx="238">
                  <c:v>56.704242</c:v>
                </c:pt>
                <c:pt idx="239">
                  <c:v>56.814022</c:v>
                </c:pt>
                <c:pt idx="240">
                  <c:v>56.923292</c:v>
                </c:pt>
                <c:pt idx="241">
                  <c:v>57.032478</c:v>
                </c:pt>
                <c:pt idx="242">
                  <c:v>57.141687</c:v>
                </c:pt>
                <c:pt idx="243">
                  <c:v>57.250708</c:v>
                </c:pt>
                <c:pt idx="244">
                  <c:v>57.359044</c:v>
                </c:pt>
                <c:pt idx="245">
                  <c:v>57.465967</c:v>
                </c:pt>
                <c:pt idx="246">
                  <c:v>57.570596</c:v>
                </c:pt>
                <c:pt idx="247">
                  <c:v>57.671993</c:v>
                </c:pt>
                <c:pt idx="248">
                  <c:v>57.769259</c:v>
                </c:pt>
                <c:pt idx="249">
                  <c:v>57.86163</c:v>
                </c:pt>
                <c:pt idx="250">
                  <c:v>57.948555</c:v>
                </c:pt>
                <c:pt idx="251">
                  <c:v>58.029759</c:v>
                </c:pt>
                <c:pt idx="252">
                  <c:v>58.105279</c:v>
                </c:pt>
                <c:pt idx="253">
                  <c:v>58.175462</c:v>
                </c:pt>
                <c:pt idx="254">
                  <c:v>58.240945</c:v>
                </c:pt>
                <c:pt idx="255">
                  <c:v>58.302598</c:v>
                </c:pt>
                <c:pt idx="256">
                  <c:v>58.361449</c:v>
                </c:pt>
                <c:pt idx="257">
                  <c:v>58.418593</c:v>
                </c:pt>
                <c:pt idx="258">
                  <c:v>58.475094</c:v>
                </c:pt>
                <c:pt idx="259">
                  <c:v>58.531887</c:v>
                </c:pt>
                <c:pt idx="260">
                  <c:v>58.589699</c:v>
                </c:pt>
                <c:pt idx="261">
                  <c:v>58.648984</c:v>
                </c:pt>
                <c:pt idx="262">
                  <c:v>58.709884</c:v>
                </c:pt>
                <c:pt idx="263">
                  <c:v>58.772222</c:v>
                </c:pt>
                <c:pt idx="264">
                  <c:v>58.835524</c:v>
                </c:pt>
                <c:pt idx="265">
                  <c:v>58.899071</c:v>
                </c:pt>
                <c:pt idx="266">
                  <c:v>58.961968</c:v>
                </c:pt>
                <c:pt idx="267">
                  <c:v>59.023238</c:v>
                </c:pt>
                <c:pt idx="268">
                  <c:v>59.081921</c:v>
                </c:pt>
                <c:pt idx="269">
                  <c:v>59.137164</c:v>
                </c:pt>
                <c:pt idx="270">
                  <c:v>59.188313</c:v>
                </c:pt>
                <c:pt idx="271">
                  <c:v>59.234977</c:v>
                </c:pt>
                <c:pt idx="272">
                  <c:v>59.277066</c:v>
                </c:pt>
                <c:pt idx="273">
                  <c:v>59.314811</c:v>
                </c:pt>
                <c:pt idx="274">
                  <c:v>59.348739</c:v>
                </c:pt>
                <c:pt idx="275">
                  <c:v>59.379629</c:v>
                </c:pt>
                <c:pt idx="276">
                  <c:v>59.408443</c:v>
                </c:pt>
                <c:pt idx="277">
                  <c:v>59.436233</c:v>
                </c:pt>
                <c:pt idx="278">
                  <c:v>59.464051</c:v>
                </c:pt>
                <c:pt idx="279">
                  <c:v>59.492844</c:v>
                </c:pt>
                <c:pt idx="280">
                  <c:v>59.523373</c:v>
                </c:pt>
                <c:pt idx="281">
                  <c:v>59.556141</c:v>
                </c:pt>
                <c:pt idx="282">
                  <c:v>59.591348</c:v>
                </c:pt>
                <c:pt idx="283">
                  <c:v>59.628874</c:v>
                </c:pt>
                <c:pt idx="284">
                  <c:v>59.668296</c:v>
                </c:pt>
                <c:pt idx="285">
                  <c:v>59.708927</c:v>
                </c:pt>
                <c:pt idx="286">
                  <c:v>59.749888</c:v>
                </c:pt>
                <c:pt idx="287">
                  <c:v>59.790191</c:v>
                </c:pt>
              </c:numCache>
            </c:numRef>
          </c:yVal>
        </c:ser>
        <c:ser>
          <c:idx val="1"/>
          <c:order val="1"/>
          <c:tx>
            <c:v>Expected top-oil</c:v>
          </c:tx>
          <c:spPr>
            <a:ln xmlns:a="http://schemas.openxmlformats.org/drawingml/2006/main" w="22860">
              <a:solidFill>
                <a:srgbClr val="F58845"/>
              </a:solidFill>
              <a:prstDash val="dash"/>
            </a:ln>
          </c:spPr>
          <c:marker>
            <c:symbol val="none"/>
          </c:marker>
          <c:xVal>
            <c:numRef>
              <c:f>'Chart Data'!$C$2:$C$289</c:f>
              <c:numCache>
                <c:formatCode>General</c:formatCode>
                <c:ptCount val="288"/>
                <c:pt idx="0">
                  <c:v>0</c:v>
                </c:pt>
                <c:pt idx="1">
                  <c:v>0.083333</c:v>
                </c:pt>
                <c:pt idx="2">
                  <c:v>0.166667</c:v>
                </c:pt>
                <c:pt idx="3">
                  <c:v>0.25</c:v>
                </c:pt>
                <c:pt idx="4">
                  <c:v>0.333333</c:v>
                </c:pt>
                <c:pt idx="5">
                  <c:v>0.416667</c:v>
                </c:pt>
                <c:pt idx="6">
                  <c:v>0.5</c:v>
                </c:pt>
                <c:pt idx="7">
                  <c:v>0.583333</c:v>
                </c:pt>
                <c:pt idx="8">
                  <c:v>0.666667</c:v>
                </c:pt>
                <c:pt idx="9">
                  <c:v>0.75</c:v>
                </c:pt>
                <c:pt idx="10">
                  <c:v>0.833333</c:v>
                </c:pt>
                <c:pt idx="11">
                  <c:v>0.916667</c:v>
                </c:pt>
                <c:pt idx="12">
                  <c:v>1</c:v>
                </c:pt>
                <c:pt idx="13">
                  <c:v>1.083333</c:v>
                </c:pt>
                <c:pt idx="14">
                  <c:v>1.166667</c:v>
                </c:pt>
                <c:pt idx="15">
                  <c:v>1.25</c:v>
                </c:pt>
                <c:pt idx="16">
                  <c:v>1.333333</c:v>
                </c:pt>
                <c:pt idx="17">
                  <c:v>1.416667</c:v>
                </c:pt>
                <c:pt idx="18">
                  <c:v>1.5</c:v>
                </c:pt>
                <c:pt idx="19">
                  <c:v>1.583333</c:v>
                </c:pt>
                <c:pt idx="20">
                  <c:v>1.666667</c:v>
                </c:pt>
                <c:pt idx="21">
                  <c:v>1.75</c:v>
                </c:pt>
                <c:pt idx="22">
                  <c:v>1.833333</c:v>
                </c:pt>
                <c:pt idx="23">
                  <c:v>1.916667</c:v>
                </c:pt>
                <c:pt idx="24">
                  <c:v>2</c:v>
                </c:pt>
                <c:pt idx="25">
                  <c:v>2.083333</c:v>
                </c:pt>
                <c:pt idx="26">
                  <c:v>2.166667</c:v>
                </c:pt>
                <c:pt idx="27">
                  <c:v>2.25</c:v>
                </c:pt>
                <c:pt idx="28">
                  <c:v>2.333333</c:v>
                </c:pt>
                <c:pt idx="29">
                  <c:v>2.416667</c:v>
                </c:pt>
                <c:pt idx="30">
                  <c:v>2.5</c:v>
                </c:pt>
                <c:pt idx="31">
                  <c:v>2.583333</c:v>
                </c:pt>
                <c:pt idx="32">
                  <c:v>2.666667</c:v>
                </c:pt>
                <c:pt idx="33">
                  <c:v>2.75</c:v>
                </c:pt>
                <c:pt idx="34">
                  <c:v>2.833333</c:v>
                </c:pt>
                <c:pt idx="35">
                  <c:v>2.916667</c:v>
                </c:pt>
                <c:pt idx="36">
                  <c:v>3</c:v>
                </c:pt>
                <c:pt idx="37">
                  <c:v>3.083333</c:v>
                </c:pt>
                <c:pt idx="38">
                  <c:v>3.166667</c:v>
                </c:pt>
                <c:pt idx="39">
                  <c:v>3.25</c:v>
                </c:pt>
                <c:pt idx="40">
                  <c:v>3.333333</c:v>
                </c:pt>
                <c:pt idx="41">
                  <c:v>3.416667</c:v>
                </c:pt>
                <c:pt idx="42">
                  <c:v>3.5</c:v>
                </c:pt>
                <c:pt idx="43">
                  <c:v>3.583333</c:v>
                </c:pt>
                <c:pt idx="44">
                  <c:v>3.666667</c:v>
                </c:pt>
                <c:pt idx="45">
                  <c:v>3.75</c:v>
                </c:pt>
                <c:pt idx="46">
                  <c:v>3.833333</c:v>
                </c:pt>
                <c:pt idx="47">
                  <c:v>3.916667</c:v>
                </c:pt>
                <c:pt idx="48">
                  <c:v>4</c:v>
                </c:pt>
                <c:pt idx="49">
                  <c:v>4.083333</c:v>
                </c:pt>
                <c:pt idx="50">
                  <c:v>4.166667</c:v>
                </c:pt>
                <c:pt idx="51">
                  <c:v>4.25</c:v>
                </c:pt>
                <c:pt idx="52">
                  <c:v>4.333333</c:v>
                </c:pt>
                <c:pt idx="53">
                  <c:v>4.416667</c:v>
                </c:pt>
                <c:pt idx="54">
                  <c:v>4.5</c:v>
                </c:pt>
                <c:pt idx="55">
                  <c:v>4.583333</c:v>
                </c:pt>
                <c:pt idx="56">
                  <c:v>4.666667</c:v>
                </c:pt>
                <c:pt idx="57">
                  <c:v>4.75</c:v>
                </c:pt>
                <c:pt idx="58">
                  <c:v>4.833333</c:v>
                </c:pt>
                <c:pt idx="59">
                  <c:v>4.916667</c:v>
                </c:pt>
                <c:pt idx="60">
                  <c:v>5</c:v>
                </c:pt>
                <c:pt idx="61">
                  <c:v>5.083333</c:v>
                </c:pt>
                <c:pt idx="62">
                  <c:v>5.166667</c:v>
                </c:pt>
                <c:pt idx="63">
                  <c:v>5.25</c:v>
                </c:pt>
                <c:pt idx="64">
                  <c:v>5.333333</c:v>
                </c:pt>
                <c:pt idx="65">
                  <c:v>5.416667</c:v>
                </c:pt>
                <c:pt idx="66">
                  <c:v>5.5</c:v>
                </c:pt>
                <c:pt idx="67">
                  <c:v>5.583333</c:v>
                </c:pt>
                <c:pt idx="68">
                  <c:v>5.666667</c:v>
                </c:pt>
                <c:pt idx="69">
                  <c:v>5.75</c:v>
                </c:pt>
                <c:pt idx="70">
                  <c:v>5.833333</c:v>
                </c:pt>
                <c:pt idx="71">
                  <c:v>5.916667</c:v>
                </c:pt>
                <c:pt idx="72">
                  <c:v>6</c:v>
                </c:pt>
                <c:pt idx="73">
                  <c:v>6.083333</c:v>
                </c:pt>
                <c:pt idx="74">
                  <c:v>6.166667</c:v>
                </c:pt>
                <c:pt idx="75">
                  <c:v>6.25</c:v>
                </c:pt>
                <c:pt idx="76">
                  <c:v>6.333333</c:v>
                </c:pt>
                <c:pt idx="77">
                  <c:v>6.416667</c:v>
                </c:pt>
                <c:pt idx="78">
                  <c:v>6.5</c:v>
                </c:pt>
                <c:pt idx="79">
                  <c:v>6.583333</c:v>
                </c:pt>
                <c:pt idx="80">
                  <c:v>6.666667</c:v>
                </c:pt>
                <c:pt idx="81">
                  <c:v>6.75</c:v>
                </c:pt>
                <c:pt idx="82">
                  <c:v>6.833333</c:v>
                </c:pt>
                <c:pt idx="83">
                  <c:v>6.916667</c:v>
                </c:pt>
                <c:pt idx="84">
                  <c:v>7</c:v>
                </c:pt>
                <c:pt idx="85">
                  <c:v>7.083333</c:v>
                </c:pt>
                <c:pt idx="86">
                  <c:v>7.166667</c:v>
                </c:pt>
                <c:pt idx="87">
                  <c:v>7.25</c:v>
                </c:pt>
                <c:pt idx="88">
                  <c:v>7.333333</c:v>
                </c:pt>
                <c:pt idx="89">
                  <c:v>7.416667</c:v>
                </c:pt>
                <c:pt idx="90">
                  <c:v>7.5</c:v>
                </c:pt>
                <c:pt idx="91">
                  <c:v>7.583333</c:v>
                </c:pt>
                <c:pt idx="92">
                  <c:v>7.666667</c:v>
                </c:pt>
                <c:pt idx="93">
                  <c:v>7.75</c:v>
                </c:pt>
                <c:pt idx="94">
                  <c:v>7.833333</c:v>
                </c:pt>
                <c:pt idx="95">
                  <c:v>7.916667</c:v>
                </c:pt>
                <c:pt idx="96">
                  <c:v>8</c:v>
                </c:pt>
                <c:pt idx="97">
                  <c:v>8.083333</c:v>
                </c:pt>
                <c:pt idx="98">
                  <c:v>8.166667</c:v>
                </c:pt>
                <c:pt idx="99">
                  <c:v>8.25</c:v>
                </c:pt>
                <c:pt idx="100">
                  <c:v>8.333333</c:v>
                </c:pt>
                <c:pt idx="101">
                  <c:v>8.416667</c:v>
                </c:pt>
                <c:pt idx="102">
                  <c:v>8.5</c:v>
                </c:pt>
                <c:pt idx="103">
                  <c:v>8.583333</c:v>
                </c:pt>
                <c:pt idx="104">
                  <c:v>8.666667</c:v>
                </c:pt>
                <c:pt idx="105">
                  <c:v>8.75</c:v>
                </c:pt>
                <c:pt idx="106">
                  <c:v>8.833333</c:v>
                </c:pt>
                <c:pt idx="107">
                  <c:v>8.916667</c:v>
                </c:pt>
                <c:pt idx="108">
                  <c:v>9</c:v>
                </c:pt>
                <c:pt idx="109">
                  <c:v>9.083333</c:v>
                </c:pt>
                <c:pt idx="110">
                  <c:v>9.166667</c:v>
                </c:pt>
                <c:pt idx="111">
                  <c:v>9.25</c:v>
                </c:pt>
                <c:pt idx="112">
                  <c:v>9.333333</c:v>
                </c:pt>
                <c:pt idx="113">
                  <c:v>9.416667</c:v>
                </c:pt>
                <c:pt idx="114">
                  <c:v>9.5</c:v>
                </c:pt>
                <c:pt idx="115">
                  <c:v>9.583333</c:v>
                </c:pt>
                <c:pt idx="116">
                  <c:v>9.666667</c:v>
                </c:pt>
                <c:pt idx="117">
                  <c:v>9.75</c:v>
                </c:pt>
                <c:pt idx="118">
                  <c:v>9.833333</c:v>
                </c:pt>
                <c:pt idx="119">
                  <c:v>9.916667</c:v>
                </c:pt>
                <c:pt idx="120">
                  <c:v>10</c:v>
                </c:pt>
                <c:pt idx="121">
                  <c:v>10.083333</c:v>
                </c:pt>
                <c:pt idx="122">
                  <c:v>10.166667</c:v>
                </c:pt>
                <c:pt idx="123">
                  <c:v>10.25</c:v>
                </c:pt>
                <c:pt idx="124">
                  <c:v>10.333333</c:v>
                </c:pt>
                <c:pt idx="125">
                  <c:v>10.416667</c:v>
                </c:pt>
                <c:pt idx="126">
                  <c:v>10.5</c:v>
                </c:pt>
                <c:pt idx="127">
                  <c:v>10.583333</c:v>
                </c:pt>
                <c:pt idx="128">
                  <c:v>10.666667</c:v>
                </c:pt>
                <c:pt idx="129">
                  <c:v>10.75</c:v>
                </c:pt>
                <c:pt idx="130">
                  <c:v>10.833333</c:v>
                </c:pt>
                <c:pt idx="131">
                  <c:v>10.916667</c:v>
                </c:pt>
                <c:pt idx="132">
                  <c:v>11</c:v>
                </c:pt>
                <c:pt idx="133">
                  <c:v>11.083333</c:v>
                </c:pt>
                <c:pt idx="134">
                  <c:v>11.166667</c:v>
                </c:pt>
                <c:pt idx="135">
                  <c:v>11.25</c:v>
                </c:pt>
                <c:pt idx="136">
                  <c:v>11.333333</c:v>
                </c:pt>
                <c:pt idx="137">
                  <c:v>11.416667</c:v>
                </c:pt>
                <c:pt idx="138">
                  <c:v>11.5</c:v>
                </c:pt>
                <c:pt idx="139">
                  <c:v>11.583333</c:v>
                </c:pt>
                <c:pt idx="140">
                  <c:v>11.666667</c:v>
                </c:pt>
                <c:pt idx="141">
                  <c:v>11.75</c:v>
                </c:pt>
                <c:pt idx="142">
                  <c:v>11.833333</c:v>
                </c:pt>
                <c:pt idx="143">
                  <c:v>11.916667</c:v>
                </c:pt>
                <c:pt idx="144">
                  <c:v>12</c:v>
                </c:pt>
                <c:pt idx="145">
                  <c:v>12.083333</c:v>
                </c:pt>
                <c:pt idx="146">
                  <c:v>12.166667</c:v>
                </c:pt>
                <c:pt idx="147">
                  <c:v>12.25</c:v>
                </c:pt>
                <c:pt idx="148">
                  <c:v>12.333333</c:v>
                </c:pt>
                <c:pt idx="149">
                  <c:v>12.416667</c:v>
                </c:pt>
                <c:pt idx="150">
                  <c:v>12.5</c:v>
                </c:pt>
                <c:pt idx="151">
                  <c:v>12.583333</c:v>
                </c:pt>
                <c:pt idx="152">
                  <c:v>12.666667</c:v>
                </c:pt>
                <c:pt idx="153">
                  <c:v>12.75</c:v>
                </c:pt>
                <c:pt idx="154">
                  <c:v>12.833333</c:v>
                </c:pt>
                <c:pt idx="155">
                  <c:v>12.916667</c:v>
                </c:pt>
                <c:pt idx="156">
                  <c:v>13</c:v>
                </c:pt>
                <c:pt idx="157">
                  <c:v>13.083333</c:v>
                </c:pt>
                <c:pt idx="158">
                  <c:v>13.166667</c:v>
                </c:pt>
                <c:pt idx="159">
                  <c:v>13.25</c:v>
                </c:pt>
                <c:pt idx="160">
                  <c:v>13.333333</c:v>
                </c:pt>
                <c:pt idx="161">
                  <c:v>13.416667</c:v>
                </c:pt>
                <c:pt idx="162">
                  <c:v>13.5</c:v>
                </c:pt>
                <c:pt idx="163">
                  <c:v>13.583333</c:v>
                </c:pt>
                <c:pt idx="164">
                  <c:v>13.666667</c:v>
                </c:pt>
                <c:pt idx="165">
                  <c:v>13.75</c:v>
                </c:pt>
                <c:pt idx="166">
                  <c:v>13.833333</c:v>
                </c:pt>
                <c:pt idx="167">
                  <c:v>13.916667</c:v>
                </c:pt>
                <c:pt idx="168">
                  <c:v>14</c:v>
                </c:pt>
                <c:pt idx="169">
                  <c:v>14.083333</c:v>
                </c:pt>
                <c:pt idx="170">
                  <c:v>14.166667</c:v>
                </c:pt>
                <c:pt idx="171">
                  <c:v>14.25</c:v>
                </c:pt>
                <c:pt idx="172">
                  <c:v>14.333333</c:v>
                </c:pt>
                <c:pt idx="173">
                  <c:v>14.416667</c:v>
                </c:pt>
                <c:pt idx="174">
                  <c:v>14.5</c:v>
                </c:pt>
                <c:pt idx="175">
                  <c:v>14.583333</c:v>
                </c:pt>
                <c:pt idx="176">
                  <c:v>14.666667</c:v>
                </c:pt>
                <c:pt idx="177">
                  <c:v>14.75</c:v>
                </c:pt>
                <c:pt idx="178">
                  <c:v>14.833333</c:v>
                </c:pt>
                <c:pt idx="179">
                  <c:v>14.916667</c:v>
                </c:pt>
                <c:pt idx="180">
                  <c:v>15</c:v>
                </c:pt>
                <c:pt idx="181">
                  <c:v>15.083333</c:v>
                </c:pt>
                <c:pt idx="182">
                  <c:v>15.166667</c:v>
                </c:pt>
                <c:pt idx="183">
                  <c:v>15.25</c:v>
                </c:pt>
                <c:pt idx="184">
                  <c:v>15.333333</c:v>
                </c:pt>
                <c:pt idx="185">
                  <c:v>15.416667</c:v>
                </c:pt>
                <c:pt idx="186">
                  <c:v>15.5</c:v>
                </c:pt>
                <c:pt idx="187">
                  <c:v>15.583333</c:v>
                </c:pt>
                <c:pt idx="188">
                  <c:v>15.666667</c:v>
                </c:pt>
                <c:pt idx="189">
                  <c:v>15.75</c:v>
                </c:pt>
                <c:pt idx="190">
                  <c:v>15.833333</c:v>
                </c:pt>
                <c:pt idx="191">
                  <c:v>15.916667</c:v>
                </c:pt>
                <c:pt idx="192">
                  <c:v>16</c:v>
                </c:pt>
                <c:pt idx="193">
                  <c:v>16.083333</c:v>
                </c:pt>
                <c:pt idx="194">
                  <c:v>16.166667</c:v>
                </c:pt>
                <c:pt idx="195">
                  <c:v>16.25</c:v>
                </c:pt>
                <c:pt idx="196">
                  <c:v>16.333333</c:v>
                </c:pt>
                <c:pt idx="197">
                  <c:v>16.416667</c:v>
                </c:pt>
                <c:pt idx="198">
                  <c:v>16.5</c:v>
                </c:pt>
                <c:pt idx="199">
                  <c:v>16.583333</c:v>
                </c:pt>
                <c:pt idx="200">
                  <c:v>16.666667</c:v>
                </c:pt>
                <c:pt idx="201">
                  <c:v>16.75</c:v>
                </c:pt>
                <c:pt idx="202">
                  <c:v>16.833333</c:v>
                </c:pt>
                <c:pt idx="203">
                  <c:v>16.916667</c:v>
                </c:pt>
                <c:pt idx="204">
                  <c:v>17</c:v>
                </c:pt>
                <c:pt idx="205">
                  <c:v>17.083333</c:v>
                </c:pt>
                <c:pt idx="206">
                  <c:v>17.166667</c:v>
                </c:pt>
                <c:pt idx="207">
                  <c:v>17.25</c:v>
                </c:pt>
                <c:pt idx="208">
                  <c:v>17.333333</c:v>
                </c:pt>
                <c:pt idx="209">
                  <c:v>17.416667</c:v>
                </c:pt>
                <c:pt idx="210">
                  <c:v>17.5</c:v>
                </c:pt>
                <c:pt idx="211">
                  <c:v>17.583333</c:v>
                </c:pt>
                <c:pt idx="212">
                  <c:v>17.666667</c:v>
                </c:pt>
                <c:pt idx="213">
                  <c:v>17.75</c:v>
                </c:pt>
                <c:pt idx="214">
                  <c:v>17.833333</c:v>
                </c:pt>
                <c:pt idx="215">
                  <c:v>17.916667</c:v>
                </c:pt>
                <c:pt idx="216">
                  <c:v>18</c:v>
                </c:pt>
                <c:pt idx="217">
                  <c:v>18.083333</c:v>
                </c:pt>
                <c:pt idx="218">
                  <c:v>18.166667</c:v>
                </c:pt>
                <c:pt idx="219">
                  <c:v>18.25</c:v>
                </c:pt>
                <c:pt idx="220">
                  <c:v>18.333333</c:v>
                </c:pt>
                <c:pt idx="221">
                  <c:v>18.416667</c:v>
                </c:pt>
                <c:pt idx="222">
                  <c:v>18.5</c:v>
                </c:pt>
                <c:pt idx="223">
                  <c:v>18.583333</c:v>
                </c:pt>
                <c:pt idx="224">
                  <c:v>18.666667</c:v>
                </c:pt>
                <c:pt idx="225">
                  <c:v>18.75</c:v>
                </c:pt>
                <c:pt idx="226">
                  <c:v>18.833333</c:v>
                </c:pt>
                <c:pt idx="227">
                  <c:v>18.916667</c:v>
                </c:pt>
                <c:pt idx="228">
                  <c:v>19</c:v>
                </c:pt>
                <c:pt idx="229">
                  <c:v>19.083333</c:v>
                </c:pt>
                <c:pt idx="230">
                  <c:v>19.166667</c:v>
                </c:pt>
                <c:pt idx="231">
                  <c:v>19.25</c:v>
                </c:pt>
                <c:pt idx="232">
                  <c:v>19.333333</c:v>
                </c:pt>
                <c:pt idx="233">
                  <c:v>19.416667</c:v>
                </c:pt>
                <c:pt idx="234">
                  <c:v>19.5</c:v>
                </c:pt>
                <c:pt idx="235">
                  <c:v>19.583333</c:v>
                </c:pt>
                <c:pt idx="236">
                  <c:v>19.666667</c:v>
                </c:pt>
                <c:pt idx="237">
                  <c:v>19.75</c:v>
                </c:pt>
                <c:pt idx="238">
                  <c:v>19.833333</c:v>
                </c:pt>
                <c:pt idx="239">
                  <c:v>19.916667</c:v>
                </c:pt>
                <c:pt idx="240">
                  <c:v>20</c:v>
                </c:pt>
                <c:pt idx="241">
                  <c:v>20.083333</c:v>
                </c:pt>
                <c:pt idx="242">
                  <c:v>20.166667</c:v>
                </c:pt>
                <c:pt idx="243">
                  <c:v>20.25</c:v>
                </c:pt>
                <c:pt idx="244">
                  <c:v>20.333333</c:v>
                </c:pt>
                <c:pt idx="245">
                  <c:v>20.416667</c:v>
                </c:pt>
                <c:pt idx="246">
                  <c:v>20.5</c:v>
                </c:pt>
                <c:pt idx="247">
                  <c:v>20.583333</c:v>
                </c:pt>
                <c:pt idx="248">
                  <c:v>20.666667</c:v>
                </c:pt>
                <c:pt idx="249">
                  <c:v>20.75</c:v>
                </c:pt>
                <c:pt idx="250">
                  <c:v>20.833333</c:v>
                </c:pt>
                <c:pt idx="251">
                  <c:v>20.916667</c:v>
                </c:pt>
                <c:pt idx="252">
                  <c:v>21</c:v>
                </c:pt>
                <c:pt idx="253">
                  <c:v>21.083333</c:v>
                </c:pt>
                <c:pt idx="254">
                  <c:v>21.166667</c:v>
                </c:pt>
                <c:pt idx="255">
                  <c:v>21.25</c:v>
                </c:pt>
                <c:pt idx="256">
                  <c:v>21.333333</c:v>
                </c:pt>
                <c:pt idx="257">
                  <c:v>21.416667</c:v>
                </c:pt>
                <c:pt idx="258">
                  <c:v>21.5</c:v>
                </c:pt>
                <c:pt idx="259">
                  <c:v>21.583333</c:v>
                </c:pt>
                <c:pt idx="260">
                  <c:v>21.666667</c:v>
                </c:pt>
                <c:pt idx="261">
                  <c:v>21.75</c:v>
                </c:pt>
                <c:pt idx="262">
                  <c:v>21.833333</c:v>
                </c:pt>
                <c:pt idx="263">
                  <c:v>21.916667</c:v>
                </c:pt>
                <c:pt idx="264">
                  <c:v>22</c:v>
                </c:pt>
                <c:pt idx="265">
                  <c:v>22.083333</c:v>
                </c:pt>
                <c:pt idx="266">
                  <c:v>22.166667</c:v>
                </c:pt>
                <c:pt idx="267">
                  <c:v>22.25</c:v>
                </c:pt>
                <c:pt idx="268">
                  <c:v>22.333333</c:v>
                </c:pt>
                <c:pt idx="269">
                  <c:v>22.416667</c:v>
                </c:pt>
                <c:pt idx="270">
                  <c:v>22.5</c:v>
                </c:pt>
                <c:pt idx="271">
                  <c:v>22.583333</c:v>
                </c:pt>
                <c:pt idx="272">
                  <c:v>22.666667</c:v>
                </c:pt>
                <c:pt idx="273">
                  <c:v>22.75</c:v>
                </c:pt>
                <c:pt idx="274">
                  <c:v>22.833333</c:v>
                </c:pt>
                <c:pt idx="275">
                  <c:v>22.916667</c:v>
                </c:pt>
                <c:pt idx="276">
                  <c:v>23</c:v>
                </c:pt>
                <c:pt idx="277">
                  <c:v>23.083333</c:v>
                </c:pt>
                <c:pt idx="278">
                  <c:v>23.166667</c:v>
                </c:pt>
                <c:pt idx="279">
                  <c:v>23.25</c:v>
                </c:pt>
                <c:pt idx="280">
                  <c:v>23.333333</c:v>
                </c:pt>
                <c:pt idx="281">
                  <c:v>23.416667</c:v>
                </c:pt>
                <c:pt idx="282">
                  <c:v>23.5</c:v>
                </c:pt>
                <c:pt idx="283">
                  <c:v>23.583333</c:v>
                </c:pt>
                <c:pt idx="284">
                  <c:v>23.666667</c:v>
                </c:pt>
                <c:pt idx="285">
                  <c:v>23.75</c:v>
                </c:pt>
                <c:pt idx="286">
                  <c:v>23.833333</c:v>
                </c:pt>
                <c:pt idx="287">
                  <c:v>23.916667</c:v>
                </c:pt>
              </c:numCache>
            </c:numRef>
          </c:xVal>
          <c:yVal>
            <c:numRef>
              <c:f>'Chart Data'!$D$2:$D$289</c:f>
              <c:numCache>
                <c:formatCode>General</c:formatCode>
                <c:ptCount val="288"/>
                <c:pt idx="0">
                  <c:v>48.809431</c:v>
                </c:pt>
                <c:pt idx="1">
                  <c:v>48.581135</c:v>
                </c:pt>
                <c:pt idx="2">
                  <c:v>48.360031</c:v>
                </c:pt>
                <c:pt idx="3">
                  <c:v>48.145898</c:v>
                </c:pt>
                <c:pt idx="4">
                  <c:v>47.93852</c:v>
                </c:pt>
                <c:pt idx="5">
                  <c:v>47.73769</c:v>
                </c:pt>
                <c:pt idx="6">
                  <c:v>47.543206</c:v>
                </c:pt>
                <c:pt idx="7">
                  <c:v>47.354871</c:v>
                </c:pt>
                <c:pt idx="8">
                  <c:v>47.172498</c:v>
                </c:pt>
                <c:pt idx="9">
                  <c:v>46.995901</c:v>
                </c:pt>
                <c:pt idx="10">
                  <c:v>46.824902</c:v>
                </c:pt>
                <c:pt idx="11">
                  <c:v>46.659329</c:v>
                </c:pt>
                <c:pt idx="12">
                  <c:v>46.499013</c:v>
                </c:pt>
                <c:pt idx="13">
                  <c:v>46.343793</c:v>
                </c:pt>
                <c:pt idx="14">
                  <c:v>46.193509</c:v>
                </c:pt>
                <c:pt idx="15">
                  <c:v>46.04801</c:v>
                </c:pt>
                <c:pt idx="16">
                  <c:v>45.907146</c:v>
                </c:pt>
                <c:pt idx="17">
                  <c:v>45.770775</c:v>
                </c:pt>
                <c:pt idx="18">
                  <c:v>45.638757</c:v>
                </c:pt>
                <c:pt idx="19">
                  <c:v>45.510956</c:v>
                </c:pt>
                <c:pt idx="20">
                  <c:v>45.387242</c:v>
                </c:pt>
                <c:pt idx="21">
                  <c:v>45.267486</c:v>
                </c:pt>
                <c:pt idx="22">
                  <c:v>45.151567</c:v>
                </c:pt>
                <c:pt idx="23">
                  <c:v>45.039364</c:v>
                </c:pt>
                <c:pt idx="24">
                  <c:v>44.93076</c:v>
                </c:pt>
                <c:pt idx="25">
                  <c:v>44.825645</c:v>
                </c:pt>
                <c:pt idx="26">
                  <c:v>44.723907</c:v>
                </c:pt>
                <c:pt idx="27">
                  <c:v>44.625443</c:v>
                </c:pt>
                <c:pt idx="28">
                  <c:v>44.530148</c:v>
                </c:pt>
                <c:pt idx="29">
                  <c:v>44.437924</c:v>
                </c:pt>
                <c:pt idx="30">
                  <c:v>44.348674</c:v>
                </c:pt>
                <c:pt idx="31">
                  <c:v>44.262304</c:v>
                </c:pt>
                <c:pt idx="32">
                  <c:v>44.178723</c:v>
                </c:pt>
                <c:pt idx="33">
                  <c:v>44.097843</c:v>
                </c:pt>
                <c:pt idx="34">
                  <c:v>44.019579</c:v>
                </c:pt>
                <c:pt idx="35">
                  <c:v>43.943848</c:v>
                </c:pt>
                <c:pt idx="36">
                  <c:v>43.87057</c:v>
                </c:pt>
                <c:pt idx="37">
                  <c:v>43.799666</c:v>
                </c:pt>
                <c:pt idx="38">
                  <c:v>43.73106</c:v>
                </c:pt>
                <c:pt idx="39">
                  <c:v>43.664681</c:v>
                </c:pt>
                <c:pt idx="40">
                  <c:v>43.600455</c:v>
                </c:pt>
                <c:pt idx="41">
                  <c:v>43.538315</c:v>
                </c:pt>
                <c:pt idx="42">
                  <c:v>43.478193</c:v>
                </c:pt>
                <c:pt idx="43">
                  <c:v>43.420025</c:v>
                </c:pt>
                <c:pt idx="44">
                  <c:v>43.363747</c:v>
                </c:pt>
                <c:pt idx="45">
                  <c:v>43.309298</c:v>
                </c:pt>
                <c:pt idx="46">
                  <c:v>43.256619</c:v>
                </c:pt>
                <c:pt idx="47">
                  <c:v>43.205652</c:v>
                </c:pt>
                <c:pt idx="48">
                  <c:v>43.156343</c:v>
                </c:pt>
                <c:pt idx="49">
                  <c:v>43.108635</c:v>
                </c:pt>
                <c:pt idx="50">
                  <c:v>43.062478</c:v>
                </c:pt>
                <c:pt idx="51">
                  <c:v>43.01782</c:v>
                </c:pt>
                <c:pt idx="52">
                  <c:v>42.974612</c:v>
                </c:pt>
                <c:pt idx="53">
                  <c:v>42.932806</c:v>
                </c:pt>
                <c:pt idx="54">
                  <c:v>42.892356</c:v>
                </c:pt>
                <c:pt idx="55">
                  <c:v>42.853215</c:v>
                </c:pt>
                <c:pt idx="56">
                  <c:v>42.815342</c:v>
                </c:pt>
                <c:pt idx="57">
                  <c:v>42.778693</c:v>
                </c:pt>
                <c:pt idx="58">
                  <c:v>42.743227</c:v>
                </c:pt>
                <c:pt idx="59">
                  <c:v>42.708904</c:v>
                </c:pt>
                <c:pt idx="60">
                  <c:v>42.675687</c:v>
                </c:pt>
                <c:pt idx="61">
                  <c:v>42.643536</c:v>
                </c:pt>
                <c:pt idx="62">
                  <c:v>42.612416</c:v>
                </c:pt>
                <c:pt idx="63">
                  <c:v>42.582292</c:v>
                </c:pt>
                <c:pt idx="64">
                  <c:v>42.553129</c:v>
                </c:pt>
                <c:pt idx="65">
                  <c:v>42.524895</c:v>
                </c:pt>
                <c:pt idx="66">
                  <c:v>42.497556</c:v>
                </c:pt>
                <c:pt idx="67">
                  <c:v>42.471082</c:v>
                </c:pt>
                <c:pt idx="68">
                  <c:v>42.445443</c:v>
                </c:pt>
                <c:pt idx="69">
                  <c:v>42.420609</c:v>
                </c:pt>
                <c:pt idx="70">
                  <c:v>42.396552</c:v>
                </c:pt>
                <c:pt idx="71">
                  <c:v>42.373244</c:v>
                </c:pt>
                <c:pt idx="72">
                  <c:v>42.350659</c:v>
                </c:pt>
                <c:pt idx="73">
                  <c:v>42.585182</c:v>
                </c:pt>
                <c:pt idx="74">
                  <c:v>42.812487</c:v>
                </c:pt>
                <c:pt idx="75">
                  <c:v>43.032793</c:v>
                </c:pt>
                <c:pt idx="76">
                  <c:v>43.246313</c:v>
                </c:pt>
                <c:pt idx="77">
                  <c:v>43.45325</c:v>
                </c:pt>
                <c:pt idx="78">
                  <c:v>43.653803</c:v>
                </c:pt>
                <c:pt idx="79">
                  <c:v>43.848167</c:v>
                </c:pt>
                <c:pt idx="80">
                  <c:v>44.036526</c:v>
                </c:pt>
                <c:pt idx="81">
                  <c:v>44.219064</c:v>
                </c:pt>
                <c:pt idx="82">
                  <c:v>44.395954</c:v>
                </c:pt>
                <c:pt idx="83">
                  <c:v>44.567367</c:v>
                </c:pt>
                <c:pt idx="84">
                  <c:v>44.733468</c:v>
                </c:pt>
                <c:pt idx="85">
                  <c:v>44.894417</c:v>
                </c:pt>
                <c:pt idx="86">
                  <c:v>45.05037</c:v>
                </c:pt>
                <c:pt idx="87">
                  <c:v>45.201475</c:v>
                </c:pt>
                <c:pt idx="88">
                  <c:v>45.347879</c:v>
                </c:pt>
                <c:pt idx="89">
                  <c:v>45.489723</c:v>
                </c:pt>
                <c:pt idx="90">
                  <c:v>45.627144</c:v>
                </c:pt>
                <c:pt idx="91">
                  <c:v>45.760274</c:v>
                </c:pt>
                <c:pt idx="92">
                  <c:v>45.889243</c:v>
                </c:pt>
                <c:pt idx="93">
                  <c:v>46.014174</c:v>
                </c:pt>
                <c:pt idx="94">
                  <c:v>46.135189</c:v>
                </c:pt>
                <c:pt idx="95">
                  <c:v>46.252405</c:v>
                </c:pt>
                <c:pt idx="96">
                  <c:v>46.365935</c:v>
                </c:pt>
                <c:pt idx="97">
                  <c:v>46.47589</c:v>
                </c:pt>
                <c:pt idx="98">
                  <c:v>46.582377</c:v>
                </c:pt>
                <c:pt idx="99">
                  <c:v>46.685499</c:v>
                </c:pt>
                <c:pt idx="100">
                  <c:v>46.785356</c:v>
                </c:pt>
                <c:pt idx="101">
                  <c:v>46.882046</c:v>
                </c:pt>
                <c:pt idx="102">
                  <c:v>46.975664</c:v>
                </c:pt>
                <c:pt idx="103">
                  <c:v>47.066301</c:v>
                </c:pt>
                <c:pt idx="104">
                  <c:v>47.154045</c:v>
                </c:pt>
                <c:pt idx="105">
                  <c:v>47.238984</c:v>
                </c:pt>
                <c:pt idx="106">
                  <c:v>47.3212</c:v>
                </c:pt>
                <c:pt idx="107">
                  <c:v>47.400774</c:v>
                </c:pt>
                <c:pt idx="108">
                  <c:v>47.477786</c:v>
                </c:pt>
                <c:pt idx="109">
                  <c:v>47.552311</c:v>
                </c:pt>
                <c:pt idx="110">
                  <c:v>47.624422</c:v>
                </c:pt>
                <c:pt idx="111">
                  <c:v>47.694193</c:v>
                </c:pt>
                <c:pt idx="112">
                  <c:v>47.761692</c:v>
                </c:pt>
                <c:pt idx="113">
                  <c:v>47.826987</c:v>
                </c:pt>
                <c:pt idx="114">
                  <c:v>47.890144</c:v>
                </c:pt>
                <c:pt idx="115">
                  <c:v>47.951225</c:v>
                </c:pt>
                <c:pt idx="116">
                  <c:v>48.010293</c:v>
                </c:pt>
                <c:pt idx="117">
                  <c:v>48.067407</c:v>
                </c:pt>
                <c:pt idx="118">
                  <c:v>48.122626</c:v>
                </c:pt>
                <c:pt idx="119">
                  <c:v>48.176005</c:v>
                </c:pt>
                <c:pt idx="120">
                  <c:v>48.227599</c:v>
                </c:pt>
                <c:pt idx="121">
                  <c:v>48.277461</c:v>
                </c:pt>
                <c:pt idx="122">
                  <c:v>48.325643</c:v>
                </c:pt>
                <c:pt idx="123">
                  <c:v>48.372195</c:v>
                </c:pt>
                <c:pt idx="124">
                  <c:v>48.417165</c:v>
                </c:pt>
                <c:pt idx="125">
                  <c:v>48.4606</c:v>
                </c:pt>
                <c:pt idx="126">
                  <c:v>48.502545</c:v>
                </c:pt>
                <c:pt idx="127">
                  <c:v>48.543046</c:v>
                </c:pt>
                <c:pt idx="128">
                  <c:v>48.582145</c:v>
                </c:pt>
                <c:pt idx="129">
                  <c:v>48.619884</c:v>
                </c:pt>
                <c:pt idx="130">
                  <c:v>48.656304</c:v>
                </c:pt>
                <c:pt idx="131">
                  <c:v>48.691443</c:v>
                </c:pt>
                <c:pt idx="132">
                  <c:v>48.725341</c:v>
                </c:pt>
                <c:pt idx="133">
                  <c:v>48.758035</c:v>
                </c:pt>
                <c:pt idx="134">
                  <c:v>48.78956</c:v>
                </c:pt>
                <c:pt idx="135">
                  <c:v>48.819951</c:v>
                </c:pt>
                <c:pt idx="136">
                  <c:v>48.849243</c:v>
                </c:pt>
                <c:pt idx="137">
                  <c:v>48.87747</c:v>
                </c:pt>
                <c:pt idx="138">
                  <c:v>48.904662</c:v>
                </c:pt>
                <c:pt idx="139">
                  <c:v>48.930851</c:v>
                </c:pt>
                <c:pt idx="140">
                  <c:v>48.956068</c:v>
                </c:pt>
                <c:pt idx="141">
                  <c:v>48.980343</c:v>
                </c:pt>
                <c:pt idx="142">
                  <c:v>49.003703</c:v>
                </c:pt>
                <c:pt idx="143">
                  <c:v>49.026177</c:v>
                </c:pt>
                <c:pt idx="144">
                  <c:v>49.047791</c:v>
                </c:pt>
                <c:pt idx="145">
                  <c:v>48.812162</c:v>
                </c:pt>
                <c:pt idx="146">
                  <c:v>48.583615</c:v>
                </c:pt>
                <c:pt idx="147">
                  <c:v>48.361931</c:v>
                </c:pt>
                <c:pt idx="148">
                  <c:v>48.146901</c:v>
                </c:pt>
                <c:pt idx="149">
                  <c:v>47.938318</c:v>
                </c:pt>
                <c:pt idx="150">
                  <c:v>47.735987</c:v>
                </c:pt>
                <c:pt idx="151">
                  <c:v>47.539713</c:v>
                </c:pt>
                <c:pt idx="152">
                  <c:v>47.349313</c:v>
                </c:pt>
                <c:pt idx="153">
                  <c:v>47.164605</c:v>
                </c:pt>
                <c:pt idx="154">
                  <c:v>46.985414</c:v>
                </c:pt>
                <c:pt idx="155">
                  <c:v>46.811573</c:v>
                </c:pt>
                <c:pt idx="156">
                  <c:v>46.642917</c:v>
                </c:pt>
                <c:pt idx="157">
                  <c:v>46.479287</c:v>
                </c:pt>
                <c:pt idx="158">
                  <c:v>46.32053</c:v>
                </c:pt>
                <c:pt idx="159">
                  <c:v>46.166497</c:v>
                </c:pt>
                <c:pt idx="160">
                  <c:v>46.017043</c:v>
                </c:pt>
                <c:pt idx="161">
                  <c:v>45.87203</c:v>
                </c:pt>
                <c:pt idx="162">
                  <c:v>45.731321</c:v>
                </c:pt>
                <c:pt idx="163">
                  <c:v>45.594785</c:v>
                </c:pt>
                <c:pt idx="164">
                  <c:v>45.462296</c:v>
                </c:pt>
                <c:pt idx="165">
                  <c:v>45.33373</c:v>
                </c:pt>
                <c:pt idx="166">
                  <c:v>45.208968</c:v>
                </c:pt>
                <c:pt idx="167">
                  <c:v>45.087896</c:v>
                </c:pt>
                <c:pt idx="168">
                  <c:v>44.9704</c:v>
                </c:pt>
                <c:pt idx="169">
                  <c:v>44.856373</c:v>
                </c:pt>
                <c:pt idx="170">
                  <c:v>44.74571</c:v>
                </c:pt>
                <c:pt idx="171">
                  <c:v>44.638309</c:v>
                </c:pt>
                <c:pt idx="172">
                  <c:v>44.534072</c:v>
                </c:pt>
                <c:pt idx="173">
                  <c:v>44.432904</c:v>
                </c:pt>
                <c:pt idx="174">
                  <c:v>44.334711</c:v>
                </c:pt>
                <c:pt idx="175">
                  <c:v>44.239406</c:v>
                </c:pt>
                <c:pt idx="176">
                  <c:v>44.146901</c:v>
                </c:pt>
                <c:pt idx="177">
                  <c:v>44.057112</c:v>
                </c:pt>
                <c:pt idx="178">
                  <c:v>43.969958</c:v>
                </c:pt>
                <c:pt idx="179">
                  <c:v>43.885361</c:v>
                </c:pt>
                <c:pt idx="180">
                  <c:v>43.803244</c:v>
                </c:pt>
                <c:pt idx="181">
                  <c:v>43.723534</c:v>
                </c:pt>
                <c:pt idx="182">
                  <c:v>43.646159</c:v>
                </c:pt>
                <c:pt idx="183">
                  <c:v>43.571049</c:v>
                </c:pt>
                <c:pt idx="184">
                  <c:v>43.498139</c:v>
                </c:pt>
                <c:pt idx="185">
                  <c:v>43.427362</c:v>
                </c:pt>
                <c:pt idx="186">
                  <c:v>43.358657</c:v>
                </c:pt>
                <c:pt idx="187">
                  <c:v>43.291962</c:v>
                </c:pt>
                <c:pt idx="188">
                  <c:v>43.227218</c:v>
                </c:pt>
                <c:pt idx="189">
                  <c:v>43.164368</c:v>
                </c:pt>
                <c:pt idx="190">
                  <c:v>43.103357</c:v>
                </c:pt>
                <c:pt idx="191">
                  <c:v>43.044132</c:v>
                </c:pt>
                <c:pt idx="192">
                  <c:v>42.98664</c:v>
                </c:pt>
                <c:pt idx="193">
                  <c:v>42.930832</c:v>
                </c:pt>
                <c:pt idx="194">
                  <c:v>42.876658</c:v>
                </c:pt>
                <c:pt idx="195">
                  <c:v>42.824072</c:v>
                </c:pt>
                <c:pt idx="196">
                  <c:v>42.773028</c:v>
                </c:pt>
                <c:pt idx="197">
                  <c:v>42.723482</c:v>
                </c:pt>
                <c:pt idx="198">
                  <c:v>42.675391</c:v>
                </c:pt>
                <c:pt idx="199">
                  <c:v>42.628714</c:v>
                </c:pt>
                <c:pt idx="200">
                  <c:v>42.58341</c:v>
                </c:pt>
                <c:pt idx="201">
                  <c:v>42.539441</c:v>
                </c:pt>
                <c:pt idx="202">
                  <c:v>42.496769</c:v>
                </c:pt>
                <c:pt idx="203">
                  <c:v>42.455358</c:v>
                </c:pt>
                <c:pt idx="204">
                  <c:v>42.415172</c:v>
                </c:pt>
                <c:pt idx="205">
                  <c:v>42.376178</c:v>
                </c:pt>
                <c:pt idx="206">
                  <c:v>42.338341</c:v>
                </c:pt>
                <c:pt idx="207">
                  <c:v>42.30163</c:v>
                </c:pt>
                <c:pt idx="208">
                  <c:v>42.266015</c:v>
                </c:pt>
                <c:pt idx="209">
                  <c:v>42.231464</c:v>
                </c:pt>
                <c:pt idx="210">
                  <c:v>42.197949</c:v>
                </c:pt>
                <c:pt idx="211">
                  <c:v>42.165441</c:v>
                </c:pt>
                <c:pt idx="212">
                  <c:v>42.133914</c:v>
                </c:pt>
                <c:pt idx="213">
                  <c:v>42.10334</c:v>
                </c:pt>
                <c:pt idx="214">
                  <c:v>42.073694</c:v>
                </c:pt>
                <c:pt idx="215">
                  <c:v>42.044951</c:v>
                </c:pt>
                <c:pt idx="216">
                  <c:v>42.017086</c:v>
                </c:pt>
                <c:pt idx="217">
                  <c:v>42.246488</c:v>
                </c:pt>
                <c:pt idx="218">
                  <c:v>42.468835</c:v>
                </c:pt>
                <c:pt idx="219">
                  <c:v>42.684345</c:v>
                </c:pt>
                <c:pt idx="220">
                  <c:v>42.893235</c:v>
                </c:pt>
                <c:pt idx="221">
                  <c:v>43.09571</c:v>
                </c:pt>
                <c:pt idx="222">
                  <c:v>43.291972</c:v>
                </c:pt>
                <c:pt idx="223">
                  <c:v>43.482216</c:v>
                </c:pt>
                <c:pt idx="224">
                  <c:v>43.66663</c:v>
                </c:pt>
                <c:pt idx="225">
                  <c:v>43.845398</c:v>
                </c:pt>
                <c:pt idx="226">
                  <c:v>44.018697</c:v>
                </c:pt>
                <c:pt idx="227">
                  <c:v>44.186699</c:v>
                </c:pt>
                <c:pt idx="228">
                  <c:v>44.349569</c:v>
                </c:pt>
                <c:pt idx="229">
                  <c:v>44.507471</c:v>
                </c:pt>
                <c:pt idx="230">
                  <c:v>44.660559</c:v>
                </c:pt>
                <c:pt idx="231">
                  <c:v>44.808986</c:v>
                </c:pt>
                <c:pt idx="232">
                  <c:v>44.952899</c:v>
                </c:pt>
                <c:pt idx="233">
                  <c:v>45.09244</c:v>
                </c:pt>
                <c:pt idx="234">
                  <c:v>45.227746</c:v>
                </c:pt>
                <c:pt idx="235">
                  <c:v>45.358952</c:v>
                </c:pt>
                <c:pt idx="236">
                  <c:v>45.486187</c:v>
                </c:pt>
                <c:pt idx="237">
                  <c:v>45.609577</c:v>
                </c:pt>
                <c:pt idx="238">
                  <c:v>45.729243</c:v>
                </c:pt>
                <c:pt idx="239">
                  <c:v>45.845304</c:v>
                </c:pt>
                <c:pt idx="240">
                  <c:v>45.957872</c:v>
                </c:pt>
                <c:pt idx="241">
                  <c:v>46.06706</c:v>
                </c:pt>
                <c:pt idx="242">
                  <c:v>46.172973</c:v>
                </c:pt>
                <c:pt idx="243">
                  <c:v>46.275717</c:v>
                </c:pt>
                <c:pt idx="244">
                  <c:v>46.375391</c:v>
                </c:pt>
                <c:pt idx="245">
                  <c:v>46.472094</c:v>
                </c:pt>
                <c:pt idx="246">
                  <c:v>46.565918</c:v>
                </c:pt>
                <c:pt idx="247">
                  <c:v>46.656957</c:v>
                </c:pt>
                <c:pt idx="248">
                  <c:v>46.745299</c:v>
                </c:pt>
                <c:pt idx="249">
                  <c:v>46.831029</c:v>
                </c:pt>
                <c:pt idx="250">
                  <c:v>46.91423</c:v>
                </c:pt>
                <c:pt idx="251">
                  <c:v>46.994984</c:v>
                </c:pt>
                <c:pt idx="252">
                  <c:v>47.073368</c:v>
                </c:pt>
                <c:pt idx="253">
                  <c:v>47.149458</c:v>
                </c:pt>
                <c:pt idx="254">
                  <c:v>47.223326</c:v>
                </c:pt>
                <c:pt idx="255">
                  <c:v>47.295044</c:v>
                </c:pt>
                <c:pt idx="256">
                  <c:v>47.364681</c:v>
                </c:pt>
                <c:pt idx="257">
                  <c:v>47.432303</c:v>
                </c:pt>
                <c:pt idx="258">
                  <c:v>47.497974</c:v>
                </c:pt>
                <c:pt idx="259">
                  <c:v>47.561756</c:v>
                </c:pt>
                <c:pt idx="260">
                  <c:v>47.62371</c:v>
                </c:pt>
                <c:pt idx="261">
                  <c:v>47.683895</c:v>
                </c:pt>
                <c:pt idx="262">
                  <c:v>47.742366</c:v>
                </c:pt>
                <c:pt idx="263">
                  <c:v>47.799179</c:v>
                </c:pt>
                <c:pt idx="264">
                  <c:v>47.854386</c:v>
                </c:pt>
                <c:pt idx="265">
                  <c:v>47.908039</c:v>
                </c:pt>
                <c:pt idx="266">
                  <c:v>47.960188</c:v>
                </c:pt>
                <c:pt idx="267">
                  <c:v>48.01088</c:v>
                </c:pt>
                <c:pt idx="268">
                  <c:v>48.060163</c:v>
                </c:pt>
                <c:pt idx="269">
                  <c:v>48.10808</c:v>
                </c:pt>
                <c:pt idx="270">
                  <c:v>48.154676</c:v>
                </c:pt>
                <c:pt idx="271">
                  <c:v>48.199993</c:v>
                </c:pt>
                <c:pt idx="272">
                  <c:v>48.244071</c:v>
                </c:pt>
                <c:pt idx="273">
                  <c:v>48.28695</c:v>
                </c:pt>
                <c:pt idx="274">
                  <c:v>48.328668</c:v>
                </c:pt>
                <c:pt idx="275">
                  <c:v>48.369262</c:v>
                </c:pt>
                <c:pt idx="276">
                  <c:v>48.408768</c:v>
                </c:pt>
                <c:pt idx="277">
                  <c:v>48.44722</c:v>
                </c:pt>
                <c:pt idx="278">
                  <c:v>48.484651</c:v>
                </c:pt>
                <c:pt idx="279">
                  <c:v>48.521094</c:v>
                </c:pt>
                <c:pt idx="280">
                  <c:v>48.55658</c:v>
                </c:pt>
                <c:pt idx="281">
                  <c:v>48.591139</c:v>
                </c:pt>
                <c:pt idx="282">
                  <c:v>48.624801</c:v>
                </c:pt>
                <c:pt idx="283">
                  <c:v>48.657593</c:v>
                </c:pt>
                <c:pt idx="284">
                  <c:v>48.689542</c:v>
                </c:pt>
                <c:pt idx="285">
                  <c:v>48.720676</c:v>
                </c:pt>
                <c:pt idx="286">
                  <c:v>48.751019</c:v>
                </c:pt>
                <c:pt idx="287">
                  <c:v>48.780596</c:v>
                </c:pt>
              </c:numCache>
            </c:numRef>
          </c:yVal>
        </c:ser>
        <c:dLbls>
          <c:showLegendKey val="0"/>
          <c:showVal val="0"/>
          <c:showCatName val="0"/>
          <c:showSerName val="0"/>
          <c:showPercent val="0"/>
          <c:showBubbleSize val="0"/>
          <c:showLeaderLines val="0"/>
        </c:dLbls>
        <c:axId val="48650112"/>
        <c:axId val="48672768"/>
      </c:scatterChart>
      <c:valAx>
        <c:axId val="48672768"/>
        <c:scaling>
          <c:orientation val="minMax"/>
          <c:max val="65"/>
          <c:min val="40"/>
        </c:scaling>
        <c:delete val="0"/>
        <c:axPos val="l"/>
        <c:majorGridlines>
          <c:spPr>
            <a:ln xmlns:a="http://schemas.openxmlformats.org/drawingml/2006/main" w="5715">
              <a:solidFill>
                <a:srgbClr val="444444"/>
              </a:solidFill>
              <a:prstDash val="solid"/>
            </a:ln>
          </c:spPr>
        </c:majorGridlines>
        <c:title>
          <c:tx>
            <c:rich>
              <a:bodyPr xmlns:a="http://schemas.openxmlformats.org/drawingml/2006/main"/>
              <a:lstStyle xmlns:a="http://schemas.openxmlformats.org/drawingml/2006/main"/>
              <a:p xmlns:a="http://schemas.openxmlformats.org/drawingml/2006/main">
                <a:r>
                  <a:t>Top-oil (°C)</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DDDDDD"/>
                </a:solidFill>
              </a:defRPr>
            </a:pPr>
          </a:p>
        </c:txPr>
        <c:crossAx val="48650112"/>
        <c:majorUnit val="5"/>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t>Hour of day (IST)</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DDDDDD"/>
                </a:solidFill>
              </a:defRPr>
            </a:pPr>
          </a:p>
        </c:txPr>
        <c:crossAx val="48672768"/>
        <c:majorUnit val="6"/>
      </c:valAx>
      <c:spPr>
        <a:solidFill xmlns:a="http://schemas.openxmlformats.org/drawingml/2006/main">
          <a:srgbClr val="111111"/>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F4F1EC"/>
              </a:solidFill>
            </a:defRPr>
          </a:pPr>
        </a:p>
      </c:txPr>
    </c:legend>
    <c:plotVisOnly val="1"/>
  </c:chart>
  <c:spPr>
    <a:solidFill xmlns:a="http://schemas.openxmlformats.org/drawingml/2006/main">
      <a:srgbClr val="111111"/>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9C955DC1-1F19-4D50-B940-3E9B14ABB471}"/>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E765E783-D1E3-47F5-B4A5-96DE95D1CBDC}"/>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119DF2CF-8BA0-45A3-B9E2-B0077DBA8612}"/>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E80164D8-90ED-45D9-923E-EA8F54EC8FBD}"/>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33F52D53-7530-407F-AFA0-95C8B54708D2}"/>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5598A07E-CD9B-407A-ADF7-35CA8A9E3DB6}"/>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2C486AFD-D7E3-4E92-9338-3292A973096C}"/>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E2F98471-913A-4C90-9EE0-C5FE02530A69}"/>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83B02146-441D-421B-A336-510E3948E362}"/>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449E84D7-8D7D-4E83-AAE9-D1EBF470C96B}"/>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5624C59C-81E3-42B6-A483-C4D5D0152F9B}"/>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1303EEC8-D111-4A08-825A-F067A2D19E1D}"/>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3590F68D-FC0E-4CE3-91A6-31D97EE5EE19}"/>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D33A5F21-88CC-4E7B-99A6-CB255EF241FE}"/>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D63F3D30-CCB0-4AB0-858E-9C8EBBBB3CF7}"/>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6F1B1EBA-62D2-4430-9EFA-90036BB23AED}"/>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952B1DF9-CFDA-48E4-85F5-F0459D5F9794}"/>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1B7056DB-0E00-4E44-BA9D-C5338CD6F352}"/>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BDBC6E3C-3F15-43AE-8283-EE11EBA8A2B8}"/>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48BCA7F4-DF5A-4835-8BB3-F66FF57F6883}"/>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4E1DF320-1432-4FD5-9F83-417EBCC35705}"/>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C8D5C9DE-A000-49F3-9629-283017FCB09C}"/>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AADCA9F7-973E-499C-91D7-923FC4BEF398}"/>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95458156-5F88-46A0-8BB4-1D31789A2102}"/>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0F33DBB7-0FE9-4EC4-BC0E-CC103D764F36}"/>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13D1AFB0-C871-49EC-A962-F84B225CE13F}"/>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3B0C6560-FF8C-4C45-A2DE-38C4D5DB90C2}"/>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CD0F2A62-3B40-4C35-B455-98243CB87272}"/>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BE3DCE49-EFED-49C5-8DAB-7891CE94B5E6}"/>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05E26CC7-CC27-44A1-931B-4A215B13D55B}"/>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5001B984-F245-4ACE-9DE6-115F8C4C9829}"/>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5A45E1F9-6B63-43A7-BC3D-BEBA22EA83FE}"/>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2544EC06-CF55-40A8-AA8E-EF0159216482}"/>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CE9194AA-A49E-489C-8938-5E7B26EFBC29}"/>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8F0BD7EF-B0EC-4E26-BA5B-CDD7ACF28C5C}"/>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15412E7D-D0FB-4907-9A8B-526B08E28DBE}"/>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3FC2F1E0-05C6-47A6-A832-AE273FC159D0}"/>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1D4A7770-0EC2-4C69-9609-92A283C70F25}"/>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72816695-FAE0-4E84-8593-6933C2D90D9F}"/>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7CEAB53A-8ADF-4FAD-9632-91F6B1699162}"/>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5FEF800D-28E6-41D8-94D7-69D8653444B5}"/>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58FD14DB-31F9-4500-B2AC-DE1F045CD037}"/>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C62FF33A-2417-43DB-8B84-3085F55FBB91}"/>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75FD5E20-7245-42A0-88B9-F85126388721}"/>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43B9206B-27C1-4031-9DCF-BC8B0A96E7E0}"/>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D910F511-E93F-45C1-954B-8499A5DC060A}"/>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CED9EC5F-E0E4-4DFF-8689-AC4851D84BBA}"/>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702841E9-4271-4D02-BF77-ED69F26BA922}"/>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F7BD8433-1DBB-42E4-854A-446F6FB0BE22}"/>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8FC7718A-040A-4B4E-B8AC-C8FD97D0D1D1}"/>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B0E0AD5B-292A-4AB3-B3B0-25CBEE082960}"/>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1B7829BF-F5F2-43F1-9B8E-EC442555026D}"/>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766AD48E-F6A3-4284-BBB3-D56656102273}"/>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50F9C1BE-8419-40AD-859B-1D4D1B0CF138}"/>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7551B7AA-79AE-4F74-A37A-1564531B7882}"/>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ED561871-853A-407B-B6CA-B27728A2697D}"/>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3EBCEAC8-39C1-413A-BB2C-56A63EB72A37}"/>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F20DC1D6-FB11-4C07-8067-45F9E3911FD3}"/>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9D3A2E03-4D9F-4AB8-A9C6-D36CC7DE9F56}"/>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573EFA84-5086-4FEA-99A8-9FB21C2EF40C}"/>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52AB716C-6035-4CF8-943E-A15931BF6C25}"/>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405BD3F4-01E6-437C-8795-BB7A794AC3F2}"/>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5019D175-A981-4590-8CDC-034261688A32}"/>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E6B3A4B4-3749-4E59-BEF5-11D813C97CB9}"/>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2D3D8A9C-5E92-490D-B959-703F87C5E960}"/>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FF687438-6D6C-4AF6-9AB3-0C0931C65F7E}"/>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1F4AEF48-52F2-4A15-A0A2-60ABD6F9FDA1}"/>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100" name="Picture 99">
            <a:extLst xmlns:a="http://schemas.openxmlformats.org/drawingml/2006/main">
              <a:ext uri="{FF2B5EF4-FFF2-40B4-BE49-F238E27FC236}">
                <a16:creationId xmlns:a16="http://schemas.microsoft.com/office/drawing/2014/main" id="{08C26839-300E-4696-BD40-06D92D3CD6DE}"/>
              </a:ext>
            </a:extLst>
          </p:cNvPr>
          <p:cNvPicPr>
            <a:picLocks xmlns:a="http://schemas.openxmlformats.org/drawingml/2006/main" noChangeAspect="1"/>
          </p:cNvPicPr>
          <p:nvPr/>
        </p:nvPicPr>
        <p:blipFill>
          <a:blip xmlns:r="http://schemas.openxmlformats.org/officeDocument/2006/relationships" xmlns:a="http://schemas.openxmlformats.org/drawingml/2006/main" r:embed="Ra5d2c2adf09640ca"/>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101" name="Title">
            <a:extLst xmlns:a="http://schemas.openxmlformats.org/drawingml/2006/main">
              <a:ext uri="{FF2B5EF4-FFF2-40B4-BE49-F238E27FC236}">
                <a16:creationId xmlns:a16="http://schemas.microsoft.com/office/drawing/2014/main" id="{CFF41661-F5EA-4511-BBDB-279B79A7E0BC}"/>
              </a:ext>
            </a:extLst>
          </p:cNvPr>
          <p:cNvSpPr>
            <a:spLocks xmlns:a="http://schemas.openxmlformats.org/drawingml/2006/main" noGrp="1"/>
          </p:cNvSpPr>
          <p:nvPr/>
        </p:nvSpPr>
        <p:spPr>
          <a:xfrm xmlns:a="http://schemas.openxmlformats.org/drawingml/2006/main">
            <a:off x="548640" y="1005840"/>
            <a:ext cx="630936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4200" b="1">
                <a:solidFill>
                  <a:srgbClr val="1E1E1E"/>
                </a:solidFill>
                <a:latin typeface="Arial"/>
                <a:ea typeface="Arial"/>
                <a:cs typeface="Arial"/>
              </a:rPr>
              <a:t>VoltMind</a:t>
            </a:r>
          </a:p>
          <a:p xmlns:a="http://schemas.openxmlformats.org/drawingml/2006/main">
            <a:pPr algn="l">
              <a:buNone/>
            </a:pPr>
            <a:r>
              <a:rPr sz="4200" b="1">
                <a:solidFill>
                  <a:srgbClr val="1E1E1E"/>
                </a:solidFill>
                <a:latin typeface="Arial"/>
                <a:ea typeface="Arial"/>
                <a:cs typeface="Arial"/>
              </a:rPr>
              <a:t>Distribution</a:t>
            </a:r>
          </a:p>
          <a:p xmlns:a="http://schemas.openxmlformats.org/drawingml/2006/main">
            <a:pPr algn="l">
              <a:buNone/>
            </a:pPr>
            <a:r>
              <a:rPr sz="4200" b="1">
                <a:solidFill>
                  <a:srgbClr val="D46A12"/>
                </a:solidFill>
                <a:latin typeface="Arial"/>
                <a:ea typeface="Arial"/>
                <a:cs typeface="Arial"/>
              </a:rPr>
              <a:t>Transformer Twin</a:t>
            </a:r>
          </a:p>
        </p:txBody>
      </p:sp>
      <p:sp>
        <p:nvSpPr>
          <p:cNvPr id="102" name="TextBox 101">
            <a:extLst xmlns:a="http://schemas.openxmlformats.org/drawingml/2006/main">
              <a:ext uri="{FF2B5EF4-FFF2-40B4-BE49-F238E27FC236}">
                <a16:creationId xmlns:a16="http://schemas.microsoft.com/office/drawing/2014/main" id="{AD0B861A-2644-4A07-AFD2-20B3C0EE6A5D}"/>
              </a:ext>
            </a:extLst>
          </p:cNvPr>
          <p:cNvSpPr>
            <a:spLocks xmlns:a="http://schemas.openxmlformats.org/drawingml/2006/main" noGrp="1"/>
          </p:cNvSpPr>
          <p:nvPr/>
        </p:nvSpPr>
        <p:spPr>
          <a:xfrm xmlns:a="http://schemas.openxmlformats.org/drawingml/2006/main">
            <a:off x="548640" y="3017520"/>
            <a:ext cx="6035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500" b="0">
                <a:solidFill>
                  <a:srgbClr val="1E1E1E"/>
                </a:solidFill>
                <a:latin typeface="Arial"/>
                <a:ea typeface="Arial"/>
                <a:cs typeface="Arial"/>
              </a:rPr>
              <a:t>A software model that compares measured transformer temperature with expected behaviour under its electrical load and surrounding air.</a:t>
            </a:r>
          </a:p>
        </p:txBody>
      </p:sp>
      <p:sp>
        <p:nvSpPr>
          <p:cNvPr id="103" name="Rectangle 102">
            <a:extLst xmlns:a="http://schemas.openxmlformats.org/drawingml/2006/main">
              <a:ext uri="{FF2B5EF4-FFF2-40B4-BE49-F238E27FC236}">
                <a16:creationId xmlns:a16="http://schemas.microsoft.com/office/drawing/2014/main" id="{F1DF5676-71FB-4EE9-9A8E-8B56E17EE8B6}"/>
              </a:ext>
            </a:extLst>
          </p:cNvPr>
          <p:cNvSpPr>
            <a:spLocks xmlns:a="http://schemas.openxmlformats.org/drawingml/2006/main" noGrp="1"/>
          </p:cNvSpPr>
          <p:nvPr/>
        </p:nvSpPr>
        <p:spPr>
          <a:xfrm xmlns:a="http://schemas.openxmlformats.org/drawingml/2006/main">
            <a:off x="548640" y="3840480"/>
            <a:ext cx="1159459" cy="9601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TextBox 103">
            <a:extLst xmlns:a="http://schemas.openxmlformats.org/drawingml/2006/main">
              <a:ext uri="{FF2B5EF4-FFF2-40B4-BE49-F238E27FC236}">
                <a16:creationId xmlns:a16="http://schemas.microsoft.com/office/drawing/2014/main" id="{649B05EB-1894-40CB-987F-69BCC17785CE}"/>
              </a:ext>
            </a:extLst>
          </p:cNvPr>
          <p:cNvSpPr>
            <a:spLocks xmlns:a="http://schemas.openxmlformats.org/drawingml/2006/main" noGrp="1"/>
          </p:cNvSpPr>
          <p:nvPr/>
        </p:nvSpPr>
        <p:spPr>
          <a:xfrm xmlns:a="http://schemas.openxmlformats.org/drawingml/2006/main">
            <a:off x="612647" y="3931920"/>
            <a:ext cx="104973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1E1E1E"/>
                </a:solidFill>
                <a:latin typeface="Arial"/>
                <a:ea typeface="Arial"/>
                <a:cs typeface="Arial"/>
              </a:rPr>
              <a:t>Transformer</a:t>
            </a:r>
          </a:p>
          <a:p xmlns:a="http://schemas.openxmlformats.org/drawingml/2006/main">
            <a:pPr algn="l">
              <a:spcBef>
                <a:spcPts val="300"/>
              </a:spcBef>
              <a:buNone/>
            </a:pPr>
            <a:r>
              <a:rPr sz="1050" b="0">
                <a:solidFill>
                  <a:srgbClr val="555555"/>
                </a:solidFill>
                <a:latin typeface="Arial"/>
                <a:ea typeface="Arial"/>
                <a:cs typeface="Arial"/>
              </a:rPr>
              <a:t>The physical asset</a:t>
            </a:r>
          </a:p>
        </p:txBody>
      </p:sp>
      <p:sp>
        <p:nvSpPr>
          <p:cNvPr id="105" name="Connector 104">
            <a:extLst xmlns:a="http://schemas.openxmlformats.org/drawingml/2006/main">
              <a:ext uri="{FF2B5EF4-FFF2-40B4-BE49-F238E27FC236}">
                <a16:creationId xmlns:a16="http://schemas.microsoft.com/office/drawing/2014/main" id="{20BCCBD0-CA9E-4D02-B888-7C1142650564}"/>
              </a:ext>
            </a:extLst>
          </p:cNvPr>
          <p:cNvSpPr>
            <a:spLocks xmlns:a="http://schemas.openxmlformats.org/drawingml/2006/main" noGrp="1"/>
          </p:cNvSpPr>
          <p:nvPr/>
        </p:nvSpPr>
        <p:spPr>
          <a:xfrm xmlns:a="http://schemas.openxmlformats.org/drawingml/2006/main">
            <a:off x="1712671" y="4315968"/>
            <a:ext cx="118872" cy="0"/>
          </a:xfrm>
          <a:prstGeom xmlns:a="http://schemas.openxmlformats.org/drawingml/2006/main" prst="line">
            <a:avLst/>
          </a:prstGeom>
          <a:ln xmlns:a="http://schemas.openxmlformats.org/drawingml/2006/main" w="15875">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6" name="Rectangle 105">
            <a:extLst xmlns:a="http://schemas.openxmlformats.org/drawingml/2006/main">
              <a:ext uri="{FF2B5EF4-FFF2-40B4-BE49-F238E27FC236}">
                <a16:creationId xmlns:a16="http://schemas.microsoft.com/office/drawing/2014/main" id="{F87B12AE-4625-4219-84E8-A610752D55FD}"/>
              </a:ext>
            </a:extLst>
          </p:cNvPr>
          <p:cNvSpPr>
            <a:spLocks xmlns:a="http://schemas.openxmlformats.org/drawingml/2006/main" noGrp="1"/>
          </p:cNvSpPr>
          <p:nvPr/>
        </p:nvSpPr>
        <p:spPr>
          <a:xfrm xmlns:a="http://schemas.openxmlformats.org/drawingml/2006/main">
            <a:off x="1836115" y="3840480"/>
            <a:ext cx="1159459" cy="9601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TextBox 106">
            <a:extLst xmlns:a="http://schemas.openxmlformats.org/drawingml/2006/main">
              <a:ext uri="{FF2B5EF4-FFF2-40B4-BE49-F238E27FC236}">
                <a16:creationId xmlns:a16="http://schemas.microsoft.com/office/drawing/2014/main" id="{51E8FDF7-13DC-4AE7-8937-DA128B42B0A4}"/>
              </a:ext>
            </a:extLst>
          </p:cNvPr>
          <p:cNvSpPr>
            <a:spLocks xmlns:a="http://schemas.openxmlformats.org/drawingml/2006/main" noGrp="1"/>
          </p:cNvSpPr>
          <p:nvPr/>
        </p:nvSpPr>
        <p:spPr>
          <a:xfrm xmlns:a="http://schemas.openxmlformats.org/drawingml/2006/main">
            <a:off x="1900123" y="3931920"/>
            <a:ext cx="104973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1E1E1E"/>
                </a:solidFill>
                <a:latin typeface="Arial"/>
                <a:ea typeface="Arial"/>
                <a:cs typeface="Arial"/>
              </a:rPr>
              <a:t>SCADA</a:t>
            </a:r>
          </a:p>
          <a:p xmlns:a="http://schemas.openxmlformats.org/drawingml/2006/main">
            <a:pPr algn="l">
              <a:spcBef>
                <a:spcPts val="300"/>
              </a:spcBef>
              <a:buNone/>
            </a:pPr>
            <a:r>
              <a:rPr sz="1050" b="0">
                <a:solidFill>
                  <a:srgbClr val="555555"/>
                </a:solidFill>
                <a:latin typeface="Arial"/>
                <a:ea typeface="Arial"/>
                <a:cs typeface="Arial"/>
              </a:rPr>
              <a:t>Time-stamped sensor data</a:t>
            </a:r>
          </a:p>
        </p:txBody>
      </p:sp>
      <p:sp>
        <p:nvSpPr>
          <p:cNvPr id="108" name="Connector 107">
            <a:extLst xmlns:a="http://schemas.openxmlformats.org/drawingml/2006/main">
              <a:ext uri="{FF2B5EF4-FFF2-40B4-BE49-F238E27FC236}">
                <a16:creationId xmlns:a16="http://schemas.microsoft.com/office/drawing/2014/main" id="{E9026833-1CA8-4E35-8E4F-ED440DDB66DB}"/>
              </a:ext>
            </a:extLst>
          </p:cNvPr>
          <p:cNvSpPr>
            <a:spLocks xmlns:a="http://schemas.openxmlformats.org/drawingml/2006/main" noGrp="1"/>
          </p:cNvSpPr>
          <p:nvPr/>
        </p:nvSpPr>
        <p:spPr>
          <a:xfrm xmlns:a="http://schemas.openxmlformats.org/drawingml/2006/main">
            <a:off x="3000146" y="4315968"/>
            <a:ext cx="118872" cy="0"/>
          </a:xfrm>
          <a:prstGeom xmlns:a="http://schemas.openxmlformats.org/drawingml/2006/main" prst="line">
            <a:avLst/>
          </a:prstGeom>
          <a:ln xmlns:a="http://schemas.openxmlformats.org/drawingml/2006/main" w="15875">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9" name="Rectangle 108">
            <a:extLst xmlns:a="http://schemas.openxmlformats.org/drawingml/2006/main">
              <a:ext uri="{FF2B5EF4-FFF2-40B4-BE49-F238E27FC236}">
                <a16:creationId xmlns:a16="http://schemas.microsoft.com/office/drawing/2014/main" id="{7D7C60EA-C934-4342-B5AB-3305D0E7FD41}"/>
              </a:ext>
            </a:extLst>
          </p:cNvPr>
          <p:cNvSpPr>
            <a:spLocks xmlns:a="http://schemas.openxmlformats.org/drawingml/2006/main" noGrp="1"/>
          </p:cNvSpPr>
          <p:nvPr/>
        </p:nvSpPr>
        <p:spPr>
          <a:xfrm xmlns:a="http://schemas.openxmlformats.org/drawingml/2006/main">
            <a:off x="3123590" y="3840480"/>
            <a:ext cx="1159459" cy="96012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TextBox 109">
            <a:extLst xmlns:a="http://schemas.openxmlformats.org/drawingml/2006/main">
              <a:ext uri="{FF2B5EF4-FFF2-40B4-BE49-F238E27FC236}">
                <a16:creationId xmlns:a16="http://schemas.microsoft.com/office/drawing/2014/main" id="{18F4B8F2-BB0B-43D1-833D-28F26CD43D80}"/>
              </a:ext>
            </a:extLst>
          </p:cNvPr>
          <p:cNvSpPr>
            <a:spLocks xmlns:a="http://schemas.openxmlformats.org/drawingml/2006/main" noGrp="1"/>
          </p:cNvSpPr>
          <p:nvPr/>
        </p:nvSpPr>
        <p:spPr>
          <a:xfrm xmlns:a="http://schemas.openxmlformats.org/drawingml/2006/main">
            <a:off x="3187598" y="3931920"/>
            <a:ext cx="104973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1E1E1E"/>
                </a:solidFill>
                <a:latin typeface="Arial"/>
                <a:ea typeface="Arial"/>
                <a:cs typeface="Arial"/>
              </a:rPr>
              <a:t>Virtual model</a:t>
            </a:r>
          </a:p>
          <a:p xmlns:a="http://schemas.openxmlformats.org/drawingml/2006/main">
            <a:pPr algn="l">
              <a:spcBef>
                <a:spcPts val="300"/>
              </a:spcBef>
              <a:buNone/>
            </a:pPr>
            <a:r>
              <a:rPr sz="1050" b="0">
                <a:solidFill>
                  <a:srgbClr val="555555"/>
                </a:solidFill>
                <a:latin typeface="Arial"/>
                <a:ea typeface="Arial"/>
                <a:cs typeface="Arial"/>
              </a:rPr>
              <a:t>Expected thermal behaviour</a:t>
            </a:r>
          </a:p>
        </p:txBody>
      </p:sp>
      <p:sp>
        <p:nvSpPr>
          <p:cNvPr id="111" name="Connector 110">
            <a:extLst xmlns:a="http://schemas.openxmlformats.org/drawingml/2006/main">
              <a:ext uri="{FF2B5EF4-FFF2-40B4-BE49-F238E27FC236}">
                <a16:creationId xmlns:a16="http://schemas.microsoft.com/office/drawing/2014/main" id="{45AA5A2F-F5DD-4851-B0C9-052F5CA2F63C}"/>
              </a:ext>
            </a:extLst>
          </p:cNvPr>
          <p:cNvSpPr>
            <a:spLocks xmlns:a="http://schemas.openxmlformats.org/drawingml/2006/main" noGrp="1"/>
          </p:cNvSpPr>
          <p:nvPr/>
        </p:nvSpPr>
        <p:spPr>
          <a:xfrm xmlns:a="http://schemas.openxmlformats.org/drawingml/2006/main">
            <a:off x="4287621" y="4315968"/>
            <a:ext cx="118872" cy="0"/>
          </a:xfrm>
          <a:prstGeom xmlns:a="http://schemas.openxmlformats.org/drawingml/2006/main" prst="line">
            <a:avLst/>
          </a:prstGeom>
          <a:ln xmlns:a="http://schemas.openxmlformats.org/drawingml/2006/main" w="15875">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2" name="Rectangle 111">
            <a:extLst xmlns:a="http://schemas.openxmlformats.org/drawingml/2006/main">
              <a:ext uri="{FF2B5EF4-FFF2-40B4-BE49-F238E27FC236}">
                <a16:creationId xmlns:a16="http://schemas.microsoft.com/office/drawing/2014/main" id="{E4A2F67C-28FC-4939-93C6-988CE59765F5}"/>
              </a:ext>
            </a:extLst>
          </p:cNvPr>
          <p:cNvSpPr>
            <a:spLocks xmlns:a="http://schemas.openxmlformats.org/drawingml/2006/main" noGrp="1"/>
          </p:cNvSpPr>
          <p:nvPr/>
        </p:nvSpPr>
        <p:spPr>
          <a:xfrm xmlns:a="http://schemas.openxmlformats.org/drawingml/2006/main">
            <a:off x="4411065" y="3840480"/>
            <a:ext cx="1159459" cy="9601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TextBox 112">
            <a:extLst xmlns:a="http://schemas.openxmlformats.org/drawingml/2006/main">
              <a:ext uri="{FF2B5EF4-FFF2-40B4-BE49-F238E27FC236}">
                <a16:creationId xmlns:a16="http://schemas.microsoft.com/office/drawing/2014/main" id="{AB52ED27-5DC5-42C9-8C67-0EFA93A07C6E}"/>
              </a:ext>
            </a:extLst>
          </p:cNvPr>
          <p:cNvSpPr>
            <a:spLocks xmlns:a="http://schemas.openxmlformats.org/drawingml/2006/main" noGrp="1"/>
          </p:cNvSpPr>
          <p:nvPr/>
        </p:nvSpPr>
        <p:spPr>
          <a:xfrm xmlns:a="http://schemas.openxmlformats.org/drawingml/2006/main">
            <a:off x="4475073" y="3931920"/>
            <a:ext cx="104973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1E1E1E"/>
                </a:solidFill>
                <a:latin typeface="Arial"/>
                <a:ea typeface="Arial"/>
                <a:cs typeface="Arial"/>
              </a:rPr>
              <a:t>Assessment</a:t>
            </a:r>
          </a:p>
          <a:p xmlns:a="http://schemas.openxmlformats.org/drawingml/2006/main">
            <a:pPr algn="l">
              <a:spcBef>
                <a:spcPts val="300"/>
              </a:spcBef>
              <a:buNone/>
            </a:pPr>
            <a:r>
              <a:rPr sz="1050" b="0">
                <a:solidFill>
                  <a:srgbClr val="555555"/>
                </a:solidFill>
                <a:latin typeface="Arial"/>
                <a:ea typeface="Arial"/>
                <a:cs typeface="Arial"/>
              </a:rPr>
              <a:t>Evidence and uncertainty</a:t>
            </a:r>
          </a:p>
        </p:txBody>
      </p:sp>
      <p:sp>
        <p:nvSpPr>
          <p:cNvPr id="114" name="Connector 113">
            <a:extLst xmlns:a="http://schemas.openxmlformats.org/drawingml/2006/main">
              <a:ext uri="{FF2B5EF4-FFF2-40B4-BE49-F238E27FC236}">
                <a16:creationId xmlns:a16="http://schemas.microsoft.com/office/drawing/2014/main" id="{241FB369-0802-45B7-940B-0DEF1CF13C2C}"/>
              </a:ext>
            </a:extLst>
          </p:cNvPr>
          <p:cNvSpPr>
            <a:spLocks xmlns:a="http://schemas.openxmlformats.org/drawingml/2006/main" noGrp="1"/>
          </p:cNvSpPr>
          <p:nvPr/>
        </p:nvSpPr>
        <p:spPr>
          <a:xfrm xmlns:a="http://schemas.openxmlformats.org/drawingml/2006/main">
            <a:off x="5575096" y="4315968"/>
            <a:ext cx="118872" cy="0"/>
          </a:xfrm>
          <a:prstGeom xmlns:a="http://schemas.openxmlformats.org/drawingml/2006/main" prst="line">
            <a:avLst/>
          </a:prstGeom>
          <a:ln xmlns:a="http://schemas.openxmlformats.org/drawingml/2006/main" w="15875">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5" name="Rectangle 114">
            <a:extLst xmlns:a="http://schemas.openxmlformats.org/drawingml/2006/main">
              <a:ext uri="{FF2B5EF4-FFF2-40B4-BE49-F238E27FC236}">
                <a16:creationId xmlns:a16="http://schemas.microsoft.com/office/drawing/2014/main" id="{6031A71A-BA51-49D2-8508-1A78BBD26D6D}"/>
              </a:ext>
            </a:extLst>
          </p:cNvPr>
          <p:cNvSpPr>
            <a:spLocks xmlns:a="http://schemas.openxmlformats.org/drawingml/2006/main" noGrp="1"/>
          </p:cNvSpPr>
          <p:nvPr/>
        </p:nvSpPr>
        <p:spPr>
          <a:xfrm xmlns:a="http://schemas.openxmlformats.org/drawingml/2006/main">
            <a:off x="5698540" y="3840480"/>
            <a:ext cx="1159459" cy="9601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58BDDD74-6CD0-4394-8F91-578F1765D917}"/>
              </a:ext>
            </a:extLst>
          </p:cNvPr>
          <p:cNvSpPr>
            <a:spLocks xmlns:a="http://schemas.openxmlformats.org/drawingml/2006/main" noGrp="1"/>
          </p:cNvSpPr>
          <p:nvPr/>
        </p:nvSpPr>
        <p:spPr>
          <a:xfrm xmlns:a="http://schemas.openxmlformats.org/drawingml/2006/main">
            <a:off x="5762548" y="3931920"/>
            <a:ext cx="104973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1E1E1E"/>
                </a:solidFill>
                <a:latin typeface="Arial"/>
                <a:ea typeface="Arial"/>
                <a:cs typeface="Arial"/>
              </a:rPr>
              <a:t>Maintenance</a:t>
            </a:r>
          </a:p>
          <a:p xmlns:a="http://schemas.openxmlformats.org/drawingml/2006/main">
            <a:pPr algn="l">
              <a:spcBef>
                <a:spcPts val="300"/>
              </a:spcBef>
              <a:buNone/>
            </a:pPr>
            <a:r>
              <a:rPr sz="1050" b="0">
                <a:solidFill>
                  <a:srgbClr val="555555"/>
                </a:solidFill>
                <a:latin typeface="Arial"/>
                <a:ea typeface="Arial"/>
                <a:cs typeface="Arial"/>
              </a:rPr>
              <a:t>Engineer makes the call</a:t>
            </a:r>
          </a:p>
        </p:txBody>
      </p:sp>
      <p:sp>
        <p:nvSpPr>
          <p:cNvPr id="117" name="TextBox 116">
            <a:extLst xmlns:a="http://schemas.openxmlformats.org/drawingml/2006/main">
              <a:ext uri="{FF2B5EF4-FFF2-40B4-BE49-F238E27FC236}">
                <a16:creationId xmlns:a16="http://schemas.microsoft.com/office/drawing/2014/main" id="{BC3B2776-1F9C-4C8F-8E36-5A3EA304AC73}"/>
              </a:ext>
            </a:extLst>
          </p:cNvPr>
          <p:cNvSpPr>
            <a:spLocks xmlns:a="http://schemas.openxmlformats.org/drawingml/2006/main" noGrp="1"/>
          </p:cNvSpPr>
          <p:nvPr/>
        </p:nvSpPr>
        <p:spPr>
          <a:xfrm xmlns:a="http://schemas.openxmlformats.org/drawingml/2006/main">
            <a:off x="548640" y="4983480"/>
            <a:ext cx="6126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200" b="1">
                <a:solidFill>
                  <a:srgbClr val="D46A12"/>
                </a:solidFill>
                <a:latin typeface="Arial"/>
                <a:ea typeface="Arial"/>
                <a:cs typeface="Arial"/>
              </a:rPr>
              <a:t>The thermal twin adds operating context to measurements and supports an engineer’s investigation.</a:t>
            </a:r>
          </a:p>
        </p:txBody>
      </p:sp>
      <p:sp>
        <p:nvSpPr>
          <p:cNvPr id="118" name="TextBox 117">
            <a:extLst xmlns:a="http://schemas.openxmlformats.org/drawingml/2006/main">
              <a:ext uri="{FF2B5EF4-FFF2-40B4-BE49-F238E27FC236}">
                <a16:creationId xmlns:a16="http://schemas.microsoft.com/office/drawing/2014/main" id="{FB1C4737-6BBA-488F-AF7E-CCFE05C202AB}"/>
              </a:ext>
            </a:extLst>
          </p:cNvPr>
          <p:cNvSpPr>
            <a:spLocks xmlns:a="http://schemas.openxmlformats.org/drawingml/2006/main" noGrp="1"/>
          </p:cNvSpPr>
          <p:nvPr/>
        </p:nvSpPr>
        <p:spPr>
          <a:xfrm xmlns:a="http://schemas.openxmlformats.org/drawingml/2006/main">
            <a:off x="548640" y="5486400"/>
            <a:ext cx="6126480" cy="1600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50" b="0">
                <a:solidFill>
                  <a:srgbClr val="555555"/>
                </a:solidFill>
                <a:latin typeface="Arial"/>
                <a:ea typeface="Arial"/>
                <a:cs typeface="Arial"/>
              </a:rPr>
              <a:t>Local synthetic replay and upload today. Live sensors are future work.</a:t>
            </a:r>
          </a:p>
        </p:txBody>
      </p:sp>
      <p:sp>
        <p:nvSpPr>
          <p:cNvPr id="119" name="Team details">
            <a:extLst xmlns:a="http://schemas.openxmlformats.org/drawingml/2006/main">
              <a:ext uri="{FF2B5EF4-FFF2-40B4-BE49-F238E27FC236}">
                <a16:creationId xmlns:a16="http://schemas.microsoft.com/office/drawing/2014/main" id="{46115B70-CC8A-4E50-92EB-8D03FFD81D5E}"/>
              </a:ext>
            </a:extLst>
          </p:cNvPr>
          <p:cNvSpPr>
            <a:spLocks xmlns:a="http://schemas.openxmlformats.org/drawingml/2006/main" noGrp="1"/>
          </p:cNvSpPr>
          <p:nvPr/>
        </p:nvSpPr>
        <p:spPr>
          <a:xfrm xmlns:a="http://schemas.openxmlformats.org/drawingml/2006/main">
            <a:off x="548640" y="5779008"/>
            <a:ext cx="6309360" cy="1600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50" b="0">
                <a:solidFill>
                  <a:srgbClr val="555555"/>
                </a:solidFill>
                <a:latin typeface="Arial"/>
                <a:ea typeface="Arial"/>
                <a:cs typeface="Arial"/>
              </a:rPr>
              <a:t>100 kVA flagship with independent 250 and 630 kVA monitoring</a:t>
            </a:r>
          </a:p>
        </p:txBody>
      </p:sp>
    </p:spTree>
    <p:extLst>
      <p:ext uri="{BB962C8B-B14F-4D97-AF65-F5344CB8AC3E}">
        <p14:creationId xmlns:p14="http://schemas.microsoft.com/office/powerpoint/2010/main" val="17526163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F3BF9F08-EBC5-537D-351B-661BB46A314A}"/>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49EBC920-C7B8-A546-DEAC-C18E0059556F}"/>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1169425A-2098-E453-FC00-F30AD6129FB0}"/>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8A774DBC-B331-92F4-3BEF-3CFE1858AAE3}"/>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A986F21E-7BE3-A303-8748-C9F2249E6903}"/>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DC4EF9E3-B916-A1DC-B870-F5E58221066F}"/>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6A85B608-8D75-909E-2FD0-08739F18493E}"/>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72435145-4FBA-E89E-F8D1-86093B85018A}"/>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55FFFC2F-321E-B625-BF28-655912CF5E9C}"/>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4BECCE78-83B2-B3F8-0D2D-6258AAE862DE}"/>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2B0D3DA1-2385-EDAB-EDD1-DA0EA8F7D511}"/>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B28EA596-FEFB-CA38-E9F2-00FDC588B09A}"/>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EA05B98A-E304-C31E-E587-34500310F94C}"/>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425C6162-162D-4979-3B75-750F070230F2}"/>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F69F3C26-CCBE-1DCB-1A0B-818A28172110}"/>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16E87772-660A-CB7E-FAC5-CA859C0E3E77}"/>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1D90026D-77DB-65DF-5E33-422E073E4962}"/>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4D1C4CCA-DAE8-D3C7-6455-92E8AE950723}"/>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F96896E3-E3E0-48CC-81BD-0161ED04791B}"/>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81DD20CF-6DA3-F719-603B-9718581A6708}"/>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64045019-AA37-AF80-73DF-F23F1B9540F1}"/>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928B3594-FBBD-E56D-F962-946AD719E69B}"/>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6149986F-9451-2CAB-F6E9-02C313F25EF0}"/>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50AC964C-1472-E382-21FA-DF932D7340DB}"/>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4B42794F-3F31-B799-F112-72E9E9B85445}"/>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039F673D-9D6F-144C-3DC0-9E6BE0D63794}"/>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E27CD7DB-BE77-6342-FE59-E90B815C50F5}"/>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C71BB6CD-A386-4836-B8CD-D248385064E6}"/>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95732158-E270-6664-ECA8-F22534FAE212}"/>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A3F959A0-770F-2303-3D18-2E0B3C454CF3}"/>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D11A1292-1E92-B3AD-1602-CA86B729B992}"/>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98AD0D97-794D-58D4-BDAF-0619F771FF02}"/>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995F977D-C5A3-8C32-8CB7-A6A3BF056E97}"/>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3DA18957-D666-D363-11FE-378E9D2F0C5F}"/>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E2E879E7-A79D-0B0F-2DC5-809B07AB0914}"/>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DB43EA1B-FB9A-3699-4C07-3BB6347FEBC1}"/>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A8CFCF3A-DB4B-A91E-C6C1-573301AD7355}"/>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6CB20C08-1F9B-A835-1907-BC77C2C4AC8A}"/>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C2276E48-C74D-5793-E47B-C01E050AC61D}"/>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86DA9E4D-C2F9-7759-34AA-CF08B2595E78}"/>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E0EE8783-1BC3-C4E8-5937-4536DA017F59}"/>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E5F3706A-9A83-795D-E163-559C373A75A8}"/>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8AFCA025-86A8-3FC8-0E65-3A98EFF7D9DC}"/>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6CF333E7-864A-6033-2ABA-06DE38619097}"/>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CE545DB7-4BDD-A7C7-1639-3E31DD9AF278}"/>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300560DC-5CE0-D51C-D6E4-CFE1867CE01B}"/>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189C6535-B0B6-76B1-8453-9E3A641EF571}"/>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D39EB780-2379-21D4-F548-C995B2DD0C14}"/>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129C1CAC-ECFB-056B-F30D-57582D77262F}"/>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BAD806EF-038C-27FF-0216-3DDF20BB9955}"/>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1FC2FA68-F0E7-BCA4-5208-8F0722ABEB01}"/>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422F99DC-8BFD-CBCC-43E5-82969D83520E}"/>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7D0C0170-43D5-724C-4582-2915520571E9}"/>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5EF36F2A-6DB1-1FEC-8071-94B3ED986E95}"/>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DE7A7574-5A54-B604-E0D1-C85A1B884787}"/>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AE88EB34-F87F-6A3B-2DE9-735FEEAB47A8}"/>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E285FD2C-645F-B8F3-E4E5-BCB91A3BAECD}"/>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5BC309B2-0E3D-3E27-8DFA-DDDA2026AE72}"/>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31D53D0F-AA2B-2D4D-CF0D-25C84ABA8B42}"/>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39FEF447-F49A-A812-3210-2276D572102F}"/>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0D072669-BFA1-3E4C-FFCE-06F12E6F276E}"/>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740511B2-B9CD-6848-2094-BC7A5626B40C}"/>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DAF1FFB9-174B-4829-BE77-6B71CF873222}"/>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76AE9240-E67B-3B35-9450-CF0A6F299C4B}"/>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9335DED1-5B79-0EBD-59F6-41FF7F30BDDA}"/>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0408BBDF-43C4-C2CD-2627-2950E807594B}"/>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00A5F04A-7D24-4021-AC6E-7796788B8B9F}"/>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3" name="Picture 2">
            <a:extLst xmlns:a="http://schemas.openxmlformats.org/drawingml/2006/main">
              <a:ext uri="{FF2B5EF4-FFF2-40B4-BE49-F238E27FC236}">
                <a16:creationId xmlns:a16="http://schemas.microsoft.com/office/drawing/2014/main" id="{23104903-4D9E-4163-8842-15CF0E88F44E}"/>
              </a:ext>
            </a:extLst>
          </p:cNvPr>
          <p:cNvPicPr>
            <a:picLocks xmlns:a="http://schemas.openxmlformats.org/drawingml/2006/main" noChangeAspect="1"/>
          </p:cNvPicPr>
          <p:nvPr/>
        </p:nvPicPr>
        <p:blipFill>
          <a:blip xmlns:r="http://schemas.openxmlformats.org/officeDocument/2006/relationships" xmlns:a="http://schemas.openxmlformats.org/drawingml/2006/main" r:embed="R9cd82c3c3c0749be"/>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CE116F5F-62EC-4803-AD3E-430D433A4788}"/>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Why temperature needs operating context</a:t>
            </a:r>
          </a:p>
        </p:txBody>
      </p:sp>
      <p:sp>
        <p:nvSpPr>
          <p:cNvPr id="91" name="Subtitle">
            <a:extLst xmlns:a="http://schemas.openxmlformats.org/drawingml/2006/main">
              <a:ext uri="{FF2B5EF4-FFF2-40B4-BE49-F238E27FC236}">
                <a16:creationId xmlns:a16="http://schemas.microsoft.com/office/drawing/2014/main" id="{419CC7BB-A66F-48D3-A429-37ED76199B6E}"/>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The same oil temperature can have different meanings at different loads and ambient conditions.</a:t>
            </a:r>
          </a:p>
        </p:txBody>
      </p:sp>
      <p:sp>
        <p:nvSpPr>
          <p:cNvPr id="92" name="Connector 91">
            <a:extLst xmlns:a="http://schemas.openxmlformats.org/drawingml/2006/main">
              <a:ext uri="{FF2B5EF4-FFF2-40B4-BE49-F238E27FC236}">
                <a16:creationId xmlns:a16="http://schemas.microsoft.com/office/drawing/2014/main" id="{2915E5DC-09EB-4477-89F6-1F1F672FA5E9}"/>
              </a:ext>
            </a:extLst>
          </p:cNvPr>
          <p:cNvSpPr>
            <a:spLocks xmlns:a="http://schemas.openxmlformats.org/drawingml/2006/main" noGrp="1"/>
          </p:cNvSpPr>
          <p:nvPr/>
        </p:nvSpPr>
        <p:spPr>
          <a:xfrm xmlns:a="http://schemas.openxmlformats.org/drawingml/2006/main">
            <a:off x="548640" y="6117336"/>
            <a:ext cx="11155680" cy="0"/>
          </a:xfrm>
          <a:prstGeom xmlns:a="http://schemas.openxmlformats.org/drawingml/2006/main" prst="line">
            <a:avLst/>
          </a:prstGeom>
          <a:ln xmlns:a="http://schemas.openxmlformats.org/drawingml/2006/main" w="9525">
            <a:solidFill>
              <a:srgbClr val="BDBD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3" name="Footer">
            <a:extLst xmlns:a="http://schemas.openxmlformats.org/drawingml/2006/main">
              <a:ext uri="{FF2B5EF4-FFF2-40B4-BE49-F238E27FC236}">
                <a16:creationId xmlns:a16="http://schemas.microsoft.com/office/drawing/2014/main" id="{E03224FD-E1B2-4E08-B430-0E569CE03AFD}"/>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D4801406-CC39-496E-9742-30D8A8807AC7}"/>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02 / 10</a:t>
            </a:r>
          </a:p>
        </p:txBody>
      </p:sp>
      <p:sp>
        <p:nvSpPr>
          <p:cNvPr id="95" name="TextBox 94">
            <a:extLst xmlns:a="http://schemas.openxmlformats.org/drawingml/2006/main">
              <a:ext uri="{FF2B5EF4-FFF2-40B4-BE49-F238E27FC236}">
                <a16:creationId xmlns:a16="http://schemas.microsoft.com/office/drawing/2014/main" id="{3633B948-ADC8-4FDD-912B-A4431BD83423}"/>
              </a:ext>
            </a:extLst>
          </p:cNvPr>
          <p:cNvSpPr>
            <a:spLocks xmlns:a="http://schemas.openxmlformats.org/drawingml/2006/main" noGrp="1"/>
          </p:cNvSpPr>
          <p:nvPr/>
        </p:nvSpPr>
        <p:spPr>
          <a:xfrm xmlns:a="http://schemas.openxmlformats.org/drawingml/2006/main">
            <a:off x="548640" y="1508760"/>
            <a:ext cx="2926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6000" b="1">
                <a:solidFill>
                  <a:srgbClr val="D46A12"/>
                </a:solidFill>
                <a:latin typeface="Arial"/>
                <a:ea typeface="Arial"/>
                <a:cs typeface="Arial"/>
              </a:rPr>
              <a:t>75 °C</a:t>
            </a:r>
          </a:p>
        </p:txBody>
      </p:sp>
      <p:sp>
        <p:nvSpPr>
          <p:cNvPr id="96" name="TextBox 95">
            <a:extLst xmlns:a="http://schemas.openxmlformats.org/drawingml/2006/main">
              <a:ext uri="{FF2B5EF4-FFF2-40B4-BE49-F238E27FC236}">
                <a16:creationId xmlns:a16="http://schemas.microsoft.com/office/drawing/2014/main" id="{5F739A82-FFCC-4157-A35E-4BFF45B3416C}"/>
              </a:ext>
            </a:extLst>
          </p:cNvPr>
          <p:cNvSpPr>
            <a:spLocks xmlns:a="http://schemas.openxmlformats.org/drawingml/2006/main" noGrp="1"/>
          </p:cNvSpPr>
          <p:nvPr/>
        </p:nvSpPr>
        <p:spPr>
          <a:xfrm xmlns:a="http://schemas.openxmlformats.org/drawingml/2006/main">
            <a:off x="3520440" y="1600200"/>
            <a:ext cx="2926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600" b="1">
                <a:solidFill>
                  <a:srgbClr val="1E1E1E"/>
                </a:solidFill>
                <a:latin typeface="Arial"/>
                <a:ea typeface="Arial"/>
                <a:cs typeface="Arial"/>
              </a:rPr>
              <a:t>Normal under heavy load? Worrying at light load? Or just a bad sensor?</a:t>
            </a:r>
          </a:p>
        </p:txBody>
      </p:sp>
      <p:sp>
        <p:nvSpPr>
          <p:cNvPr id="97" name="Rectangle 96">
            <a:extLst xmlns:a="http://schemas.openxmlformats.org/drawingml/2006/main">
              <a:ext uri="{FF2B5EF4-FFF2-40B4-BE49-F238E27FC236}">
                <a16:creationId xmlns:a16="http://schemas.microsoft.com/office/drawing/2014/main" id="{13634BBD-0A6E-4001-A444-984F9091A31C}"/>
              </a:ext>
            </a:extLst>
          </p:cNvPr>
          <p:cNvSpPr>
            <a:spLocks xmlns:a="http://schemas.openxmlformats.org/drawingml/2006/main" noGrp="1"/>
          </p:cNvSpPr>
          <p:nvPr/>
        </p:nvSpPr>
        <p:spPr>
          <a:xfrm xmlns:a="http://schemas.openxmlformats.org/drawingml/2006/main">
            <a:off x="548640" y="2788920"/>
            <a:ext cx="2834640" cy="7772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TextBox 97">
            <a:extLst xmlns:a="http://schemas.openxmlformats.org/drawingml/2006/main">
              <a:ext uri="{FF2B5EF4-FFF2-40B4-BE49-F238E27FC236}">
                <a16:creationId xmlns:a16="http://schemas.microsoft.com/office/drawing/2014/main" id="{F67E73C8-27C5-4A87-AB4F-7C89F4ED39C0}"/>
              </a:ext>
            </a:extLst>
          </p:cNvPr>
          <p:cNvSpPr>
            <a:spLocks xmlns:a="http://schemas.openxmlformats.org/drawingml/2006/main" noGrp="1"/>
          </p:cNvSpPr>
          <p:nvPr/>
        </p:nvSpPr>
        <p:spPr>
          <a:xfrm xmlns:a="http://schemas.openxmlformats.org/drawingml/2006/main">
            <a:off x="685800" y="2898648"/>
            <a:ext cx="256032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LOAD</a:t>
            </a:r>
          </a:p>
          <a:p xmlns:a="http://schemas.openxmlformats.org/drawingml/2006/main">
            <a:pPr algn="l">
              <a:spcBef>
                <a:spcPts val="400"/>
              </a:spcBef>
              <a:buNone/>
            </a:pPr>
            <a:r>
              <a:rPr sz="1200" b="0">
                <a:solidFill>
                  <a:srgbClr val="1E1E1E"/>
                </a:solidFill>
                <a:latin typeface="Arial"/>
                <a:ea typeface="Arial"/>
                <a:cs typeface="Arial"/>
              </a:rPr>
              <a:t>How much current is the transformer carrying?</a:t>
            </a:r>
          </a:p>
        </p:txBody>
      </p:sp>
      <p:sp>
        <p:nvSpPr>
          <p:cNvPr id="99" name="Rectangle 98">
            <a:extLst xmlns:a="http://schemas.openxmlformats.org/drawingml/2006/main">
              <a:ext uri="{FF2B5EF4-FFF2-40B4-BE49-F238E27FC236}">
                <a16:creationId xmlns:a16="http://schemas.microsoft.com/office/drawing/2014/main" id="{EAD93FC8-23FE-4191-90E6-75F17B9652BF}"/>
              </a:ext>
            </a:extLst>
          </p:cNvPr>
          <p:cNvSpPr>
            <a:spLocks xmlns:a="http://schemas.openxmlformats.org/drawingml/2006/main" noGrp="1"/>
          </p:cNvSpPr>
          <p:nvPr/>
        </p:nvSpPr>
        <p:spPr>
          <a:xfrm xmlns:a="http://schemas.openxmlformats.org/drawingml/2006/main">
            <a:off x="3566160" y="2788920"/>
            <a:ext cx="2834640" cy="7772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TextBox 99">
            <a:extLst xmlns:a="http://schemas.openxmlformats.org/drawingml/2006/main">
              <a:ext uri="{FF2B5EF4-FFF2-40B4-BE49-F238E27FC236}">
                <a16:creationId xmlns:a16="http://schemas.microsoft.com/office/drawing/2014/main" id="{9FA299B8-FD59-4CA1-8C83-5754CF90BEB9}"/>
              </a:ext>
            </a:extLst>
          </p:cNvPr>
          <p:cNvSpPr>
            <a:spLocks xmlns:a="http://schemas.openxmlformats.org/drawingml/2006/main" noGrp="1"/>
          </p:cNvSpPr>
          <p:nvPr/>
        </p:nvSpPr>
        <p:spPr>
          <a:xfrm xmlns:a="http://schemas.openxmlformats.org/drawingml/2006/main">
            <a:off x="3703320" y="2898648"/>
            <a:ext cx="256032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AMBIENT</a:t>
            </a:r>
          </a:p>
          <a:p xmlns:a="http://schemas.openxmlformats.org/drawingml/2006/main">
            <a:pPr algn="l">
              <a:spcBef>
                <a:spcPts val="400"/>
              </a:spcBef>
              <a:buNone/>
            </a:pPr>
            <a:r>
              <a:rPr sz="1200" b="0">
                <a:solidFill>
                  <a:srgbClr val="1E1E1E"/>
                </a:solidFill>
                <a:latin typeface="Arial"/>
                <a:ea typeface="Arial"/>
                <a:cs typeface="Arial"/>
              </a:rPr>
              <a:t>How hot is the air around it?</a:t>
            </a:r>
          </a:p>
        </p:txBody>
      </p:sp>
      <p:sp>
        <p:nvSpPr>
          <p:cNvPr id="101" name="Rectangle 100">
            <a:extLst xmlns:a="http://schemas.openxmlformats.org/drawingml/2006/main">
              <a:ext uri="{FF2B5EF4-FFF2-40B4-BE49-F238E27FC236}">
                <a16:creationId xmlns:a16="http://schemas.microsoft.com/office/drawing/2014/main" id="{B2F70A5D-3B06-4EF4-BD28-6BFF4398C4C7}"/>
              </a:ext>
            </a:extLst>
          </p:cNvPr>
          <p:cNvSpPr>
            <a:spLocks xmlns:a="http://schemas.openxmlformats.org/drawingml/2006/main" noGrp="1"/>
          </p:cNvSpPr>
          <p:nvPr/>
        </p:nvSpPr>
        <p:spPr>
          <a:xfrm xmlns:a="http://schemas.openxmlformats.org/drawingml/2006/main">
            <a:off x="548640" y="3657600"/>
            <a:ext cx="2834640" cy="7772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TextBox 101">
            <a:extLst xmlns:a="http://schemas.openxmlformats.org/drawingml/2006/main">
              <a:ext uri="{FF2B5EF4-FFF2-40B4-BE49-F238E27FC236}">
                <a16:creationId xmlns:a16="http://schemas.microsoft.com/office/drawing/2014/main" id="{25C77DCC-AF8E-4A31-9EE3-B06D8C2BACAC}"/>
              </a:ext>
            </a:extLst>
          </p:cNvPr>
          <p:cNvSpPr>
            <a:spLocks xmlns:a="http://schemas.openxmlformats.org/drawingml/2006/main" noGrp="1"/>
          </p:cNvSpPr>
          <p:nvPr/>
        </p:nvSpPr>
        <p:spPr>
          <a:xfrm xmlns:a="http://schemas.openxmlformats.org/drawingml/2006/main">
            <a:off x="685800" y="3767328"/>
            <a:ext cx="256032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HISTORY</a:t>
            </a:r>
          </a:p>
          <a:p xmlns:a="http://schemas.openxmlformats.org/drawingml/2006/main">
            <a:pPr algn="l">
              <a:spcBef>
                <a:spcPts val="400"/>
              </a:spcBef>
              <a:buNone/>
            </a:pPr>
            <a:r>
              <a:rPr sz="1200" b="0">
                <a:solidFill>
                  <a:srgbClr val="1E1E1E"/>
                </a:solidFill>
                <a:latin typeface="Arial"/>
                <a:ea typeface="Arial"/>
                <a:cs typeface="Arial"/>
              </a:rPr>
              <a:t>Has the oil had time to heat up or cool down?</a:t>
            </a:r>
          </a:p>
        </p:txBody>
      </p:sp>
      <p:sp>
        <p:nvSpPr>
          <p:cNvPr id="103" name="Rectangle 102">
            <a:extLst xmlns:a="http://schemas.openxmlformats.org/drawingml/2006/main">
              <a:ext uri="{FF2B5EF4-FFF2-40B4-BE49-F238E27FC236}">
                <a16:creationId xmlns:a16="http://schemas.microsoft.com/office/drawing/2014/main" id="{C31CA15E-D92C-40C7-AD83-28CB3B176EA6}"/>
              </a:ext>
            </a:extLst>
          </p:cNvPr>
          <p:cNvSpPr>
            <a:spLocks xmlns:a="http://schemas.openxmlformats.org/drawingml/2006/main" noGrp="1"/>
          </p:cNvSpPr>
          <p:nvPr/>
        </p:nvSpPr>
        <p:spPr>
          <a:xfrm xmlns:a="http://schemas.openxmlformats.org/drawingml/2006/main">
            <a:off x="3566160" y="3657600"/>
            <a:ext cx="2834640" cy="7772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TextBox 103">
            <a:extLst xmlns:a="http://schemas.openxmlformats.org/drawingml/2006/main">
              <a:ext uri="{FF2B5EF4-FFF2-40B4-BE49-F238E27FC236}">
                <a16:creationId xmlns:a16="http://schemas.microsoft.com/office/drawing/2014/main" id="{3385486B-2E54-493C-9567-826C282AA75D}"/>
              </a:ext>
            </a:extLst>
          </p:cNvPr>
          <p:cNvSpPr>
            <a:spLocks xmlns:a="http://schemas.openxmlformats.org/drawingml/2006/main" noGrp="1"/>
          </p:cNvSpPr>
          <p:nvPr/>
        </p:nvSpPr>
        <p:spPr>
          <a:xfrm xmlns:a="http://schemas.openxmlformats.org/drawingml/2006/main">
            <a:off x="3703320" y="3767328"/>
            <a:ext cx="256032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TRUST</a:t>
            </a:r>
          </a:p>
          <a:p xmlns:a="http://schemas.openxmlformats.org/drawingml/2006/main">
            <a:pPr algn="l">
              <a:spcBef>
                <a:spcPts val="400"/>
              </a:spcBef>
              <a:buNone/>
            </a:pPr>
            <a:r>
              <a:rPr sz="1200" b="0">
                <a:solidFill>
                  <a:srgbClr val="1E1E1E"/>
                </a:solidFill>
                <a:latin typeface="Arial"/>
                <a:ea typeface="Arial"/>
                <a:cs typeface="Arial"/>
              </a:rPr>
              <a:t>Are the sensor, timing and calibration credible?</a:t>
            </a:r>
          </a:p>
        </p:txBody>
      </p:sp>
      <p:sp>
        <p:nvSpPr>
          <p:cNvPr id="105" name="Rectangle 104">
            <a:extLst xmlns:a="http://schemas.openxmlformats.org/drawingml/2006/main">
              <a:ext uri="{FF2B5EF4-FFF2-40B4-BE49-F238E27FC236}">
                <a16:creationId xmlns:a16="http://schemas.microsoft.com/office/drawing/2014/main" id="{63AA276D-C6A5-4552-B2DE-2B262923B0AC}"/>
              </a:ext>
            </a:extLst>
          </p:cNvPr>
          <p:cNvSpPr>
            <a:spLocks xmlns:a="http://schemas.openxmlformats.org/drawingml/2006/main" noGrp="1"/>
          </p:cNvSpPr>
          <p:nvPr/>
        </p:nvSpPr>
        <p:spPr>
          <a:xfrm xmlns:a="http://schemas.openxmlformats.org/drawingml/2006/main">
            <a:off x="548640" y="4617720"/>
            <a:ext cx="2834640" cy="105156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TextBox 105">
            <a:extLst xmlns:a="http://schemas.openxmlformats.org/drawingml/2006/main">
              <a:ext uri="{FF2B5EF4-FFF2-40B4-BE49-F238E27FC236}">
                <a16:creationId xmlns:a16="http://schemas.microsoft.com/office/drawing/2014/main" id="{98B71E78-3FE0-4AF1-877A-50AFAD3020B9}"/>
              </a:ext>
            </a:extLst>
          </p:cNvPr>
          <p:cNvSpPr>
            <a:spLocks xmlns:a="http://schemas.openxmlformats.org/drawingml/2006/main" noGrp="1"/>
          </p:cNvSpPr>
          <p:nvPr/>
        </p:nvSpPr>
        <p:spPr>
          <a:xfrm xmlns:a="http://schemas.openxmlformats.org/drawingml/2006/main">
            <a:off x="685800" y="4681728"/>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800" b="1">
                <a:solidFill>
                  <a:srgbClr val="D46A12"/>
                </a:solidFill>
                <a:latin typeface="Arial"/>
                <a:ea typeface="Arial"/>
                <a:cs typeface="Arial"/>
              </a:rPr>
              <a:t>133.34 A</a:t>
            </a:r>
          </a:p>
        </p:txBody>
      </p:sp>
      <p:sp>
        <p:nvSpPr>
          <p:cNvPr id="107" name="TextBox 106">
            <a:extLst xmlns:a="http://schemas.openxmlformats.org/drawingml/2006/main">
              <a:ext uri="{FF2B5EF4-FFF2-40B4-BE49-F238E27FC236}">
                <a16:creationId xmlns:a16="http://schemas.microsoft.com/office/drawing/2014/main" id="{259D8A20-216F-4F06-A81E-94FEC9A0AD48}"/>
              </a:ext>
            </a:extLst>
          </p:cNvPr>
          <p:cNvSpPr>
            <a:spLocks xmlns:a="http://schemas.openxmlformats.org/drawingml/2006/main" noGrp="1"/>
          </p:cNvSpPr>
          <p:nvPr/>
        </p:nvSpPr>
        <p:spPr>
          <a:xfrm xmlns:a="http://schemas.openxmlformats.org/drawingml/2006/main">
            <a:off x="685800" y="5047488"/>
            <a:ext cx="25603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rgbClr val="1E1E1E"/>
                </a:solidFill>
                <a:latin typeface="Arial"/>
                <a:ea typeface="Arial"/>
                <a:cs typeface="Arial"/>
              </a:rPr>
              <a:t>Rated phase current for 100 kVA at 433 V line-to-line. Loading needs the correct rating base.</a:t>
            </a:r>
          </a:p>
        </p:txBody>
      </p:sp>
      <p:sp>
        <p:nvSpPr>
          <p:cNvPr id="108" name="Rectangle 107">
            <a:extLst xmlns:a="http://schemas.openxmlformats.org/drawingml/2006/main">
              <a:ext uri="{FF2B5EF4-FFF2-40B4-BE49-F238E27FC236}">
                <a16:creationId xmlns:a16="http://schemas.microsoft.com/office/drawing/2014/main" id="{A109EB37-AE0C-4804-A686-A0B1BCAB2227}"/>
              </a:ext>
            </a:extLst>
          </p:cNvPr>
          <p:cNvSpPr>
            <a:spLocks xmlns:a="http://schemas.openxmlformats.org/drawingml/2006/main" noGrp="1"/>
          </p:cNvSpPr>
          <p:nvPr/>
        </p:nvSpPr>
        <p:spPr>
          <a:xfrm xmlns:a="http://schemas.openxmlformats.org/drawingml/2006/main">
            <a:off x="3566160" y="4617720"/>
            <a:ext cx="2834640" cy="105156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TextBox 108">
            <a:extLst xmlns:a="http://schemas.openxmlformats.org/drawingml/2006/main">
              <a:ext uri="{FF2B5EF4-FFF2-40B4-BE49-F238E27FC236}">
                <a16:creationId xmlns:a16="http://schemas.microsoft.com/office/drawing/2014/main" id="{926D5378-CC78-497F-986A-78BC51BDD373}"/>
              </a:ext>
            </a:extLst>
          </p:cNvPr>
          <p:cNvSpPr>
            <a:spLocks xmlns:a="http://schemas.openxmlformats.org/drawingml/2006/main" noGrp="1"/>
          </p:cNvSpPr>
          <p:nvPr/>
        </p:nvSpPr>
        <p:spPr>
          <a:xfrm xmlns:a="http://schemas.openxmlformats.org/drawingml/2006/main">
            <a:off x="3703320" y="4681728"/>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800" b="1">
                <a:solidFill>
                  <a:srgbClr val="D46A12"/>
                </a:solidFill>
                <a:latin typeface="Arial"/>
                <a:ea typeface="Arial"/>
                <a:cs typeface="Arial"/>
              </a:rPr>
              <a:t>24 readings</a:t>
            </a:r>
          </a:p>
        </p:txBody>
      </p:sp>
      <p:sp>
        <p:nvSpPr>
          <p:cNvPr id="110" name="TextBox 109">
            <a:extLst xmlns:a="http://schemas.openxmlformats.org/drawingml/2006/main">
              <a:ext uri="{FF2B5EF4-FFF2-40B4-BE49-F238E27FC236}">
                <a16:creationId xmlns:a16="http://schemas.microsoft.com/office/drawing/2014/main" id="{70DDAF7E-BC30-4CA8-AC6F-0AC3AE5413A2}"/>
              </a:ext>
            </a:extLst>
          </p:cNvPr>
          <p:cNvSpPr>
            <a:spLocks xmlns:a="http://schemas.openxmlformats.org/drawingml/2006/main" noGrp="1"/>
          </p:cNvSpPr>
          <p:nvPr/>
        </p:nvSpPr>
        <p:spPr>
          <a:xfrm xmlns:a="http://schemas.openxmlformats.org/drawingml/2006/main">
            <a:off x="3703320" y="5047488"/>
            <a:ext cx="25603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rgbClr val="1E1E1E"/>
                </a:solidFill>
                <a:latin typeface="Arial"/>
                <a:ea typeface="Arial"/>
                <a:cs typeface="Arial"/>
              </a:rPr>
              <a:t>A two-hour assessment at five-minute cadence. Live detector alerts continue between summaries.</a:t>
            </a:r>
          </a:p>
        </p:txBody>
      </p:sp>
      <p:sp>
        <p:nvSpPr>
          <p:cNvPr id="111" name="TextBox 110">
            <a:extLst xmlns:a="http://schemas.openxmlformats.org/drawingml/2006/main">
              <a:ext uri="{FF2B5EF4-FFF2-40B4-BE49-F238E27FC236}">
                <a16:creationId xmlns:a16="http://schemas.microsoft.com/office/drawing/2014/main" id="{303A311A-ACDB-4273-8945-D98A836D2121}"/>
              </a:ext>
            </a:extLst>
          </p:cNvPr>
          <p:cNvSpPr>
            <a:spLocks xmlns:a="http://schemas.openxmlformats.org/drawingml/2006/main" noGrp="1"/>
          </p:cNvSpPr>
          <p:nvPr/>
        </p:nvSpPr>
        <p:spPr>
          <a:xfrm xmlns:a="http://schemas.openxmlformats.org/drawingml/2006/main">
            <a:off x="548640" y="5760720"/>
            <a:ext cx="594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50" b="0">
                <a:solidFill>
                  <a:srgbClr val="555555"/>
                </a:solidFill>
                <a:latin typeface="Arial"/>
                <a:ea typeface="Arial"/>
                <a:cs typeface="Arial"/>
              </a:rPr>
              <a:t>75 °C is an example, not a threshold. Protection limits stay; VoltMind adds context.</a:t>
            </a:r>
          </a:p>
        </p:txBody>
      </p:sp>
    </p:spTree>
    <p:extLst>
      <p:ext uri="{BB962C8B-B14F-4D97-AF65-F5344CB8AC3E}">
        <p14:creationId xmlns:p14="http://schemas.microsoft.com/office/powerpoint/2010/main" val="10751664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DC7122EC-CFC7-FF52-6E15-53DBA441A62D}"/>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5C398131-A8F2-36E9-780F-C4FEE73883C1}"/>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7D4F29B1-FC94-FA00-81E8-96D0BB7A46B4}"/>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2C18041D-ECDD-5DEE-BFE1-FB79802AA8FD}"/>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51FEA03E-C88B-64F6-B310-7BF93CEC4944}"/>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FA3E57FD-95D5-4AFA-62C3-77F934C98C95}"/>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828BF815-05CA-E8B5-D536-B5D4D865B3FF}"/>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942C6AAE-1456-A740-20FE-7D7D33F4427F}"/>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7E686CA4-13AA-2CA1-EEC7-50D449AA77C0}"/>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A7065FFB-EF0C-A370-D48E-4DA7BDC1E7AF}"/>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E97146EA-B8BD-37C8-64F4-55E149AE9125}"/>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144FAB5E-1199-8F3E-A33F-CA1BA01581EB}"/>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87E7F09C-0EC8-7ED1-2965-614386912347}"/>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FF744100-2AE7-1533-382D-BD402F9F4EBB}"/>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2EC3461F-2FC9-FEEA-0A43-9D8C16CFA497}"/>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64E9D767-E846-C919-B1EA-C7EB5AAB19E9}"/>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E9420ACF-1923-50DD-5DCC-439FB7C38943}"/>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30A80D3B-FA5A-B023-3E08-A148A973D951}"/>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2C36CE6B-7B1C-9F55-A3FF-4175DF2B56A2}"/>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5255BD5A-5FB8-63FA-3B74-C445A561C7A6}"/>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0F8AED6A-69CF-55EB-EB8B-68B3AA98B271}"/>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CB50640B-E7E3-499C-C3F4-FCAD3603DEAD}"/>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26ACBDE5-871C-8E8D-7AAB-93A2AC18CFF9}"/>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EA2D57C4-77C5-C9E6-D898-E71736980D45}"/>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4BEA64A7-2A15-9C95-EFDC-F6521A480B1F}"/>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82066320-F922-0174-7CB4-F0AD3FC1C488}"/>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EAFBC1BE-9299-383E-999C-649202526F69}"/>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F6588E15-F027-8C66-457F-93E8F786A714}"/>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34748CEE-0DF0-8F2E-78F1-A2CC6AF0E594}"/>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A81127C3-B008-7998-96C0-B68325959392}"/>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38CB8BB2-DDDD-8ED5-1540-7248BC8F9133}"/>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E31B2675-B004-E9FC-A98F-4487AABA0E2D}"/>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1C158118-A11F-3F22-BB43-4A5B0AD6E5D3}"/>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C6D529DA-2B62-09F8-1088-1D94E514BEED}"/>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7FA02E6C-8459-CF79-AF81-F89540281DCD}"/>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451AD2B1-240D-AFE3-010C-8FA30E2FD618}"/>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F17888EA-5780-C400-BE88-5ECAD12D2F19}"/>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A0F53D89-1330-1264-14F5-F8EF4C2054B9}"/>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71E841F0-5A8C-8673-7E33-E0E199C75E69}"/>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41CEEAC7-7CC5-96A9-403B-A85E65533786}"/>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1C48B4BD-63DA-141B-E31D-55ABFB13BB0A}"/>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B98687AD-15C4-76E3-4602-4BE31DC3491D}"/>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42404D35-B15D-F02D-4B79-245752374522}"/>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FFE8D88E-A0EF-3EDA-3303-0AFC87DC62E5}"/>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465504DA-1EE8-139D-49AC-1FC58F42463D}"/>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88DE3F81-C7E2-8B82-D7F4-453D25DBDE6E}"/>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35597A77-C202-4D29-744A-6155F936D63E}"/>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6FDF5C41-BE2C-4673-2496-0B146EBF107A}"/>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9A5D2162-025B-8FD6-57A5-9B638A5F80F7}"/>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85D91377-B1F7-50C0-A72B-73A07F6AB365}"/>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66FFDA86-290D-B1CD-0B3E-B836BC8022DB}"/>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2A4B89B6-8C3C-3CC2-621D-8DA3944DAB46}"/>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061ADD52-B8F0-E59E-DA23-B7FDCCC50288}"/>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48DF97C9-8C2E-3EB9-9ED1-EC136D17B8B0}"/>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AF50F518-BB2C-DC98-3585-52F56895CE6D}"/>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BA380293-BC29-8C03-DE27-02CE7FE090F5}"/>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2119062F-11D9-0E85-3917-DC55265B785A}"/>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0AF03108-08DF-2E0A-1048-93E568846F9B}"/>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2D11BE54-33E2-1105-D39B-56937208E6CA}"/>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47BD066B-7386-3721-9329-3FCD767C7AA5}"/>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78B8AC9D-D759-3107-9A3C-48AE04999350}"/>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503599EC-BA68-6DFD-23F3-037859CEE78C}"/>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43CABDCB-05C8-6388-88E7-9063E5853CEE}"/>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7EE955A0-2E55-32DF-C2B7-D4E2F619DCBD}"/>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FB4EC052-5997-E446-84D5-82F838260B2F}"/>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83F5C832-CB6B-ED7C-3C14-5F9F5AB8FE18}"/>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83DCA451-9672-53B6-9065-16DD5249ED1F}"/>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3" name="Picture 2">
            <a:extLst xmlns:a="http://schemas.openxmlformats.org/drawingml/2006/main">
              <a:ext uri="{FF2B5EF4-FFF2-40B4-BE49-F238E27FC236}">
                <a16:creationId xmlns:a16="http://schemas.microsoft.com/office/drawing/2014/main" id="{2FE99BE6-166C-44C9-BFBB-428261E55480}"/>
              </a:ext>
            </a:extLst>
          </p:cNvPr>
          <p:cNvPicPr>
            <a:picLocks xmlns:a="http://schemas.openxmlformats.org/drawingml/2006/main" noChangeAspect="1"/>
          </p:cNvPicPr>
          <p:nvPr/>
        </p:nvPicPr>
        <p:blipFill>
          <a:blip xmlns:r="http://schemas.openxmlformats.org/officeDocument/2006/relationships" xmlns:a="http://schemas.openxmlformats.org/drawingml/2006/main" r:embed="Re2201e637c4b4618"/>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C5CCF687-FAC5-4139-9CFF-FEA91EC07475}"/>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Local architecture and ownership</a:t>
            </a:r>
          </a:p>
        </p:txBody>
      </p:sp>
      <p:sp>
        <p:nvSpPr>
          <p:cNvPr id="91" name="Subtitle">
            <a:extLst xmlns:a="http://schemas.openxmlformats.org/drawingml/2006/main">
              <a:ext uri="{FF2B5EF4-FFF2-40B4-BE49-F238E27FC236}">
                <a16:creationId xmlns:a16="http://schemas.microsoft.com/office/drawing/2014/main" id="{69390F0B-8582-45B3-8275-729AF59635DA}"/>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Python owns replay sessions and inference. Spring Boot proxies APIs. React presents processed evidence.</a:t>
            </a:r>
          </a:p>
        </p:txBody>
      </p:sp>
      <p:sp>
        <p:nvSpPr>
          <p:cNvPr id="92" name="Connector 91">
            <a:extLst xmlns:a="http://schemas.openxmlformats.org/drawingml/2006/main">
              <a:ext uri="{FF2B5EF4-FFF2-40B4-BE49-F238E27FC236}">
                <a16:creationId xmlns:a16="http://schemas.microsoft.com/office/drawing/2014/main" id="{9B972F46-F3C2-4E85-A03D-60A0A8CA23D0}"/>
              </a:ext>
            </a:extLst>
          </p:cNvPr>
          <p:cNvSpPr>
            <a:spLocks xmlns:a="http://schemas.openxmlformats.org/drawingml/2006/main" noGrp="1"/>
          </p:cNvSpPr>
          <p:nvPr/>
        </p:nvSpPr>
        <p:spPr>
          <a:xfrm xmlns:a="http://schemas.openxmlformats.org/drawingml/2006/main">
            <a:off x="548640" y="6117336"/>
            <a:ext cx="11155680" cy="0"/>
          </a:xfrm>
          <a:prstGeom xmlns:a="http://schemas.openxmlformats.org/drawingml/2006/main" prst="line">
            <a:avLst/>
          </a:prstGeom>
          <a:ln xmlns:a="http://schemas.openxmlformats.org/drawingml/2006/main" w="9525">
            <a:solidFill>
              <a:srgbClr val="BDBD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3" name="Footer">
            <a:extLst xmlns:a="http://schemas.openxmlformats.org/drawingml/2006/main">
              <a:ext uri="{FF2B5EF4-FFF2-40B4-BE49-F238E27FC236}">
                <a16:creationId xmlns:a16="http://schemas.microsoft.com/office/drawing/2014/main" id="{A62E9B27-702E-45B6-959C-96BC91C75FBD}"/>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FA8308C7-0EEE-4497-9554-F201D86C29AC}"/>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03 / 10</a:t>
            </a:r>
          </a:p>
        </p:txBody>
      </p:sp>
      <p:sp>
        <p:nvSpPr>
          <p:cNvPr id="95" name="Rectangle 94">
            <a:extLst xmlns:a="http://schemas.openxmlformats.org/drawingml/2006/main">
              <a:ext uri="{FF2B5EF4-FFF2-40B4-BE49-F238E27FC236}">
                <a16:creationId xmlns:a16="http://schemas.microsoft.com/office/drawing/2014/main" id="{95AD2403-6385-4984-99AC-BCABC981E9C0}"/>
              </a:ext>
            </a:extLst>
          </p:cNvPr>
          <p:cNvSpPr>
            <a:spLocks xmlns:a="http://schemas.openxmlformats.org/drawingml/2006/main" noGrp="1"/>
          </p:cNvSpPr>
          <p:nvPr/>
        </p:nvSpPr>
        <p:spPr>
          <a:xfrm xmlns:a="http://schemas.openxmlformats.org/drawingml/2006/main">
            <a:off x="548640" y="1600200"/>
            <a:ext cx="2240280" cy="14173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TextBox 95">
            <a:extLst xmlns:a="http://schemas.openxmlformats.org/drawingml/2006/main">
              <a:ext uri="{FF2B5EF4-FFF2-40B4-BE49-F238E27FC236}">
                <a16:creationId xmlns:a16="http://schemas.microsoft.com/office/drawing/2014/main" id="{A547F4AD-776C-41E1-890D-4822F558566E}"/>
              </a:ext>
            </a:extLst>
          </p:cNvPr>
          <p:cNvSpPr>
            <a:spLocks xmlns:a="http://schemas.openxmlformats.org/drawingml/2006/main" noGrp="1"/>
          </p:cNvSpPr>
          <p:nvPr/>
        </p:nvSpPr>
        <p:spPr>
          <a:xfrm xmlns:a="http://schemas.openxmlformats.org/drawingml/2006/main">
            <a:off x="685800" y="1709928"/>
            <a:ext cx="1965960" cy="11978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SCADA SOURCE</a:t>
            </a:r>
          </a:p>
          <a:p xmlns:a="http://schemas.openxmlformats.org/drawingml/2006/main">
            <a:pPr algn="l">
              <a:spcBef>
                <a:spcPts val="400"/>
              </a:spcBef>
              <a:buNone/>
            </a:pPr>
            <a:r>
              <a:rPr sz="1200" b="0">
                <a:solidFill>
                  <a:srgbClr val="1E1E1E"/>
                </a:solidFill>
                <a:latin typeface="Arial"/>
                <a:ea typeface="Arial"/>
                <a:cs typeface="Arial"/>
              </a:rPr>
              <a:t>Local replay or uploaded file</a:t>
            </a:r>
          </a:p>
          <a:p xmlns:a="http://schemas.openxmlformats.org/drawingml/2006/main">
            <a:pPr algn="l">
              <a:spcBef>
                <a:spcPts val="400"/>
              </a:spcBef>
              <a:buNone/>
            </a:pPr>
            <a:r>
              <a:rPr sz="1100" b="0">
                <a:solidFill>
                  <a:srgbClr val="555555"/>
                </a:solidFill>
                <a:latin typeface="Arial"/>
                <a:ea typeface="Arial"/>
                <a:cs typeface="Arial"/>
              </a:rPr>
              <a:t>CSV, TSV, TXT, XLSX, JSON. Live gateway planned.</a:t>
            </a:r>
          </a:p>
        </p:txBody>
      </p:sp>
      <p:sp>
        <p:nvSpPr>
          <p:cNvPr id="97" name="Rectangle 96">
            <a:extLst xmlns:a="http://schemas.openxmlformats.org/drawingml/2006/main">
              <a:ext uri="{FF2B5EF4-FFF2-40B4-BE49-F238E27FC236}">
                <a16:creationId xmlns:a16="http://schemas.microsoft.com/office/drawing/2014/main" id="{7ED29C0F-D8DE-49EB-86F3-A8C0BE35731F}"/>
              </a:ext>
            </a:extLst>
          </p:cNvPr>
          <p:cNvSpPr>
            <a:spLocks xmlns:a="http://schemas.openxmlformats.org/drawingml/2006/main" noGrp="1"/>
          </p:cNvSpPr>
          <p:nvPr/>
        </p:nvSpPr>
        <p:spPr>
          <a:xfrm xmlns:a="http://schemas.openxmlformats.org/drawingml/2006/main">
            <a:off x="3520440" y="1600200"/>
            <a:ext cx="2240280" cy="141732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TextBox 97">
            <a:extLst xmlns:a="http://schemas.openxmlformats.org/drawingml/2006/main">
              <a:ext uri="{FF2B5EF4-FFF2-40B4-BE49-F238E27FC236}">
                <a16:creationId xmlns:a16="http://schemas.microsoft.com/office/drawing/2014/main" id="{DEAD915A-BC4C-45D1-A862-590D71CD54A2}"/>
              </a:ext>
            </a:extLst>
          </p:cNvPr>
          <p:cNvSpPr>
            <a:spLocks xmlns:a="http://schemas.openxmlformats.org/drawingml/2006/main" noGrp="1"/>
          </p:cNvSpPr>
          <p:nvPr/>
        </p:nvSpPr>
        <p:spPr>
          <a:xfrm xmlns:a="http://schemas.openxmlformats.org/drawingml/2006/main">
            <a:off x="3657600" y="1709928"/>
            <a:ext cx="1965960" cy="787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SPRING BOOT  :8080</a:t>
            </a:r>
          </a:p>
          <a:p xmlns:a="http://schemas.openxmlformats.org/drawingml/2006/main">
            <a:pPr algn="l">
              <a:spcBef>
                <a:spcPts val="400"/>
              </a:spcBef>
              <a:buNone/>
            </a:pPr>
            <a:r>
              <a:rPr sz="1200" b="0">
                <a:solidFill>
                  <a:srgbClr val="1E1E1E"/>
                </a:solidFill>
                <a:latin typeface="Arial"/>
                <a:ea typeface="Arial"/>
                <a:cs typeface="Arial"/>
              </a:rPr>
              <a:t>Allowlisted API proxy</a:t>
            </a:r>
          </a:p>
          <a:p xmlns:a="http://schemas.openxmlformats.org/drawingml/2006/main">
            <a:pPr algn="l">
              <a:spcBef>
                <a:spcPts val="400"/>
              </a:spcBef>
              <a:buNone/>
            </a:pPr>
            <a:r>
              <a:rPr sz="1100" b="0">
                <a:solidFill>
                  <a:srgbClr val="555555"/>
                </a:solidFill>
                <a:latin typeface="Arial"/>
                <a:ea typeface="Arial"/>
                <a:cs typeface="Arial"/>
              </a:rPr>
              <a:t>Forwards requests and the replay stream</a:t>
            </a:r>
          </a:p>
        </p:txBody>
      </p:sp>
      <p:sp>
        <p:nvSpPr>
          <p:cNvPr id="99" name="Rectangle 98">
            <a:extLst xmlns:a="http://schemas.openxmlformats.org/drawingml/2006/main">
              <a:ext uri="{FF2B5EF4-FFF2-40B4-BE49-F238E27FC236}">
                <a16:creationId xmlns:a16="http://schemas.microsoft.com/office/drawing/2014/main" id="{1B7C27F1-5721-48FC-9066-7C03B87ACD3B}"/>
              </a:ext>
            </a:extLst>
          </p:cNvPr>
          <p:cNvSpPr>
            <a:spLocks xmlns:a="http://schemas.openxmlformats.org/drawingml/2006/main" noGrp="1"/>
          </p:cNvSpPr>
          <p:nvPr/>
        </p:nvSpPr>
        <p:spPr>
          <a:xfrm xmlns:a="http://schemas.openxmlformats.org/drawingml/2006/main">
            <a:off x="6492240" y="1600200"/>
            <a:ext cx="2240280" cy="141732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TextBox 99">
            <a:extLst xmlns:a="http://schemas.openxmlformats.org/drawingml/2006/main">
              <a:ext uri="{FF2B5EF4-FFF2-40B4-BE49-F238E27FC236}">
                <a16:creationId xmlns:a16="http://schemas.microsoft.com/office/drawing/2014/main" id="{5B5BE52F-810E-4140-AEB4-96C156C877E8}"/>
              </a:ext>
            </a:extLst>
          </p:cNvPr>
          <p:cNvSpPr>
            <a:spLocks xmlns:a="http://schemas.openxmlformats.org/drawingml/2006/main" noGrp="1"/>
          </p:cNvSpPr>
          <p:nvPr/>
        </p:nvSpPr>
        <p:spPr>
          <a:xfrm xmlns:a="http://schemas.openxmlformats.org/drawingml/2006/main">
            <a:off x="6629400" y="1709928"/>
            <a:ext cx="1965960" cy="787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PYTHON WORKER  :8765</a:t>
            </a:r>
          </a:p>
          <a:p xmlns:a="http://schemas.openxmlformats.org/drawingml/2006/main">
            <a:pPr algn="l">
              <a:spcBef>
                <a:spcPts val="400"/>
              </a:spcBef>
              <a:buNone/>
            </a:pPr>
            <a:r>
              <a:rPr sz="1200" b="0">
                <a:solidFill>
                  <a:srgbClr val="1E1E1E"/>
                </a:solidFill>
                <a:latin typeface="Arial"/>
                <a:ea typeface="Arial"/>
                <a:cs typeface="Arial"/>
              </a:rPr>
              <a:t>Session and replay state</a:t>
            </a:r>
          </a:p>
          <a:p xmlns:a="http://schemas.openxmlformats.org/drawingml/2006/main">
            <a:pPr algn="l">
              <a:spcBef>
                <a:spcPts val="400"/>
              </a:spcBef>
              <a:buNone/>
            </a:pPr>
            <a:r>
              <a:rPr sz="1100" b="0">
                <a:solidFill>
                  <a:srgbClr val="555555"/>
                </a:solidFill>
                <a:latin typeface="Arial"/>
                <a:ea typeface="Arial"/>
                <a:cs typeface="Arial"/>
              </a:rPr>
              <a:t>Validation, inference and two-hour summaries</a:t>
            </a:r>
          </a:p>
        </p:txBody>
      </p:sp>
      <p:sp>
        <p:nvSpPr>
          <p:cNvPr id="101" name="Rectangle 100">
            <a:extLst xmlns:a="http://schemas.openxmlformats.org/drawingml/2006/main">
              <a:ext uri="{FF2B5EF4-FFF2-40B4-BE49-F238E27FC236}">
                <a16:creationId xmlns:a16="http://schemas.microsoft.com/office/drawing/2014/main" id="{48BD907A-876C-49F6-B6F3-A06BBE7AF04B}"/>
              </a:ext>
            </a:extLst>
          </p:cNvPr>
          <p:cNvSpPr>
            <a:spLocks xmlns:a="http://schemas.openxmlformats.org/drawingml/2006/main" noGrp="1"/>
          </p:cNvSpPr>
          <p:nvPr/>
        </p:nvSpPr>
        <p:spPr>
          <a:xfrm xmlns:a="http://schemas.openxmlformats.org/drawingml/2006/main">
            <a:off x="9464040" y="1600200"/>
            <a:ext cx="2240280" cy="14173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TextBox 101">
            <a:extLst xmlns:a="http://schemas.openxmlformats.org/drawingml/2006/main">
              <a:ext uri="{FF2B5EF4-FFF2-40B4-BE49-F238E27FC236}">
                <a16:creationId xmlns:a16="http://schemas.microsoft.com/office/drawing/2014/main" id="{FC0AB624-D23E-4B86-803A-53C2F1009C83}"/>
              </a:ext>
            </a:extLst>
          </p:cNvPr>
          <p:cNvSpPr>
            <a:spLocks xmlns:a="http://schemas.openxmlformats.org/drawingml/2006/main" noGrp="1"/>
          </p:cNvSpPr>
          <p:nvPr/>
        </p:nvSpPr>
        <p:spPr>
          <a:xfrm xmlns:a="http://schemas.openxmlformats.org/drawingml/2006/main">
            <a:off x="9601200" y="1709928"/>
            <a:ext cx="1965960" cy="11978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TWIN INTELLIGENCE</a:t>
            </a:r>
          </a:p>
          <a:p xmlns:a="http://schemas.openxmlformats.org/drawingml/2006/main">
            <a:pPr algn="l">
              <a:spcBef>
                <a:spcPts val="400"/>
              </a:spcBef>
              <a:buNone/>
            </a:pPr>
            <a:r>
              <a:rPr sz="1200" b="0">
                <a:solidFill>
                  <a:srgbClr val="1E1E1E"/>
                </a:solidFill>
                <a:latin typeface="Arial"/>
                <a:ea typeface="Arial"/>
                <a:cs typeface="Arial"/>
              </a:rPr>
              <a:t>Five investigation modules</a:t>
            </a:r>
          </a:p>
          <a:p xmlns:a="http://schemas.openxmlformats.org/drawingml/2006/main">
            <a:pPr algn="l">
              <a:spcBef>
                <a:spcPts val="400"/>
              </a:spcBef>
              <a:buNone/>
            </a:pPr>
            <a:r>
              <a:rPr sz="1100" b="0">
                <a:solidFill>
                  <a:srgbClr val="555555"/>
                </a:solidFill>
                <a:latin typeface="Arial"/>
                <a:ea typeface="Arial"/>
                <a:cs typeface="Arial"/>
              </a:rPr>
              <a:t>100 kVA transformer</a:t>
            </a:r>
          </a:p>
        </p:txBody>
      </p:sp>
      <p:sp>
        <p:nvSpPr>
          <p:cNvPr id="103" name="Connector 102">
            <a:extLst xmlns:a="http://schemas.openxmlformats.org/drawingml/2006/main">
              <a:ext uri="{FF2B5EF4-FFF2-40B4-BE49-F238E27FC236}">
                <a16:creationId xmlns:a16="http://schemas.microsoft.com/office/drawing/2014/main" id="{F0D19EDF-A0C8-4C4B-B466-F2E8A2B5963D}"/>
              </a:ext>
            </a:extLst>
          </p:cNvPr>
          <p:cNvSpPr>
            <a:spLocks xmlns:a="http://schemas.openxmlformats.org/drawingml/2006/main" noGrp="1"/>
          </p:cNvSpPr>
          <p:nvPr/>
        </p:nvSpPr>
        <p:spPr>
          <a:xfrm xmlns:a="http://schemas.openxmlformats.org/drawingml/2006/main">
            <a:off x="2807208" y="2308860"/>
            <a:ext cx="694944" cy="0"/>
          </a:xfrm>
          <a:prstGeom xmlns:a="http://schemas.openxmlformats.org/drawingml/2006/main" prst="line">
            <a:avLst/>
          </a:prstGeom>
          <a:ln xmlns:a="http://schemas.openxmlformats.org/drawingml/2006/main" w="19050">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67D31D31-8527-420C-ADE7-2451C46C1204}"/>
              </a:ext>
            </a:extLst>
          </p:cNvPr>
          <p:cNvSpPr>
            <a:spLocks xmlns:a="http://schemas.openxmlformats.org/drawingml/2006/main" noGrp="1"/>
          </p:cNvSpPr>
          <p:nvPr/>
        </p:nvSpPr>
        <p:spPr>
          <a:xfrm xmlns:a="http://schemas.openxmlformats.org/drawingml/2006/main">
            <a:off x="5779008" y="2308860"/>
            <a:ext cx="694944" cy="0"/>
          </a:xfrm>
          <a:prstGeom xmlns:a="http://schemas.openxmlformats.org/drawingml/2006/main" prst="line">
            <a:avLst/>
          </a:prstGeom>
          <a:ln xmlns:a="http://schemas.openxmlformats.org/drawingml/2006/main" w="19050">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7B2DF4CF-C986-43FA-8EFC-D2F6CDCFE0AA}"/>
              </a:ext>
            </a:extLst>
          </p:cNvPr>
          <p:cNvSpPr>
            <a:spLocks xmlns:a="http://schemas.openxmlformats.org/drawingml/2006/main" noGrp="1"/>
          </p:cNvSpPr>
          <p:nvPr/>
        </p:nvSpPr>
        <p:spPr>
          <a:xfrm xmlns:a="http://schemas.openxmlformats.org/drawingml/2006/main">
            <a:off x="8750808" y="2308860"/>
            <a:ext cx="694944" cy="0"/>
          </a:xfrm>
          <a:prstGeom xmlns:a="http://schemas.openxmlformats.org/drawingml/2006/main" prst="line">
            <a:avLst/>
          </a:prstGeom>
          <a:ln xmlns:a="http://schemas.openxmlformats.org/drawingml/2006/main" w="19050">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6" name="Rectangle 105">
            <a:extLst xmlns:a="http://schemas.openxmlformats.org/drawingml/2006/main">
              <a:ext uri="{FF2B5EF4-FFF2-40B4-BE49-F238E27FC236}">
                <a16:creationId xmlns:a16="http://schemas.microsoft.com/office/drawing/2014/main" id="{563878F4-C91D-46E2-9FE6-2FBA2C0BBD79}"/>
              </a:ext>
            </a:extLst>
          </p:cNvPr>
          <p:cNvSpPr>
            <a:spLocks xmlns:a="http://schemas.openxmlformats.org/drawingml/2006/main" noGrp="1"/>
          </p:cNvSpPr>
          <p:nvPr/>
        </p:nvSpPr>
        <p:spPr>
          <a:xfrm xmlns:a="http://schemas.openxmlformats.org/drawingml/2006/main">
            <a:off x="548640" y="3611880"/>
            <a:ext cx="2240280" cy="14173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TextBox 106">
            <a:extLst xmlns:a="http://schemas.openxmlformats.org/drawingml/2006/main">
              <a:ext uri="{FF2B5EF4-FFF2-40B4-BE49-F238E27FC236}">
                <a16:creationId xmlns:a16="http://schemas.microsoft.com/office/drawing/2014/main" id="{F4F5CDB3-78DA-4073-8C5F-968457DE45BA}"/>
              </a:ext>
            </a:extLst>
          </p:cNvPr>
          <p:cNvSpPr>
            <a:spLocks xmlns:a="http://schemas.openxmlformats.org/drawingml/2006/main" noGrp="1"/>
          </p:cNvSpPr>
          <p:nvPr/>
        </p:nvSpPr>
        <p:spPr>
          <a:xfrm xmlns:a="http://schemas.openxmlformats.org/drawingml/2006/main">
            <a:off x="685800" y="3721608"/>
            <a:ext cx="1965960" cy="11978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INPUT CONTRACT</a:t>
            </a:r>
          </a:p>
          <a:p xmlns:a="http://schemas.openxmlformats.org/drawingml/2006/main">
            <a:pPr algn="l">
              <a:spcBef>
                <a:spcPts val="400"/>
              </a:spcBef>
              <a:buNone/>
            </a:pPr>
            <a:r>
              <a:rPr sz="1200" b="0">
                <a:solidFill>
                  <a:srgbClr val="1E1E1E"/>
                </a:solidFill>
                <a:latin typeface="Arial"/>
                <a:ea typeface="Arial"/>
                <a:cs typeface="Arial"/>
              </a:rPr>
              <a:t>Schema, units and time order must be valid before anything is replayed</a:t>
            </a:r>
          </a:p>
        </p:txBody>
      </p:sp>
      <p:sp>
        <p:nvSpPr>
          <p:cNvPr id="108" name="Rectangle 107">
            <a:extLst xmlns:a="http://schemas.openxmlformats.org/drawingml/2006/main">
              <a:ext uri="{FF2B5EF4-FFF2-40B4-BE49-F238E27FC236}">
                <a16:creationId xmlns:a16="http://schemas.microsoft.com/office/drawing/2014/main" id="{F36AAADE-8C5A-4622-AEFF-1D458865A64C}"/>
              </a:ext>
            </a:extLst>
          </p:cNvPr>
          <p:cNvSpPr>
            <a:spLocks xmlns:a="http://schemas.openxmlformats.org/drawingml/2006/main" noGrp="1"/>
          </p:cNvSpPr>
          <p:nvPr/>
        </p:nvSpPr>
        <p:spPr>
          <a:xfrm xmlns:a="http://schemas.openxmlformats.org/drawingml/2006/main">
            <a:off x="3520440" y="3611880"/>
            <a:ext cx="2240280" cy="14173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TextBox 108">
            <a:extLst xmlns:a="http://schemas.openxmlformats.org/drawingml/2006/main">
              <a:ext uri="{FF2B5EF4-FFF2-40B4-BE49-F238E27FC236}">
                <a16:creationId xmlns:a16="http://schemas.microsoft.com/office/drawing/2014/main" id="{657705E2-7008-4264-9144-92C3CF4AE296}"/>
              </a:ext>
            </a:extLst>
          </p:cNvPr>
          <p:cNvSpPr>
            <a:spLocks xmlns:a="http://schemas.openxmlformats.org/drawingml/2006/main" noGrp="1"/>
          </p:cNvSpPr>
          <p:nvPr/>
        </p:nvSpPr>
        <p:spPr>
          <a:xfrm xmlns:a="http://schemas.openxmlformats.org/drawingml/2006/main">
            <a:off x="3657600" y="3721608"/>
            <a:ext cx="1965960" cy="11978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REACT + VITE  ·  :5173</a:t>
            </a:r>
          </a:p>
          <a:p xmlns:a="http://schemas.openxmlformats.org/drawingml/2006/main">
            <a:pPr algn="l">
              <a:spcBef>
                <a:spcPts val="400"/>
              </a:spcBef>
              <a:buNone/>
            </a:pPr>
            <a:r>
              <a:rPr sz="1200" b="0">
                <a:solidFill>
                  <a:srgbClr val="1E1E1E"/>
                </a:solidFill>
                <a:latin typeface="Arial"/>
                <a:ea typeface="Arial"/>
                <a:cs typeface="Arial"/>
              </a:rPr>
              <a:t>Trends, alarms, evidence and a local assistant</a:t>
            </a:r>
          </a:p>
        </p:txBody>
      </p:sp>
      <p:sp>
        <p:nvSpPr>
          <p:cNvPr id="110" name="Rectangle 109">
            <a:extLst xmlns:a="http://schemas.openxmlformats.org/drawingml/2006/main">
              <a:ext uri="{FF2B5EF4-FFF2-40B4-BE49-F238E27FC236}">
                <a16:creationId xmlns:a16="http://schemas.microsoft.com/office/drawing/2014/main" id="{BFEB0C19-833A-405E-BBBF-96EE371E7297}"/>
              </a:ext>
            </a:extLst>
          </p:cNvPr>
          <p:cNvSpPr>
            <a:spLocks xmlns:a="http://schemas.openxmlformats.org/drawingml/2006/main" noGrp="1"/>
          </p:cNvSpPr>
          <p:nvPr/>
        </p:nvSpPr>
        <p:spPr>
          <a:xfrm xmlns:a="http://schemas.openxmlformats.org/drawingml/2006/main">
            <a:off x="6492240" y="3611880"/>
            <a:ext cx="2240280" cy="14173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TextBox 110">
            <a:extLst xmlns:a="http://schemas.openxmlformats.org/drawingml/2006/main">
              <a:ext uri="{FF2B5EF4-FFF2-40B4-BE49-F238E27FC236}">
                <a16:creationId xmlns:a16="http://schemas.microsoft.com/office/drawing/2014/main" id="{2A4E2104-4E92-40DA-8676-C053B2EE9A17}"/>
              </a:ext>
            </a:extLst>
          </p:cNvPr>
          <p:cNvSpPr>
            <a:spLocks xmlns:a="http://schemas.openxmlformats.org/drawingml/2006/main" noGrp="1"/>
          </p:cNvSpPr>
          <p:nvPr/>
        </p:nvSpPr>
        <p:spPr>
          <a:xfrm xmlns:a="http://schemas.openxmlformats.org/drawingml/2006/main">
            <a:off x="6629400" y="3721608"/>
            <a:ext cx="1965960" cy="949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LOCAL ASSISTANT</a:t>
            </a:r>
          </a:p>
          <a:p xmlns:a="http://schemas.openxmlformats.org/drawingml/2006/main">
            <a:pPr algn="l">
              <a:spcBef>
                <a:spcPts val="400"/>
              </a:spcBef>
              <a:buNone/>
            </a:pPr>
            <a:r>
              <a:rPr sz="1200" b="0">
                <a:solidFill>
                  <a:srgbClr val="1E1E1E"/>
                </a:solidFill>
                <a:latin typeface="Arial"/>
                <a:ea typeface="Arial"/>
                <a:cs typeface="Arial"/>
              </a:rPr>
              <a:t>Deterministic explanations from current processed evidence. No external AI service.</a:t>
            </a:r>
          </a:p>
        </p:txBody>
      </p:sp>
      <p:sp>
        <p:nvSpPr>
          <p:cNvPr id="112" name="Rectangle 111">
            <a:extLst xmlns:a="http://schemas.openxmlformats.org/drawingml/2006/main">
              <a:ext uri="{FF2B5EF4-FFF2-40B4-BE49-F238E27FC236}">
                <a16:creationId xmlns:a16="http://schemas.microsoft.com/office/drawing/2014/main" id="{68A8E612-6098-4CE7-A15F-ED513944FE26}"/>
              </a:ext>
            </a:extLst>
          </p:cNvPr>
          <p:cNvSpPr>
            <a:spLocks xmlns:a="http://schemas.openxmlformats.org/drawingml/2006/main" noGrp="1"/>
          </p:cNvSpPr>
          <p:nvPr/>
        </p:nvSpPr>
        <p:spPr>
          <a:xfrm xmlns:a="http://schemas.openxmlformats.org/drawingml/2006/main">
            <a:off x="9464040" y="3611880"/>
            <a:ext cx="2240280" cy="14173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TextBox 112">
            <a:extLst xmlns:a="http://schemas.openxmlformats.org/drawingml/2006/main">
              <a:ext uri="{FF2B5EF4-FFF2-40B4-BE49-F238E27FC236}">
                <a16:creationId xmlns:a16="http://schemas.microsoft.com/office/drawing/2014/main" id="{A95F82F9-157A-4FDE-8387-D601E326847F}"/>
              </a:ext>
            </a:extLst>
          </p:cNvPr>
          <p:cNvSpPr>
            <a:spLocks xmlns:a="http://schemas.openxmlformats.org/drawingml/2006/main" noGrp="1"/>
          </p:cNvSpPr>
          <p:nvPr/>
        </p:nvSpPr>
        <p:spPr>
          <a:xfrm xmlns:a="http://schemas.openxmlformats.org/drawingml/2006/main">
            <a:off x="9601200" y="3721608"/>
            <a:ext cx="1965960" cy="11978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SQLITE</a:t>
            </a:r>
          </a:p>
          <a:p xmlns:a="http://schemas.openxmlformats.org/drawingml/2006/main">
            <a:pPr algn="l">
              <a:spcBef>
                <a:spcPts val="400"/>
              </a:spcBef>
              <a:buNone/>
            </a:pPr>
            <a:r>
              <a:rPr sz="1200" b="0">
                <a:solidFill>
                  <a:srgbClr val="1E1E1E"/>
                </a:solidFill>
                <a:latin typeface="Arial"/>
                <a:ea typeface="Arial"/>
                <a:cs typeface="Arial"/>
              </a:rPr>
              <a:t>Incident history and the maintenance records engineers enter</a:t>
            </a:r>
          </a:p>
        </p:txBody>
      </p:sp>
      <p:sp>
        <p:nvSpPr>
          <p:cNvPr id="114" name="Connector 113">
            <a:extLst xmlns:a="http://schemas.openxmlformats.org/drawingml/2006/main">
              <a:ext uri="{FF2B5EF4-FFF2-40B4-BE49-F238E27FC236}">
                <a16:creationId xmlns:a16="http://schemas.microsoft.com/office/drawing/2014/main" id="{BDA9BB68-6AD3-4BD9-BD6C-1DF989D70FD3}"/>
              </a:ext>
            </a:extLst>
          </p:cNvPr>
          <p:cNvSpPr>
            <a:spLocks xmlns:a="http://schemas.openxmlformats.org/drawingml/2006/main" noGrp="1"/>
          </p:cNvSpPr>
          <p:nvPr/>
        </p:nvSpPr>
        <p:spPr>
          <a:xfrm xmlns:a="http://schemas.openxmlformats.org/drawingml/2006/main">
            <a:off x="4640580" y="3035808"/>
            <a:ext cx="0" cy="557784"/>
          </a:xfrm>
          <a:prstGeom xmlns:a="http://schemas.openxmlformats.org/drawingml/2006/main" prst="line">
            <a:avLst/>
          </a:prstGeom>
          <a:ln xmlns:a="http://schemas.openxmlformats.org/drawingml/2006/main" w="19050">
            <a:solidFill>
              <a:srgbClr val="D46A12"/>
            </a:solidFill>
            <a:headEnd type="triangle" w="med" len="med"/>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5" name="TextBox 114">
            <a:extLst xmlns:a="http://schemas.openxmlformats.org/drawingml/2006/main">
              <a:ext uri="{FF2B5EF4-FFF2-40B4-BE49-F238E27FC236}">
                <a16:creationId xmlns:a16="http://schemas.microsoft.com/office/drawing/2014/main" id="{6EC2D080-4881-4B77-BA60-7831552554F3}"/>
              </a:ext>
            </a:extLst>
          </p:cNvPr>
          <p:cNvSpPr>
            <a:spLocks xmlns:a="http://schemas.openxmlformats.org/drawingml/2006/main" noGrp="1"/>
          </p:cNvSpPr>
          <p:nvPr/>
        </p:nvSpPr>
        <p:spPr>
          <a:xfrm xmlns:a="http://schemas.openxmlformats.org/drawingml/2006/main">
            <a:off x="4750308" y="320040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50" b="0">
                <a:solidFill>
                  <a:srgbClr val="555555"/>
                </a:solidFill>
                <a:latin typeface="Arial"/>
                <a:ea typeface="Arial"/>
                <a:cs typeface="Arial"/>
              </a:rPr>
              <a:t>REST requests</a:t>
            </a:r>
          </a:p>
          <a:p xmlns:a="http://schemas.openxmlformats.org/drawingml/2006/main">
            <a:pPr algn="l">
              <a:spcBef>
                <a:spcPts val="100"/>
              </a:spcBef>
              <a:buNone/>
            </a:pPr>
            <a:r>
              <a:rPr sz="1050" b="1">
                <a:solidFill>
                  <a:srgbClr val="D46A12"/>
                </a:solidFill>
                <a:latin typeface="Arial"/>
                <a:ea typeface="Arial"/>
                <a:cs typeface="Arial"/>
              </a:rPr>
              <a:t>SSE replay stream</a:t>
            </a:r>
          </a:p>
        </p:txBody>
      </p:sp>
      <p:sp>
        <p:nvSpPr>
          <p:cNvPr id="116" name="Connector 115">
            <a:extLst xmlns:a="http://schemas.openxmlformats.org/drawingml/2006/main">
              <a:ext uri="{FF2B5EF4-FFF2-40B4-BE49-F238E27FC236}">
                <a16:creationId xmlns:a16="http://schemas.microsoft.com/office/drawing/2014/main" id="{59407F1C-DD7D-4DAB-BBDF-B898171B2FC2}"/>
              </a:ext>
            </a:extLst>
          </p:cNvPr>
          <p:cNvSpPr>
            <a:spLocks xmlns:a="http://schemas.openxmlformats.org/drawingml/2006/main" noGrp="1"/>
          </p:cNvSpPr>
          <p:nvPr/>
        </p:nvSpPr>
        <p:spPr>
          <a:xfrm xmlns:a="http://schemas.openxmlformats.org/drawingml/2006/main">
            <a:off x="10584180" y="3035808"/>
            <a:ext cx="0" cy="557784"/>
          </a:xfrm>
          <a:prstGeom xmlns:a="http://schemas.openxmlformats.org/drawingml/2006/main" prst="line">
            <a:avLst/>
          </a:prstGeom>
          <a:ln xmlns:a="http://schemas.openxmlformats.org/drawingml/2006/main" w="19050">
            <a:solidFill>
              <a:srgbClr val="D46A12"/>
            </a:solidFill>
            <a:headEnd type="triangle" w="med" len="med"/>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7" name="Rectangle 116">
            <a:extLst xmlns:a="http://schemas.openxmlformats.org/drawingml/2006/main">
              <a:ext uri="{FF2B5EF4-FFF2-40B4-BE49-F238E27FC236}">
                <a16:creationId xmlns:a16="http://schemas.microsoft.com/office/drawing/2014/main" id="{81C9A0A9-76D2-4A0E-9DBF-940CF8CAD19A}"/>
              </a:ext>
            </a:extLst>
          </p:cNvPr>
          <p:cNvSpPr>
            <a:spLocks xmlns:a="http://schemas.openxmlformats.org/drawingml/2006/main" noGrp="1"/>
          </p:cNvSpPr>
          <p:nvPr/>
        </p:nvSpPr>
        <p:spPr>
          <a:xfrm xmlns:a="http://schemas.openxmlformats.org/drawingml/2006/main">
            <a:off x="548640" y="5303520"/>
            <a:ext cx="11155680" cy="64008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TextBox 117">
            <a:extLst xmlns:a="http://schemas.openxmlformats.org/drawingml/2006/main">
              <a:ext uri="{FF2B5EF4-FFF2-40B4-BE49-F238E27FC236}">
                <a16:creationId xmlns:a16="http://schemas.microsoft.com/office/drawing/2014/main" id="{CBA498FB-B97C-4793-9F8B-BBACF76CA4C0}"/>
              </a:ext>
            </a:extLst>
          </p:cNvPr>
          <p:cNvSpPr>
            <a:spLocks xmlns:a="http://schemas.openxmlformats.org/drawingml/2006/main" noGrp="1"/>
          </p:cNvSpPr>
          <p:nvPr/>
        </p:nvSpPr>
        <p:spPr>
          <a:xfrm xmlns:a="http://schemas.openxmlformats.org/drawingml/2006/main">
            <a:off x="713232" y="530352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D46A12"/>
                </a:solidFill>
                <a:latin typeface="Arial"/>
                <a:ea typeface="Arial"/>
                <a:cs typeface="Arial"/>
              </a:rPr>
              <a:t>Sensor integration needs a gateway adapter, timestamp/unit validation and field calibration. The separated input boundary supports that future work. No live gateway is connected today.</a:t>
            </a:r>
          </a:p>
        </p:txBody>
      </p:sp>
    </p:spTree>
    <p:extLst>
      <p:ext uri="{BB962C8B-B14F-4D97-AF65-F5344CB8AC3E}">
        <p14:creationId xmlns:p14="http://schemas.microsoft.com/office/powerpoint/2010/main" val="16312173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795ABAB2-9A93-72A7-6045-5DF0F90AFD15}"/>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66EE0A98-957F-369F-D02C-AA5F33A9A0AC}"/>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4AEBAB46-86EE-B353-81E6-E8B97F66F780}"/>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474363EA-34C2-203F-C926-3732D11DFEFC}"/>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46674497-D707-CDB6-F923-7D81AB596F50}"/>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ED6CF46D-B529-3028-6863-A8DDE759CC4C}"/>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46E1FA91-F9C7-501F-8CC7-0BAE788DC666}"/>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F59A8CA3-8649-E276-627C-257B9E8CA18B}"/>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0A87C427-1001-07A1-A182-8E1A8B705D02}"/>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0250FA19-DEBB-B1C1-DB92-5C7E25FC1F61}"/>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3E2E5292-0C8C-EC99-6924-7C4771498A2F}"/>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CC12BB1D-7E4C-DBD0-22CF-E1D6D9CD3AB4}"/>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E06118EA-B030-6191-CE1C-3CA49CA5624D}"/>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BBD7D928-A5BF-7EB7-AD82-151FA2E0D8F2}"/>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163A63D5-7BE6-4A88-4CE1-CA02D373CF54}"/>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C218C25E-8400-8717-B8A7-19A81FAE7BBE}"/>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9B73D78A-877E-B2DA-1340-1C1FC49606B7}"/>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A666DE98-FBFA-4E91-4DBD-5F41E1487AD8}"/>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39916DE0-09F2-94EA-49B4-49A856CDD53B}"/>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91F148E5-F64D-FAE2-8C2F-5DFAFF3EDC9B}"/>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18F6154E-9E6B-0DFF-B379-F055860F7FB8}"/>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D64BFAA0-529F-C6B8-EF99-DDEB7419CC73}"/>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02C39899-8D11-628D-3AAD-F687C01697D1}"/>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CDE26581-05A7-C2DD-E133-FADF5A3376B8}"/>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A5E21F2F-A939-1C2A-7721-9363B26AA0F3}"/>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04B03A8F-61CB-779A-1162-EA600D208ECC}"/>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ED15B6F8-6178-50B7-19D3-8A120E89142E}"/>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7C0866F3-DFBE-F9EF-D3B2-33B92C0B8C4D}"/>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EE5200D3-2AFE-7674-BE53-B2F0A9F57732}"/>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CD72D789-E880-E10C-8FD7-46E4A7122F12}"/>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321A5D66-AA89-7FFD-7273-055D7E810F47}"/>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4CD981D9-4F72-3EDD-698E-FB2CC04257B7}"/>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A7343851-33E9-5C75-9A45-C874D4B4A770}"/>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B30B9F7B-3FD3-12CD-96D8-71C43F54907B}"/>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C9FFC6B9-29B2-557C-27F8-23949A16498E}"/>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2EC6A8B0-9DAA-2343-E861-ECCDA5BBC2BC}"/>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B0EA78A4-35E4-19CF-4D3A-AFC118DE65D9}"/>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DCA6DE6F-A851-928C-EFFD-187D19FC95BB}"/>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AF24C236-BE0B-93CD-AF69-1152E19517CF}"/>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CBC9FF6E-5FD4-C8D7-AC59-846B67317D42}"/>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81652A07-1057-3689-EB43-52C62240216F}"/>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05E11F9B-F431-1169-CB74-ADD038B66C9C}"/>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E10BB336-04C3-2B19-FD91-E409E12625C8}"/>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A1B60917-7655-DFB3-D176-EC3D70C8F5DC}"/>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5B279641-6627-B56A-E498-0A0FB6AF5881}"/>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2E93E8F1-4F2F-461D-81D9-D3B46A1DF822}"/>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7B7EE696-727A-FF09-5B4C-EFD3B3AC7790}"/>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C892E8E5-8020-AC0D-172F-E6B984F3DCDA}"/>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517A5D82-7541-E78E-1030-EB0C1DC40FA0}"/>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89E09CE6-73FF-1407-2B8D-9D8CE695031C}"/>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B0B10F29-1593-F2D0-6F75-C6FB2C56EF2F}"/>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E19AFBC2-CCB6-45CF-8830-2FF7AC26276F}"/>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42466DFC-A79C-283D-3DF0-B9D63A4BF8AC}"/>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40847A95-2427-A662-C4FF-B2CA467B6A4D}"/>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70FE6072-98D9-3C3C-0AE3-CCEA34990DC1}"/>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BCA571F3-DB2C-68A6-8C6B-B7E1237D454F}"/>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8AFBB209-F633-4B66-F46D-4F9CF1D4FFAB}"/>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2E7035FC-1402-0C27-826C-9473FFB69475}"/>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12FD36DD-AA0D-1D86-DB6F-87BFB7B11951}"/>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8791E4C4-9D55-22A7-8D68-1A5BC7C69A68}"/>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6DCCFE44-6041-8008-4288-C056D47F10B6}"/>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DEE0E9B2-CF19-A7AC-E470-92E1DE2C8DF2}"/>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43C78A0F-E971-F1F1-4C20-EE16B9D110FA}"/>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98764254-1EFC-D520-1F00-9DDA45A1E749}"/>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7AFA98DC-C35A-3967-BCF9-C930EDD2D56F}"/>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8EA948D5-4361-6797-ACFD-282448892491}"/>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DD775EA2-8B73-7F67-087A-B21D8CA98DE1}"/>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3" name="Picture 2">
            <a:extLst xmlns:a="http://schemas.openxmlformats.org/drawingml/2006/main">
              <a:ext uri="{FF2B5EF4-FFF2-40B4-BE49-F238E27FC236}">
                <a16:creationId xmlns:a16="http://schemas.microsoft.com/office/drawing/2014/main" id="{113EF893-E5DC-4088-BD0F-1139910FCE25}"/>
              </a:ext>
            </a:extLst>
          </p:cNvPr>
          <p:cNvPicPr>
            <a:picLocks xmlns:a="http://schemas.openxmlformats.org/drawingml/2006/main" noChangeAspect="1"/>
          </p:cNvPicPr>
          <p:nvPr/>
        </p:nvPicPr>
        <p:blipFill>
          <a:blip xmlns:r="http://schemas.openxmlformats.org/officeDocument/2006/relationships" xmlns:a="http://schemas.openxmlformats.org/drawingml/2006/main" r:embed="Ra1040f0d99424c05"/>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AD326792-80CF-4AE5-94D3-A2D1ECE0978C}"/>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Thermal inference uses expected behaviour</a:t>
            </a:r>
          </a:p>
        </p:txBody>
      </p:sp>
      <p:sp>
        <p:nvSpPr>
          <p:cNvPr id="91" name="Subtitle">
            <a:extLst xmlns:a="http://schemas.openxmlformats.org/drawingml/2006/main">
              <a:ext uri="{FF2B5EF4-FFF2-40B4-BE49-F238E27FC236}">
                <a16:creationId xmlns:a16="http://schemas.microsoft.com/office/drawing/2014/main" id="{33985008-548F-436C-8A1F-BE47DBC4F2FC}"/>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The 100-kVA thermal head compares actual oil with a commissioned first-order thermal expectation.</a:t>
            </a:r>
          </a:p>
        </p:txBody>
      </p:sp>
      <p:sp>
        <p:nvSpPr>
          <p:cNvPr id="92" name="Connector 91">
            <a:extLst xmlns:a="http://schemas.openxmlformats.org/drawingml/2006/main">
              <a:ext uri="{FF2B5EF4-FFF2-40B4-BE49-F238E27FC236}">
                <a16:creationId xmlns:a16="http://schemas.microsoft.com/office/drawing/2014/main" id="{7B03D6FF-19BF-4632-9F99-972B06D6EA04}"/>
              </a:ext>
            </a:extLst>
          </p:cNvPr>
          <p:cNvSpPr>
            <a:spLocks xmlns:a="http://schemas.openxmlformats.org/drawingml/2006/main" noGrp="1"/>
          </p:cNvSpPr>
          <p:nvPr/>
        </p:nvSpPr>
        <p:spPr>
          <a:xfrm xmlns:a="http://schemas.openxmlformats.org/drawingml/2006/main">
            <a:off x="548640" y="6117336"/>
            <a:ext cx="11155680" cy="0"/>
          </a:xfrm>
          <a:prstGeom xmlns:a="http://schemas.openxmlformats.org/drawingml/2006/main" prst="line">
            <a:avLst/>
          </a:prstGeom>
          <a:ln xmlns:a="http://schemas.openxmlformats.org/drawingml/2006/main" w="9525">
            <a:solidFill>
              <a:srgbClr val="BDBD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3" name="Footer">
            <a:extLst xmlns:a="http://schemas.openxmlformats.org/drawingml/2006/main">
              <a:ext uri="{FF2B5EF4-FFF2-40B4-BE49-F238E27FC236}">
                <a16:creationId xmlns:a16="http://schemas.microsoft.com/office/drawing/2014/main" id="{ACEBDA1E-BDBD-4398-A59D-F88C7FDB4110}"/>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64538B58-5F60-4D28-9183-53647CDEE457}"/>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04 / 10</a:t>
            </a:r>
          </a:p>
        </p:txBody>
      </p:sp>
      <p:sp>
        <p:nvSpPr>
          <p:cNvPr id="95" name="Rectangle 94">
            <a:extLst xmlns:a="http://schemas.openxmlformats.org/drawingml/2006/main">
              <a:ext uri="{FF2B5EF4-FFF2-40B4-BE49-F238E27FC236}">
                <a16:creationId xmlns:a16="http://schemas.microsoft.com/office/drawing/2014/main" id="{337F2C03-F2FD-45D7-A52F-169BD305C66F}"/>
              </a:ext>
            </a:extLst>
          </p:cNvPr>
          <p:cNvSpPr>
            <a:spLocks xmlns:a="http://schemas.openxmlformats.org/drawingml/2006/main" noGrp="1"/>
          </p:cNvSpPr>
          <p:nvPr/>
        </p:nvSpPr>
        <p:spPr>
          <a:xfrm xmlns:a="http://schemas.openxmlformats.org/drawingml/2006/main">
            <a:off x="548640" y="1463040"/>
            <a:ext cx="2011680" cy="114300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TextBox 95">
            <a:extLst xmlns:a="http://schemas.openxmlformats.org/drawingml/2006/main">
              <a:ext uri="{FF2B5EF4-FFF2-40B4-BE49-F238E27FC236}">
                <a16:creationId xmlns:a16="http://schemas.microsoft.com/office/drawing/2014/main" id="{4B5BFF89-29F0-4C51-8D01-423460419F54}"/>
              </a:ext>
            </a:extLst>
          </p:cNvPr>
          <p:cNvSpPr>
            <a:spLocks xmlns:a="http://schemas.openxmlformats.org/drawingml/2006/main" noGrp="1"/>
          </p:cNvSpPr>
          <p:nvPr/>
        </p:nvSpPr>
        <p:spPr>
          <a:xfrm xmlns:a="http://schemas.openxmlformats.org/drawingml/2006/main">
            <a:off x="685800" y="1572768"/>
            <a:ext cx="1737360" cy="92354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1  MEASURE</a:t>
            </a:r>
          </a:p>
          <a:p xmlns:a="http://schemas.openxmlformats.org/drawingml/2006/main">
            <a:pPr algn="l">
              <a:spcBef>
                <a:spcPts val="400"/>
              </a:spcBef>
              <a:buNone/>
            </a:pPr>
            <a:r>
              <a:rPr sz="1150" b="0">
                <a:solidFill>
                  <a:srgbClr val="1E1E1E"/>
                </a:solidFill>
                <a:latin typeface="Arial"/>
                <a:ea typeface="Arial"/>
                <a:cs typeface="Arial"/>
              </a:rPr>
              <a:t>3-phase voltage and current, ambient, top-oil</a:t>
            </a:r>
          </a:p>
        </p:txBody>
      </p:sp>
      <p:sp>
        <p:nvSpPr>
          <p:cNvPr id="97" name="Connector 96">
            <a:extLst xmlns:a="http://schemas.openxmlformats.org/drawingml/2006/main">
              <a:ext uri="{FF2B5EF4-FFF2-40B4-BE49-F238E27FC236}">
                <a16:creationId xmlns:a16="http://schemas.microsoft.com/office/drawing/2014/main" id="{FC9EFD07-626C-45EB-96A3-ABAAC7E83D56}"/>
              </a:ext>
            </a:extLst>
          </p:cNvPr>
          <p:cNvSpPr>
            <a:spLocks xmlns:a="http://schemas.openxmlformats.org/drawingml/2006/main" noGrp="1"/>
          </p:cNvSpPr>
          <p:nvPr/>
        </p:nvSpPr>
        <p:spPr>
          <a:xfrm xmlns:a="http://schemas.openxmlformats.org/drawingml/2006/main">
            <a:off x="2569464" y="2029968"/>
            <a:ext cx="256032" cy="0"/>
          </a:xfrm>
          <a:prstGeom xmlns:a="http://schemas.openxmlformats.org/drawingml/2006/main" prst="line">
            <a:avLst/>
          </a:prstGeom>
          <a:ln xmlns:a="http://schemas.openxmlformats.org/drawingml/2006/main" w="15875">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8" name="Rectangle 97">
            <a:extLst xmlns:a="http://schemas.openxmlformats.org/drawingml/2006/main">
              <a:ext uri="{FF2B5EF4-FFF2-40B4-BE49-F238E27FC236}">
                <a16:creationId xmlns:a16="http://schemas.microsoft.com/office/drawing/2014/main" id="{3DA9E8AD-D34D-4D15-8038-55E85893D1C1}"/>
              </a:ext>
            </a:extLst>
          </p:cNvPr>
          <p:cNvSpPr>
            <a:spLocks xmlns:a="http://schemas.openxmlformats.org/drawingml/2006/main" noGrp="1"/>
          </p:cNvSpPr>
          <p:nvPr/>
        </p:nvSpPr>
        <p:spPr>
          <a:xfrm xmlns:a="http://schemas.openxmlformats.org/drawingml/2006/main">
            <a:off x="2834640" y="1463040"/>
            <a:ext cx="2011680" cy="114300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TextBox 98">
            <a:extLst xmlns:a="http://schemas.openxmlformats.org/drawingml/2006/main">
              <a:ext uri="{FF2B5EF4-FFF2-40B4-BE49-F238E27FC236}">
                <a16:creationId xmlns:a16="http://schemas.microsoft.com/office/drawing/2014/main" id="{547ADA58-CD66-4837-B2C7-E1E964726E10}"/>
              </a:ext>
            </a:extLst>
          </p:cNvPr>
          <p:cNvSpPr>
            <a:spLocks xmlns:a="http://schemas.openxmlformats.org/drawingml/2006/main" noGrp="1"/>
          </p:cNvSpPr>
          <p:nvPr/>
        </p:nvSpPr>
        <p:spPr>
          <a:xfrm xmlns:a="http://schemas.openxmlformats.org/drawingml/2006/main">
            <a:off x="2971800" y="1572768"/>
            <a:ext cx="1737360" cy="92354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2  EXPECT</a:t>
            </a:r>
          </a:p>
          <a:p xmlns:a="http://schemas.openxmlformats.org/drawingml/2006/main">
            <a:pPr algn="l">
              <a:spcBef>
                <a:spcPts val="400"/>
              </a:spcBef>
              <a:buNone/>
            </a:pPr>
            <a:r>
              <a:rPr sz="1150" b="0">
                <a:solidFill>
                  <a:srgbClr val="1E1E1E"/>
                </a:solidFill>
                <a:latin typeface="Arial"/>
                <a:ea typeface="Arial"/>
                <a:cs typeface="Arial"/>
              </a:rPr>
              <a:t>First-order top-oil model, calibrated per asset</a:t>
            </a:r>
          </a:p>
        </p:txBody>
      </p:sp>
      <p:sp>
        <p:nvSpPr>
          <p:cNvPr id="100" name="Connector 99">
            <a:extLst xmlns:a="http://schemas.openxmlformats.org/drawingml/2006/main">
              <a:ext uri="{FF2B5EF4-FFF2-40B4-BE49-F238E27FC236}">
                <a16:creationId xmlns:a16="http://schemas.microsoft.com/office/drawing/2014/main" id="{13E23228-2206-42BB-A4D0-E7E36ABD770D}"/>
              </a:ext>
            </a:extLst>
          </p:cNvPr>
          <p:cNvSpPr>
            <a:spLocks xmlns:a="http://schemas.openxmlformats.org/drawingml/2006/main" noGrp="1"/>
          </p:cNvSpPr>
          <p:nvPr/>
        </p:nvSpPr>
        <p:spPr>
          <a:xfrm xmlns:a="http://schemas.openxmlformats.org/drawingml/2006/main">
            <a:off x="4855464" y="2029968"/>
            <a:ext cx="256032" cy="0"/>
          </a:xfrm>
          <a:prstGeom xmlns:a="http://schemas.openxmlformats.org/drawingml/2006/main" prst="line">
            <a:avLst/>
          </a:prstGeom>
          <a:ln xmlns:a="http://schemas.openxmlformats.org/drawingml/2006/main" w="15875">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1" name="Rectangle 100">
            <a:extLst xmlns:a="http://schemas.openxmlformats.org/drawingml/2006/main">
              <a:ext uri="{FF2B5EF4-FFF2-40B4-BE49-F238E27FC236}">
                <a16:creationId xmlns:a16="http://schemas.microsoft.com/office/drawing/2014/main" id="{B0EE6ECE-9985-4FA0-B719-6746396FBD74}"/>
              </a:ext>
            </a:extLst>
          </p:cNvPr>
          <p:cNvSpPr>
            <a:spLocks xmlns:a="http://schemas.openxmlformats.org/drawingml/2006/main" noGrp="1"/>
          </p:cNvSpPr>
          <p:nvPr/>
        </p:nvSpPr>
        <p:spPr>
          <a:xfrm xmlns:a="http://schemas.openxmlformats.org/drawingml/2006/main">
            <a:off x="5120640" y="1463040"/>
            <a:ext cx="2011680" cy="114300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TextBox 101">
            <a:extLst xmlns:a="http://schemas.openxmlformats.org/drawingml/2006/main">
              <a:ext uri="{FF2B5EF4-FFF2-40B4-BE49-F238E27FC236}">
                <a16:creationId xmlns:a16="http://schemas.microsoft.com/office/drawing/2014/main" id="{3D58F13A-ADED-44F3-B524-A148C2E0EC31}"/>
              </a:ext>
            </a:extLst>
          </p:cNvPr>
          <p:cNvSpPr>
            <a:spLocks xmlns:a="http://schemas.openxmlformats.org/drawingml/2006/main" noGrp="1"/>
          </p:cNvSpPr>
          <p:nvPr/>
        </p:nvSpPr>
        <p:spPr>
          <a:xfrm xmlns:a="http://schemas.openxmlformats.org/drawingml/2006/main">
            <a:off x="5257800" y="1572768"/>
            <a:ext cx="1737360" cy="92354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3  RESIDUAL</a:t>
            </a:r>
          </a:p>
          <a:p xmlns:a="http://schemas.openxmlformats.org/drawingml/2006/main">
            <a:pPr algn="l">
              <a:spcBef>
                <a:spcPts val="400"/>
              </a:spcBef>
              <a:buNone/>
            </a:pPr>
            <a:r>
              <a:rPr sz="1150" b="0">
                <a:solidFill>
                  <a:srgbClr val="1E1E1E"/>
                </a:solidFill>
                <a:latin typeface="Arial"/>
                <a:ea typeface="Arial"/>
                <a:cs typeface="Arial"/>
              </a:rPr>
              <a:t>Actual minus expected, past readings only</a:t>
            </a:r>
          </a:p>
        </p:txBody>
      </p:sp>
      <p:sp>
        <p:nvSpPr>
          <p:cNvPr id="103" name="Connector 102">
            <a:extLst xmlns:a="http://schemas.openxmlformats.org/drawingml/2006/main">
              <a:ext uri="{FF2B5EF4-FFF2-40B4-BE49-F238E27FC236}">
                <a16:creationId xmlns:a16="http://schemas.microsoft.com/office/drawing/2014/main" id="{C867EFFC-4AB7-4339-AA42-5FEF691694B3}"/>
              </a:ext>
            </a:extLst>
          </p:cNvPr>
          <p:cNvSpPr>
            <a:spLocks xmlns:a="http://schemas.openxmlformats.org/drawingml/2006/main" noGrp="1"/>
          </p:cNvSpPr>
          <p:nvPr/>
        </p:nvSpPr>
        <p:spPr>
          <a:xfrm xmlns:a="http://schemas.openxmlformats.org/drawingml/2006/main">
            <a:off x="7141464" y="2029968"/>
            <a:ext cx="256032" cy="0"/>
          </a:xfrm>
          <a:prstGeom xmlns:a="http://schemas.openxmlformats.org/drawingml/2006/main" prst="line">
            <a:avLst/>
          </a:prstGeom>
          <a:ln xmlns:a="http://schemas.openxmlformats.org/drawingml/2006/main" w="15875">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4" name="Rectangle 103">
            <a:extLst xmlns:a="http://schemas.openxmlformats.org/drawingml/2006/main">
              <a:ext uri="{FF2B5EF4-FFF2-40B4-BE49-F238E27FC236}">
                <a16:creationId xmlns:a16="http://schemas.microsoft.com/office/drawing/2014/main" id="{110F55BD-1942-4C47-A015-3E7B20EECC1E}"/>
              </a:ext>
            </a:extLst>
          </p:cNvPr>
          <p:cNvSpPr>
            <a:spLocks xmlns:a="http://schemas.openxmlformats.org/drawingml/2006/main" noGrp="1"/>
          </p:cNvSpPr>
          <p:nvPr/>
        </p:nvSpPr>
        <p:spPr>
          <a:xfrm xmlns:a="http://schemas.openxmlformats.org/drawingml/2006/main">
            <a:off x="7406640" y="1463040"/>
            <a:ext cx="2011680" cy="114300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TextBox 104">
            <a:extLst xmlns:a="http://schemas.openxmlformats.org/drawingml/2006/main">
              <a:ext uri="{FF2B5EF4-FFF2-40B4-BE49-F238E27FC236}">
                <a16:creationId xmlns:a16="http://schemas.microsoft.com/office/drawing/2014/main" id="{537E172D-618B-4DDB-8314-381D7AE2FF74}"/>
              </a:ext>
            </a:extLst>
          </p:cNvPr>
          <p:cNvSpPr>
            <a:spLocks xmlns:a="http://schemas.openxmlformats.org/drawingml/2006/main" noGrp="1"/>
          </p:cNvSpPr>
          <p:nvPr/>
        </p:nvSpPr>
        <p:spPr>
          <a:xfrm xmlns:a="http://schemas.openxmlformats.org/drawingml/2006/main">
            <a:off x="7543800" y="1572768"/>
            <a:ext cx="1737360" cy="7950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4  CLASSIFY</a:t>
            </a:r>
          </a:p>
          <a:p xmlns:a="http://schemas.openxmlformats.org/drawingml/2006/main">
            <a:pPr algn="l">
              <a:spcBef>
                <a:spcPts val="400"/>
              </a:spcBef>
              <a:buNone/>
            </a:pPr>
            <a:r>
              <a:rPr sz="1150" b="0">
                <a:solidFill>
                  <a:srgbClr val="1E1E1E"/>
                </a:solidFill>
                <a:latin typeface="Arial"/>
                <a:ea typeface="Arial"/>
                <a:cs typeface="Arial"/>
              </a:rPr>
              <a:t>Thermal Logistic Regression</a:t>
            </a:r>
          </a:p>
          <a:p xmlns:a="http://schemas.openxmlformats.org/drawingml/2006/main">
            <a:pPr algn="l">
              <a:spcBef>
                <a:spcPts val="400"/>
              </a:spcBef>
              <a:buNone/>
            </a:pPr>
            <a:r>
              <a:rPr sz="1150" b="0">
                <a:solidFill>
                  <a:srgbClr val="1E1E1E"/>
                </a:solidFill>
                <a:latin typeface="Arial"/>
                <a:ea typeface="Arial"/>
                <a:cs typeface="Arial"/>
              </a:rPr>
              <a:t>Four residual features</a:t>
            </a:r>
          </a:p>
        </p:txBody>
      </p:sp>
      <p:sp>
        <p:nvSpPr>
          <p:cNvPr id="106" name="Connector 105">
            <a:extLst xmlns:a="http://schemas.openxmlformats.org/drawingml/2006/main">
              <a:ext uri="{FF2B5EF4-FFF2-40B4-BE49-F238E27FC236}">
                <a16:creationId xmlns:a16="http://schemas.microsoft.com/office/drawing/2014/main" id="{A9980249-13D8-4350-B625-A532726C08EE}"/>
              </a:ext>
            </a:extLst>
          </p:cNvPr>
          <p:cNvSpPr>
            <a:spLocks xmlns:a="http://schemas.openxmlformats.org/drawingml/2006/main" noGrp="1"/>
          </p:cNvSpPr>
          <p:nvPr/>
        </p:nvSpPr>
        <p:spPr>
          <a:xfrm xmlns:a="http://schemas.openxmlformats.org/drawingml/2006/main">
            <a:off x="9427464" y="2029968"/>
            <a:ext cx="256032" cy="0"/>
          </a:xfrm>
          <a:prstGeom xmlns:a="http://schemas.openxmlformats.org/drawingml/2006/main" prst="line">
            <a:avLst/>
          </a:prstGeom>
          <a:ln xmlns:a="http://schemas.openxmlformats.org/drawingml/2006/main" w="15875">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7" name="Rectangle 106">
            <a:extLst xmlns:a="http://schemas.openxmlformats.org/drawingml/2006/main">
              <a:ext uri="{FF2B5EF4-FFF2-40B4-BE49-F238E27FC236}">
                <a16:creationId xmlns:a16="http://schemas.microsoft.com/office/drawing/2014/main" id="{D15E3931-6827-4587-AF2B-D4B75A3E115A}"/>
              </a:ext>
            </a:extLst>
          </p:cNvPr>
          <p:cNvSpPr>
            <a:spLocks xmlns:a="http://schemas.openxmlformats.org/drawingml/2006/main" noGrp="1"/>
          </p:cNvSpPr>
          <p:nvPr/>
        </p:nvSpPr>
        <p:spPr>
          <a:xfrm xmlns:a="http://schemas.openxmlformats.org/drawingml/2006/main">
            <a:off x="9692640" y="1463040"/>
            <a:ext cx="2011680" cy="114300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TextBox 107">
            <a:extLst xmlns:a="http://schemas.openxmlformats.org/drawingml/2006/main">
              <a:ext uri="{FF2B5EF4-FFF2-40B4-BE49-F238E27FC236}">
                <a16:creationId xmlns:a16="http://schemas.microsoft.com/office/drawing/2014/main" id="{8B452CAD-0253-4DD5-BE4D-379C82423071}"/>
              </a:ext>
            </a:extLst>
          </p:cNvPr>
          <p:cNvSpPr>
            <a:spLocks xmlns:a="http://schemas.openxmlformats.org/drawingml/2006/main" noGrp="1"/>
          </p:cNvSpPr>
          <p:nvPr/>
        </p:nvSpPr>
        <p:spPr>
          <a:xfrm xmlns:a="http://schemas.openxmlformats.org/drawingml/2006/main">
            <a:off x="9829800" y="1572768"/>
            <a:ext cx="1737360" cy="92354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5  ASSESS</a:t>
            </a:r>
          </a:p>
          <a:p xmlns:a="http://schemas.openxmlformats.org/drawingml/2006/main">
            <a:pPr algn="l">
              <a:spcBef>
                <a:spcPts val="400"/>
              </a:spcBef>
              <a:buNone/>
            </a:pPr>
            <a:r>
              <a:rPr sz="1150" b="0">
                <a:solidFill>
                  <a:srgbClr val="1E1E1E"/>
                </a:solidFill>
                <a:latin typeface="Arial"/>
                <a:ea typeface="Arial"/>
                <a:cs typeface="Arial"/>
              </a:rPr>
              <a:t>Health Index, confidence, or "not assessed"</a:t>
            </a:r>
          </a:p>
        </p:txBody>
      </p:sp>
      <p:sp>
        <p:nvSpPr>
          <p:cNvPr id="109" name="Rectangle 108">
            <a:extLst xmlns:a="http://schemas.openxmlformats.org/drawingml/2006/main">
              <a:ext uri="{FF2B5EF4-FFF2-40B4-BE49-F238E27FC236}">
                <a16:creationId xmlns:a16="http://schemas.microsoft.com/office/drawing/2014/main" id="{B79A9296-F65E-4D4B-A678-C7B884B0B569}"/>
              </a:ext>
            </a:extLst>
          </p:cNvPr>
          <p:cNvSpPr>
            <a:spLocks xmlns:a="http://schemas.openxmlformats.org/drawingml/2006/main" noGrp="1"/>
          </p:cNvSpPr>
          <p:nvPr/>
        </p:nvSpPr>
        <p:spPr>
          <a:xfrm xmlns:a="http://schemas.openxmlformats.org/drawingml/2006/main">
            <a:off x="548640" y="2788920"/>
            <a:ext cx="6583680" cy="3200400"/>
          </a:xfrm>
          <a:prstGeom xmlns:a="http://schemas.openxmlformats.org/drawingml/2006/main" prst="rect">
            <a:avLst/>
          </a:prstGeom>
          <a:solidFill xmlns:a="http://schemas.openxmlformats.org/drawingml/2006/main">
            <a:srgbClr val="FFFFFF"/>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TextBox 110">
            <a:extLst xmlns:a="http://schemas.openxmlformats.org/drawingml/2006/main">
              <a:ext uri="{FF2B5EF4-FFF2-40B4-BE49-F238E27FC236}">
                <a16:creationId xmlns:a16="http://schemas.microsoft.com/office/drawing/2014/main" id="{B5C110F9-DEA8-445B-BA64-428325BBE9DD}"/>
              </a:ext>
            </a:extLst>
          </p:cNvPr>
          <p:cNvSpPr>
            <a:spLocks xmlns:a="http://schemas.openxmlformats.org/drawingml/2006/main" noGrp="1"/>
          </p:cNvSpPr>
          <p:nvPr/>
        </p:nvSpPr>
        <p:spPr>
          <a:xfrm xmlns:a="http://schemas.openxmlformats.org/drawingml/2006/main">
            <a:off x="731520" y="2880360"/>
            <a:ext cx="4206240" cy="1600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50" b="1">
                <a:solidFill>
                  <a:srgbClr val="D46A12"/>
                </a:solidFill>
                <a:latin typeface="Arial"/>
                <a:ea typeface="Arial"/>
                <a:cs typeface="Arial"/>
              </a:rPr>
              <a:t>100-kVA DEMO   10 FEB 2026   FIVE-MINUTE READINGS</a:t>
            </a:r>
          </a:p>
        </p:txBody>
      </p:sp>
      <p:sp>
        <p:nvSpPr>
          <p:cNvPr id="112" name="TextBox 111">
            <a:extLst xmlns:a="http://schemas.openxmlformats.org/drawingml/2006/main">
              <a:ext uri="{FF2B5EF4-FFF2-40B4-BE49-F238E27FC236}">
                <a16:creationId xmlns:a16="http://schemas.microsoft.com/office/drawing/2014/main" id="{091843C0-58B4-4A60-AEA9-0CF6ACFE831B}"/>
              </a:ext>
            </a:extLst>
          </p:cNvPr>
          <p:cNvSpPr>
            <a:spLocks xmlns:a="http://schemas.openxmlformats.org/drawingml/2006/main" noGrp="1"/>
          </p:cNvSpPr>
          <p:nvPr/>
        </p:nvSpPr>
        <p:spPr>
          <a:xfrm xmlns:a="http://schemas.openxmlformats.org/drawingml/2006/main">
            <a:off x="742950" y="3067050"/>
            <a:ext cx="6000750" cy="15209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defPPr>
              <a:defRPr sz="998">
                <a:solidFill>
                  <a:srgbClr val="555555"/>
                </a:solidFill>
              </a:defRPr>
            </a:defPPr>
          </a:lstStyle>
          <a:p xmlns:a="http://schemas.openxmlformats.org/drawingml/2006/main">
            <a:pPr algn="r">
              <a:buNone/>
              <a:defRPr sz="998">
                <a:solidFill>
                  <a:srgbClr val="555555"/>
                </a:solidFill>
              </a:defRPr>
            </a:pPr>
            <a:r>
              <a:rPr sz="998" b="1">
                <a:solidFill>
                  <a:srgbClr val="555555"/>
                </a:solidFill>
                <a:latin typeface="Arial"/>
                <a:ea typeface="Arial"/>
                <a:cs typeface="Arial"/>
              </a:rPr>
              <a:t>All 288 native readings on 10 February. Actual oil stays about 11 °C above expected.</a:t>
            </a:r>
          </a:p>
        </p:txBody>
      </p:sp>
      <p:sp>
        <p:nvSpPr>
          <p:cNvPr id="113" name="Rectangle 112">
            <a:extLst xmlns:a="http://schemas.openxmlformats.org/drawingml/2006/main">
              <a:ext uri="{FF2B5EF4-FFF2-40B4-BE49-F238E27FC236}">
                <a16:creationId xmlns:a16="http://schemas.microsoft.com/office/drawing/2014/main" id="{CA3B103E-0E65-43A3-ACF3-64AAFA5B242B}"/>
              </a:ext>
            </a:extLst>
          </p:cNvPr>
          <p:cNvSpPr>
            <a:spLocks xmlns:a="http://schemas.openxmlformats.org/drawingml/2006/main" noGrp="1"/>
          </p:cNvSpPr>
          <p:nvPr/>
        </p:nvSpPr>
        <p:spPr>
          <a:xfrm xmlns:a="http://schemas.openxmlformats.org/drawingml/2006/main">
            <a:off x="7360920" y="2788920"/>
            <a:ext cx="4343400" cy="155448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TextBox 113">
            <a:extLst xmlns:a="http://schemas.openxmlformats.org/drawingml/2006/main">
              <a:ext uri="{FF2B5EF4-FFF2-40B4-BE49-F238E27FC236}">
                <a16:creationId xmlns:a16="http://schemas.microsoft.com/office/drawing/2014/main" id="{456AD868-C45A-4F9D-8013-5531AB8DE4AC}"/>
              </a:ext>
            </a:extLst>
          </p:cNvPr>
          <p:cNvSpPr>
            <a:spLocks xmlns:a="http://schemas.openxmlformats.org/drawingml/2006/main" noGrp="1"/>
          </p:cNvSpPr>
          <p:nvPr/>
        </p:nvSpPr>
        <p:spPr>
          <a:xfrm xmlns:a="http://schemas.openxmlformats.org/drawingml/2006/main">
            <a:off x="7498080" y="2898648"/>
            <a:ext cx="4069080"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THE FOUR RESIDUAL FEATURES</a:t>
            </a:r>
          </a:p>
          <a:p xmlns:a="http://schemas.openxmlformats.org/drawingml/2006/main">
            <a:pPr algn="l">
              <a:spcBef>
                <a:spcPts val="400"/>
              </a:spcBef>
              <a:buNone/>
            </a:pPr>
            <a:r>
              <a:rPr sz="1300" b="0">
                <a:solidFill>
                  <a:srgbClr val="1E1E1E"/>
                </a:solidFill>
                <a:latin typeface="Arial"/>
                <a:ea typeface="Arial"/>
                <a:cs typeface="Arial"/>
              </a:rPr>
              <a:t>Residual now</a:t>
            </a:r>
          </a:p>
          <a:p xmlns:a="http://schemas.openxmlformats.org/drawingml/2006/main">
            <a:pPr algn="l">
              <a:spcBef>
                <a:spcPts val="400"/>
              </a:spcBef>
              <a:buNone/>
            </a:pPr>
            <a:r>
              <a:rPr sz="1300" b="0">
                <a:solidFill>
                  <a:srgbClr val="1E1E1E"/>
                </a:solidFill>
                <a:latin typeface="Arial"/>
                <a:ea typeface="Arial"/>
                <a:cs typeface="Arial"/>
              </a:rPr>
              <a:t>Mean of last 30 min and last 60 min</a:t>
            </a:r>
          </a:p>
          <a:p xmlns:a="http://schemas.openxmlformats.org/drawingml/2006/main">
            <a:pPr algn="l">
              <a:spcBef>
                <a:spcPts val="400"/>
              </a:spcBef>
              <a:buNone/>
            </a:pPr>
            <a:r>
              <a:rPr sz="1300" b="0">
                <a:solidFill>
                  <a:srgbClr val="1E1E1E"/>
                </a:solidFill>
                <a:latin typeface="Arial"/>
                <a:ea typeface="Arial"/>
                <a:cs typeface="Arial"/>
              </a:rPr>
              <a:t>Change over the last 30 min</a:t>
            </a:r>
          </a:p>
          <a:p xmlns:a="http://schemas.openxmlformats.org/drawingml/2006/main">
            <a:pPr algn="l">
              <a:spcBef>
                <a:spcPts val="400"/>
              </a:spcBef>
              <a:buNone/>
            </a:pPr>
            <a:r>
              <a:rPr sz="1150" b="0">
                <a:solidFill>
                  <a:srgbClr val="555555"/>
                </a:solidFill>
                <a:latin typeface="Arial"/>
                <a:ea typeface="Arial"/>
                <a:cs typeface="Arial"/>
              </a:rPr>
              <a:t>Only past readings are used (causal).</a:t>
            </a:r>
          </a:p>
        </p:txBody>
      </p:sp>
      <p:sp>
        <p:nvSpPr>
          <p:cNvPr id="115" name="Rectangle 114">
            <a:extLst xmlns:a="http://schemas.openxmlformats.org/drawingml/2006/main">
              <a:ext uri="{FF2B5EF4-FFF2-40B4-BE49-F238E27FC236}">
                <a16:creationId xmlns:a16="http://schemas.microsoft.com/office/drawing/2014/main" id="{0B0EA269-9967-405B-B209-D7C349AE556F}"/>
              </a:ext>
            </a:extLst>
          </p:cNvPr>
          <p:cNvSpPr>
            <a:spLocks xmlns:a="http://schemas.openxmlformats.org/drawingml/2006/main" noGrp="1"/>
          </p:cNvSpPr>
          <p:nvPr/>
        </p:nvSpPr>
        <p:spPr>
          <a:xfrm xmlns:a="http://schemas.openxmlformats.org/drawingml/2006/main">
            <a:off x="7360920" y="4480560"/>
            <a:ext cx="4343400" cy="15087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3A257F13-D672-4439-A9BB-6CB593CBA836}"/>
              </a:ext>
            </a:extLst>
          </p:cNvPr>
          <p:cNvSpPr>
            <a:spLocks xmlns:a="http://schemas.openxmlformats.org/drawingml/2006/main" noGrp="1"/>
          </p:cNvSpPr>
          <p:nvPr/>
        </p:nvSpPr>
        <p:spPr>
          <a:xfrm xmlns:a="http://schemas.openxmlformats.org/drawingml/2006/main">
            <a:off x="7498080" y="4590288"/>
            <a:ext cx="4069080" cy="1016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PARALLEL CHECKS</a:t>
            </a:r>
          </a:p>
          <a:p xmlns:a="http://schemas.openxmlformats.org/drawingml/2006/main">
            <a:pPr algn="l">
              <a:spcBef>
                <a:spcPts val="400"/>
              </a:spcBef>
              <a:buNone/>
            </a:pPr>
            <a:r>
              <a:rPr sz="1300" b="0">
                <a:solidFill>
                  <a:srgbClr val="1E1E1E"/>
                </a:solidFill>
                <a:latin typeface="Arial"/>
                <a:ea typeface="Arial"/>
                <a:cs typeface="Arial"/>
              </a:rPr>
              <a:t>Separate oil and R-terminal LR heads. Electrical rules check phase loading, undervoltage and imbalance.</a:t>
            </a:r>
          </a:p>
          <a:p xmlns:a="http://schemas.openxmlformats.org/drawingml/2006/main">
            <a:pPr algn="l">
              <a:spcBef>
                <a:spcPts val="400"/>
              </a:spcBef>
              <a:buNone/>
            </a:pPr>
            <a:r>
              <a:rPr sz="1150" b="0">
                <a:solidFill>
                  <a:srgbClr val="555555"/>
                </a:solidFill>
                <a:latin typeface="Arial"/>
                <a:ea typeface="Arial"/>
                <a:cs typeface="Arial"/>
              </a:rPr>
              <a:t>Health/risk publish every 24 rows. Warm-up and missing evidence stay explicit.</a:t>
            </a:r>
          </a:p>
        </p:txBody>
      </p:sp>
      <p:graphicFrame>
        <p:nvGraphicFramePr>
          <p:cNvPr id="117" name="Chart">
            <a:extLst xmlns:a="http://schemas.openxmlformats.org/drawingml/2006/main">
              <a:ext uri="{FF2B5EF4-FFF2-40B4-BE49-F238E27FC236}">
                <a16:creationId xmlns:a16="http://schemas.microsoft.com/office/drawing/2014/main" id="{52A80564-A135-4278-A00A-964198B3C7FE}"/>
              </a:ext>
            </a:extLst>
          </p:cNvPr>
          <p:cNvGraphicFramePr/>
          <p:nvPr/>
        </p:nvGraphicFramePr>
        <p:xfrm>
          <a:off xmlns:a="http://schemas.openxmlformats.org/drawingml/2006/main" x="640080" y="3267075"/>
          <a:ext xmlns:a="http://schemas.openxmlformats.org/drawingml/2006/main" cx="6400800" cy="2647950"/>
        </p:xfrm>
        <a:graphic xmlns:a="http://schemas.openxmlformats.org/drawingml/2006/main">
          <a:graphicData uri="http://schemas.openxmlformats.org/drawingml/2006/chart">
            <c:chart xmlns:r="http://schemas.openxmlformats.org/officeDocument/2006/relationships" xmlns:c="http://schemas.openxmlformats.org/drawingml/2006/chart" r:id="Rffb8f6394f074427"/>
          </a:graphicData>
        </a:graphic>
      </p:graphicFrame>
    </p:spTree>
    <p:extLst>
      <p:ext uri="{BB962C8B-B14F-4D97-AF65-F5344CB8AC3E}">
        <p14:creationId xmlns:p14="http://schemas.microsoft.com/office/powerpoint/2010/main" val="20691677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43DD26CC-6B1A-8ED9-B417-B76DF0F8B9D9}"/>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96DCED97-15D2-4D2F-7D65-8AE06DCF75B2}"/>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0BC633F7-C5D9-D601-1014-7281DF1C574C}"/>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658F2CA2-C899-8A15-C4ED-6D4DBA18A6FA}"/>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328CC072-E252-115B-206A-E78C2EC55042}"/>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79D69AF9-FB42-D6A7-961D-053EAEEB606C}"/>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2B823715-089B-D5D6-A474-5A0820699DEA}"/>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A0CB54F7-A25C-F2A0-9381-055733FE3920}"/>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6C976ACC-CD5E-0F65-E65F-3E99D1EDD23F}"/>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AE6E6807-665C-9D2D-F03A-20CE895CD305}"/>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A14E2960-80BE-C8C5-A8B2-062FDE8188FC}"/>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E7326F10-B00D-9654-8E7D-4C6617771FFB}"/>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F97E741B-EDDD-88B2-1E75-DD278C1CC4EA}"/>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E1F09A69-FE04-BE4C-8526-D8185638378C}"/>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C498F1DC-B989-8904-AC10-2CD71924E090}"/>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A5F8487C-A72E-DEF8-2312-480C686917D1}"/>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099012DC-344F-2C67-784B-4BFC78FE7FFB}"/>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E801D8F0-2A3F-34DB-0FD1-277479238409}"/>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5C2BCA09-0884-D9B3-9D85-019492DC7D5A}"/>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3F439B70-E545-053D-01D7-29AB86B07C9A}"/>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7C927D0A-A571-02F9-82CE-AD5E7BB38DEB}"/>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DDB92B1B-6A69-2F46-D961-5D132CA2DE18}"/>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151C1BF1-9DAF-0E90-76A7-D05F152CCB31}"/>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5D62A7F7-0FEB-6EAD-6E29-072FCE25836D}"/>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76CD8A25-27C7-0E9B-F7A1-AEA2DDCABBA7}"/>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5FD86665-B4B0-B2C1-87EB-F5F1AE71B808}"/>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DE4F2A3F-3E98-A4AC-152A-A942A18F06A2}"/>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4BF13F6F-2ABC-0FCA-AA4C-0A590F591D99}"/>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BDC54CA6-D5C4-BFC1-DC9D-8A9BFF7F6EC5}"/>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0A150A86-4A0A-FE72-B798-618A26CCD1F4}"/>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E0361463-BE0A-FF7E-0045-7CA6E4DA42B3}"/>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B2B83319-20D9-951A-DF4F-8601AD32CB30}"/>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1A90D281-DC6A-6431-355F-7877737D986E}"/>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5D9CB772-CCCB-87AE-152B-CA0475E2DA31}"/>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7530899D-797A-AF3D-6F57-08F4D255357F}"/>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8D0E307B-D9D5-6C03-7B81-D4F5F5248A85}"/>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58794294-CD42-B76D-3FA1-6F6C85B73A3A}"/>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DFE85614-8174-7ECD-6B6F-69D68AC2B290}"/>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DD8F4219-7D85-BAC6-FE5B-7768B13D33DC}"/>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A2AA7F78-A69C-47C0-0D2D-0C4566ED6CAC}"/>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945F8DCB-1E8A-8109-7CB5-2C0B172944AB}"/>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874B652A-867D-26CE-8813-B49A5217832A}"/>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A3977082-288A-BA77-224D-3CAE9B84BA79}"/>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3416DBD4-1003-02B0-6F74-19D905A6EAED}"/>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6798E3C7-6B3D-4F9A-D271-64F78DAE8FD2}"/>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515171A2-D577-C415-4DD7-F9E10FB94F22}"/>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EB540B74-ABE9-9AD7-667E-907F42352C0E}"/>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CC32795B-E7F1-453B-7A85-9A60C7A83705}"/>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C69733B6-06F3-8F0F-E58B-E24B1EE303B2}"/>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ACABB04B-82B6-A202-DFB5-E6BD31FBDCFC}"/>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2573D0B2-CCFB-8740-B205-D08F8CB7F0AE}"/>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FB3B0746-1FE1-9FD4-167D-C2E30DE6E0AB}"/>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B7BAD3B0-83D9-A3D3-6EC5-12382C4BD8FD}"/>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8B342DA6-716E-0101-C63C-46370243BD73}"/>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1CCF8913-CA8E-7649-8E0F-14F1CE071E02}"/>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EAE00500-5DAF-4521-657F-5020D818F4AD}"/>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C210D5D8-62B8-674A-9149-1137973C5167}"/>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1387224F-C3C9-98B6-59F4-0CF11DE9DA3A}"/>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0E3D4FBD-5CBC-E374-FA2B-8632DF80BA35}"/>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5A49D352-A526-D554-960C-1F1416CB7CA5}"/>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F49B5211-DA1F-C7AC-7A10-D0AE39350AF3}"/>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B7E676C3-EA48-00B6-6217-6039A98752D3}"/>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F628F7BA-0C21-5588-F1FB-E3C1EBBF8ABA}"/>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1A509F4E-1116-321B-4649-CB2706B5F850}"/>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D0A0FBFE-D885-F79A-F92F-E9CCD1DB51EF}"/>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2C38208E-A4AA-E55D-0868-0B4F8867F4AA}"/>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0B033725-F14F-9DC5-58EE-5D692BAE58DB}"/>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3" name="Picture 2">
            <a:extLst xmlns:a="http://schemas.openxmlformats.org/drawingml/2006/main">
              <a:ext uri="{FF2B5EF4-FFF2-40B4-BE49-F238E27FC236}">
                <a16:creationId xmlns:a16="http://schemas.microsoft.com/office/drawing/2014/main" id="{3C24F380-0E31-42AF-98B5-C3968C65D9BD}"/>
              </a:ext>
            </a:extLst>
          </p:cNvPr>
          <p:cNvPicPr>
            <a:picLocks xmlns:a="http://schemas.openxmlformats.org/drawingml/2006/main" noChangeAspect="1"/>
          </p:cNvPicPr>
          <p:nvPr/>
        </p:nvPicPr>
        <p:blipFill>
          <a:blip xmlns:r="http://schemas.openxmlformats.org/officeDocument/2006/relationships" xmlns:a="http://schemas.openxmlformats.org/drawingml/2006/main" r:embed="R9aa2bfa0f32d4fd9"/>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D6AE8D5A-2BBF-4568-B694-F4FB452DBE41}"/>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Synthetic data and independent replays</a:t>
            </a:r>
          </a:p>
        </p:txBody>
      </p:sp>
      <p:sp>
        <p:nvSpPr>
          <p:cNvPr id="91" name="Subtitle">
            <a:extLst xmlns:a="http://schemas.openxmlformats.org/drawingml/2006/main">
              <a:ext uri="{FF2B5EF4-FFF2-40B4-BE49-F238E27FC236}">
                <a16:creationId xmlns:a16="http://schemas.microsoft.com/office/drawing/2014/main" id="{59CAFAC2-52CF-4A1B-87BB-5A727F3E8F6D}"/>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580,608 original monitoring rows plus 4,032 demo rows = 584,640 available replay rows.</a:t>
            </a:r>
          </a:p>
        </p:txBody>
      </p:sp>
      <p:sp>
        <p:nvSpPr>
          <p:cNvPr id="92" name="Connector 91">
            <a:extLst xmlns:a="http://schemas.openxmlformats.org/drawingml/2006/main">
              <a:ext uri="{FF2B5EF4-FFF2-40B4-BE49-F238E27FC236}">
                <a16:creationId xmlns:a16="http://schemas.microsoft.com/office/drawing/2014/main" id="{B7F7FADB-59EB-4A95-9741-FE9D733D39BA}"/>
              </a:ext>
            </a:extLst>
          </p:cNvPr>
          <p:cNvSpPr>
            <a:spLocks xmlns:a="http://schemas.openxmlformats.org/drawingml/2006/main" noGrp="1"/>
          </p:cNvSpPr>
          <p:nvPr/>
        </p:nvSpPr>
        <p:spPr>
          <a:xfrm xmlns:a="http://schemas.openxmlformats.org/drawingml/2006/main">
            <a:off x="548640" y="6117336"/>
            <a:ext cx="11155680" cy="0"/>
          </a:xfrm>
          <a:prstGeom xmlns:a="http://schemas.openxmlformats.org/drawingml/2006/main" prst="line">
            <a:avLst/>
          </a:prstGeom>
          <a:ln xmlns:a="http://schemas.openxmlformats.org/drawingml/2006/main" w="9525">
            <a:solidFill>
              <a:srgbClr val="BDBD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3" name="Footer">
            <a:extLst xmlns:a="http://schemas.openxmlformats.org/drawingml/2006/main">
              <a:ext uri="{FF2B5EF4-FFF2-40B4-BE49-F238E27FC236}">
                <a16:creationId xmlns:a16="http://schemas.microsoft.com/office/drawing/2014/main" id="{DB7195B1-590B-47D6-994E-A19C7B0B8007}"/>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56C57FF8-DC6B-4F2B-8C2F-B98558F54859}"/>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05 / 10</a:t>
            </a:r>
          </a:p>
        </p:txBody>
      </p:sp>
      <p:sp>
        <p:nvSpPr>
          <p:cNvPr id="95" name="Rectangle 94">
            <a:extLst xmlns:a="http://schemas.openxmlformats.org/drawingml/2006/main">
              <a:ext uri="{FF2B5EF4-FFF2-40B4-BE49-F238E27FC236}">
                <a16:creationId xmlns:a16="http://schemas.microsoft.com/office/drawing/2014/main" id="{F21A2C93-536D-43D8-890B-4E14CAAFD6FA}"/>
              </a:ext>
            </a:extLst>
          </p:cNvPr>
          <p:cNvSpPr>
            <a:spLocks xmlns:a="http://schemas.openxmlformats.org/drawingml/2006/main" noGrp="1"/>
          </p:cNvSpPr>
          <p:nvPr/>
        </p:nvSpPr>
        <p:spPr>
          <a:xfrm xmlns:a="http://schemas.openxmlformats.org/drawingml/2006/main">
            <a:off x="548640" y="1508760"/>
            <a:ext cx="3611880" cy="192024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TextBox 95">
            <a:extLst xmlns:a="http://schemas.openxmlformats.org/drawingml/2006/main">
              <a:ext uri="{FF2B5EF4-FFF2-40B4-BE49-F238E27FC236}">
                <a16:creationId xmlns:a16="http://schemas.microsoft.com/office/drawing/2014/main" id="{50C7E30E-C664-4843-B7B1-89A4EF6F0FA4}"/>
              </a:ext>
            </a:extLst>
          </p:cNvPr>
          <p:cNvSpPr>
            <a:spLocks xmlns:a="http://schemas.openxmlformats.org/drawingml/2006/main" noGrp="1"/>
          </p:cNvSpPr>
          <p:nvPr/>
        </p:nvSpPr>
        <p:spPr>
          <a:xfrm xmlns:a="http://schemas.openxmlformats.org/drawingml/2006/main">
            <a:off x="731520" y="1627632"/>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800" b="1">
                <a:solidFill>
                  <a:srgbClr val="1E1E1E"/>
                </a:solidFill>
                <a:latin typeface="Arial"/>
                <a:ea typeface="Arial"/>
                <a:cs typeface="Arial"/>
              </a:rPr>
              <a:t>100 kVA</a:t>
            </a:r>
          </a:p>
        </p:txBody>
      </p:sp>
      <p:sp>
        <p:nvSpPr>
          <p:cNvPr id="97" name="TextBox 96">
            <a:extLst xmlns:a="http://schemas.openxmlformats.org/drawingml/2006/main">
              <a:ext uri="{FF2B5EF4-FFF2-40B4-BE49-F238E27FC236}">
                <a16:creationId xmlns:a16="http://schemas.microsoft.com/office/drawing/2014/main" id="{03925E5F-01EE-431F-94A3-8768FA43CAC8}"/>
              </a:ext>
            </a:extLst>
          </p:cNvPr>
          <p:cNvSpPr>
            <a:spLocks xmlns:a="http://schemas.openxmlformats.org/drawingml/2006/main" noGrp="1"/>
          </p:cNvSpPr>
          <p:nvPr/>
        </p:nvSpPr>
        <p:spPr>
          <a:xfrm xmlns:a="http://schemas.openxmlformats.org/drawingml/2006/main">
            <a:off x="2743200" y="168249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50" b="1">
                <a:solidFill>
                  <a:srgbClr val="D46A12"/>
                </a:solidFill>
                <a:latin typeface="Arial"/>
                <a:ea typeface="Arial"/>
                <a:cs typeface="Arial"/>
              </a:rPr>
              <a:t>FLAGSHIP</a:t>
            </a:r>
          </a:p>
        </p:txBody>
      </p:sp>
      <p:sp>
        <p:nvSpPr>
          <p:cNvPr id="98" name="TextBox 97">
            <a:extLst xmlns:a="http://schemas.openxmlformats.org/drawingml/2006/main">
              <a:ext uri="{FF2B5EF4-FFF2-40B4-BE49-F238E27FC236}">
                <a16:creationId xmlns:a16="http://schemas.microsoft.com/office/drawing/2014/main" id="{9108EC3F-F9B9-42FC-9F97-B38FA661AD30}"/>
              </a:ext>
            </a:extLst>
          </p:cNvPr>
          <p:cNvSpPr>
            <a:spLocks xmlns:a="http://schemas.openxmlformats.org/drawingml/2006/main" noGrp="1"/>
          </p:cNvSpPr>
          <p:nvPr/>
        </p:nvSpPr>
        <p:spPr>
          <a:xfrm xmlns:a="http://schemas.openxmlformats.org/drawingml/2006/main">
            <a:off x="731520" y="2011680"/>
            <a:ext cx="329184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4000" b="1">
                <a:solidFill>
                  <a:srgbClr val="D46A12"/>
                </a:solidFill>
                <a:latin typeface="Arial"/>
                <a:ea typeface="Arial"/>
                <a:cs typeface="Arial"/>
              </a:rPr>
              <a:t>245,952</a:t>
            </a:r>
          </a:p>
        </p:txBody>
      </p:sp>
      <p:sp>
        <p:nvSpPr>
          <p:cNvPr id="99" name="TextBox 98">
            <a:extLst xmlns:a="http://schemas.openxmlformats.org/drawingml/2006/main">
              <a:ext uri="{FF2B5EF4-FFF2-40B4-BE49-F238E27FC236}">
                <a16:creationId xmlns:a16="http://schemas.microsoft.com/office/drawing/2014/main" id="{2A20BCF9-64CE-4B59-8F56-AD6467719CC0}"/>
              </a:ext>
            </a:extLst>
          </p:cNvPr>
          <p:cNvSpPr>
            <a:spLocks xmlns:a="http://schemas.openxmlformats.org/drawingml/2006/main" noGrp="1"/>
          </p:cNvSpPr>
          <p:nvPr/>
        </p:nvSpPr>
        <p:spPr>
          <a:xfrm xmlns:a="http://schemas.openxmlformats.org/drawingml/2006/main">
            <a:off x="731520" y="2724912"/>
            <a:ext cx="3291840" cy="3886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60 original replays + 1 demo</a:t>
            </a:r>
          </a:p>
          <a:p xmlns:a="http://schemas.openxmlformats.org/drawingml/2006/main">
            <a:pPr algn="l">
              <a:spcBef>
                <a:spcPts val="300"/>
              </a:spcBef>
              <a:buNone/>
            </a:pPr>
            <a:r>
              <a:rPr sz="1100" b="0">
                <a:solidFill>
                  <a:srgbClr val="555555"/>
                </a:solidFill>
                <a:latin typeface="Arial"/>
                <a:ea typeface="Arial"/>
                <a:cs typeface="Arial"/>
              </a:rPr>
              <a:t>4,032 rows each, 14 days</a:t>
            </a:r>
          </a:p>
        </p:txBody>
      </p:sp>
      <p:sp>
        <p:nvSpPr>
          <p:cNvPr id="100" name="Rectangle 99">
            <a:extLst xmlns:a="http://schemas.openxmlformats.org/drawingml/2006/main">
              <a:ext uri="{FF2B5EF4-FFF2-40B4-BE49-F238E27FC236}">
                <a16:creationId xmlns:a16="http://schemas.microsoft.com/office/drawing/2014/main" id="{836C99E7-5D01-4680-BC09-ECF8F72C1E43}"/>
              </a:ext>
            </a:extLst>
          </p:cNvPr>
          <p:cNvSpPr>
            <a:spLocks xmlns:a="http://schemas.openxmlformats.org/drawingml/2006/main" noGrp="1"/>
          </p:cNvSpPr>
          <p:nvPr/>
        </p:nvSpPr>
        <p:spPr>
          <a:xfrm xmlns:a="http://schemas.openxmlformats.org/drawingml/2006/main">
            <a:off x="4320540" y="1508760"/>
            <a:ext cx="3611880" cy="19202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TextBox 100">
            <a:extLst xmlns:a="http://schemas.openxmlformats.org/drawingml/2006/main">
              <a:ext uri="{FF2B5EF4-FFF2-40B4-BE49-F238E27FC236}">
                <a16:creationId xmlns:a16="http://schemas.microsoft.com/office/drawing/2014/main" id="{9F6ED06B-E20A-4CAD-ADAC-8CA73683C5E8}"/>
              </a:ext>
            </a:extLst>
          </p:cNvPr>
          <p:cNvSpPr>
            <a:spLocks xmlns:a="http://schemas.openxmlformats.org/drawingml/2006/main" noGrp="1"/>
          </p:cNvSpPr>
          <p:nvPr/>
        </p:nvSpPr>
        <p:spPr>
          <a:xfrm xmlns:a="http://schemas.openxmlformats.org/drawingml/2006/main">
            <a:off x="4503420" y="1627632"/>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800" b="1">
                <a:solidFill>
                  <a:srgbClr val="1E1E1E"/>
                </a:solidFill>
                <a:latin typeface="Arial"/>
                <a:ea typeface="Arial"/>
                <a:cs typeface="Arial"/>
              </a:rPr>
              <a:t>250 kVA</a:t>
            </a:r>
          </a:p>
        </p:txBody>
      </p:sp>
      <p:sp>
        <p:nvSpPr>
          <p:cNvPr id="102" name="TextBox 101">
            <a:extLst xmlns:a="http://schemas.openxmlformats.org/drawingml/2006/main">
              <a:ext uri="{FF2B5EF4-FFF2-40B4-BE49-F238E27FC236}">
                <a16:creationId xmlns:a16="http://schemas.microsoft.com/office/drawing/2014/main" id="{7AB40AEB-C0F4-4AC0-938C-EBC299EC0E12}"/>
              </a:ext>
            </a:extLst>
          </p:cNvPr>
          <p:cNvSpPr>
            <a:spLocks xmlns:a="http://schemas.openxmlformats.org/drawingml/2006/main" noGrp="1"/>
          </p:cNvSpPr>
          <p:nvPr/>
        </p:nvSpPr>
        <p:spPr>
          <a:xfrm xmlns:a="http://schemas.openxmlformats.org/drawingml/2006/main">
            <a:off x="4503420" y="2011680"/>
            <a:ext cx="3291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4000" b="1">
                <a:solidFill>
                  <a:srgbClr val="D46A12"/>
                </a:solidFill>
                <a:latin typeface="Arial"/>
                <a:ea typeface="Arial"/>
                <a:cs typeface="Arial"/>
              </a:rPr>
              <a:t>145,152</a:t>
            </a:r>
          </a:p>
        </p:txBody>
      </p:sp>
      <p:sp>
        <p:nvSpPr>
          <p:cNvPr id="103" name="TextBox 102">
            <a:extLst xmlns:a="http://schemas.openxmlformats.org/drawingml/2006/main">
              <a:ext uri="{FF2B5EF4-FFF2-40B4-BE49-F238E27FC236}">
                <a16:creationId xmlns:a16="http://schemas.microsoft.com/office/drawing/2014/main" id="{BB6D613B-337B-45B7-818C-CDB88468019F}"/>
              </a:ext>
            </a:extLst>
          </p:cNvPr>
          <p:cNvSpPr>
            <a:spLocks xmlns:a="http://schemas.openxmlformats.org/drawingml/2006/main" noGrp="1"/>
          </p:cNvSpPr>
          <p:nvPr/>
        </p:nvSpPr>
        <p:spPr>
          <a:xfrm xmlns:a="http://schemas.openxmlformats.org/drawingml/2006/main">
            <a:off x="4503420" y="2724912"/>
            <a:ext cx="3291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rows  ·  24 replays × 21 days</a:t>
            </a:r>
          </a:p>
          <a:p xmlns:a="http://schemas.openxmlformats.org/drawingml/2006/main">
            <a:pPr algn="l">
              <a:spcBef>
                <a:spcPts val="300"/>
              </a:spcBef>
              <a:buNone/>
            </a:pPr>
            <a:r>
              <a:rPr sz="1100" b="0">
                <a:solidFill>
                  <a:srgbClr val="555555"/>
                </a:solidFill>
                <a:latin typeface="Arial"/>
                <a:ea typeface="Arial"/>
                <a:cs typeface="Arial"/>
              </a:rPr>
              <a:t>5-minute readings, 288 per day</a:t>
            </a:r>
          </a:p>
        </p:txBody>
      </p:sp>
      <p:sp>
        <p:nvSpPr>
          <p:cNvPr id="104" name="Rectangle 103">
            <a:extLst xmlns:a="http://schemas.openxmlformats.org/drawingml/2006/main">
              <a:ext uri="{FF2B5EF4-FFF2-40B4-BE49-F238E27FC236}">
                <a16:creationId xmlns:a16="http://schemas.microsoft.com/office/drawing/2014/main" id="{9800E4AE-A93F-4588-BE28-38C54BA0F444}"/>
              </a:ext>
            </a:extLst>
          </p:cNvPr>
          <p:cNvSpPr>
            <a:spLocks xmlns:a="http://schemas.openxmlformats.org/drawingml/2006/main" noGrp="1"/>
          </p:cNvSpPr>
          <p:nvPr/>
        </p:nvSpPr>
        <p:spPr>
          <a:xfrm xmlns:a="http://schemas.openxmlformats.org/drawingml/2006/main">
            <a:off x="8092440" y="1508760"/>
            <a:ext cx="3611880" cy="19202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TextBox 104">
            <a:extLst xmlns:a="http://schemas.openxmlformats.org/drawingml/2006/main">
              <a:ext uri="{FF2B5EF4-FFF2-40B4-BE49-F238E27FC236}">
                <a16:creationId xmlns:a16="http://schemas.microsoft.com/office/drawing/2014/main" id="{20EDEA13-2EEA-49B5-9FBD-4658818D8368}"/>
              </a:ext>
            </a:extLst>
          </p:cNvPr>
          <p:cNvSpPr>
            <a:spLocks xmlns:a="http://schemas.openxmlformats.org/drawingml/2006/main" noGrp="1"/>
          </p:cNvSpPr>
          <p:nvPr/>
        </p:nvSpPr>
        <p:spPr>
          <a:xfrm xmlns:a="http://schemas.openxmlformats.org/drawingml/2006/main">
            <a:off x="8275319" y="1627632"/>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800" b="1">
                <a:solidFill>
                  <a:srgbClr val="1E1E1E"/>
                </a:solidFill>
                <a:latin typeface="Arial"/>
                <a:ea typeface="Arial"/>
                <a:cs typeface="Arial"/>
              </a:rPr>
              <a:t>630 kVA</a:t>
            </a:r>
          </a:p>
        </p:txBody>
      </p:sp>
      <p:sp>
        <p:nvSpPr>
          <p:cNvPr id="106" name="TextBox 105">
            <a:extLst xmlns:a="http://schemas.openxmlformats.org/drawingml/2006/main">
              <a:ext uri="{FF2B5EF4-FFF2-40B4-BE49-F238E27FC236}">
                <a16:creationId xmlns:a16="http://schemas.microsoft.com/office/drawing/2014/main" id="{C22C28B6-3439-4D1E-A377-7CA05A390B5D}"/>
              </a:ext>
            </a:extLst>
          </p:cNvPr>
          <p:cNvSpPr>
            <a:spLocks xmlns:a="http://schemas.openxmlformats.org/drawingml/2006/main" noGrp="1"/>
          </p:cNvSpPr>
          <p:nvPr/>
        </p:nvSpPr>
        <p:spPr>
          <a:xfrm xmlns:a="http://schemas.openxmlformats.org/drawingml/2006/main">
            <a:off x="8275319" y="2011680"/>
            <a:ext cx="3291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4000" b="1">
                <a:solidFill>
                  <a:srgbClr val="D46A12"/>
                </a:solidFill>
                <a:latin typeface="Arial"/>
                <a:ea typeface="Arial"/>
                <a:cs typeface="Arial"/>
              </a:rPr>
              <a:t>193,536</a:t>
            </a:r>
          </a:p>
        </p:txBody>
      </p:sp>
      <p:sp>
        <p:nvSpPr>
          <p:cNvPr id="107" name="TextBox 106">
            <a:extLst xmlns:a="http://schemas.openxmlformats.org/drawingml/2006/main">
              <a:ext uri="{FF2B5EF4-FFF2-40B4-BE49-F238E27FC236}">
                <a16:creationId xmlns:a16="http://schemas.microsoft.com/office/drawing/2014/main" id="{93097BD0-DFD2-4C03-B8D7-38161062D527}"/>
              </a:ext>
            </a:extLst>
          </p:cNvPr>
          <p:cNvSpPr>
            <a:spLocks xmlns:a="http://schemas.openxmlformats.org/drawingml/2006/main" noGrp="1"/>
          </p:cNvSpPr>
          <p:nvPr/>
        </p:nvSpPr>
        <p:spPr>
          <a:xfrm xmlns:a="http://schemas.openxmlformats.org/drawingml/2006/main">
            <a:off x="8275319" y="2724912"/>
            <a:ext cx="3291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rows  ·  24 replays × 28 days</a:t>
            </a:r>
          </a:p>
          <a:p xmlns:a="http://schemas.openxmlformats.org/drawingml/2006/main">
            <a:pPr algn="l">
              <a:spcBef>
                <a:spcPts val="300"/>
              </a:spcBef>
              <a:buNone/>
            </a:pPr>
            <a:r>
              <a:rPr sz="1100" b="0">
                <a:solidFill>
                  <a:srgbClr val="555555"/>
                </a:solidFill>
                <a:latin typeface="Arial"/>
                <a:ea typeface="Arial"/>
                <a:cs typeface="Arial"/>
              </a:rPr>
              <a:t>5-minute readings, 288 per day</a:t>
            </a:r>
          </a:p>
        </p:txBody>
      </p:sp>
      <p:sp>
        <p:nvSpPr>
          <p:cNvPr id="108" name="Rectangle 107">
            <a:extLst xmlns:a="http://schemas.openxmlformats.org/drawingml/2006/main">
              <a:ext uri="{FF2B5EF4-FFF2-40B4-BE49-F238E27FC236}">
                <a16:creationId xmlns:a16="http://schemas.microsoft.com/office/drawing/2014/main" id="{4113001F-C0F5-4FD9-B70D-7CBA7A2ACD32}"/>
              </a:ext>
            </a:extLst>
          </p:cNvPr>
          <p:cNvSpPr>
            <a:spLocks xmlns:a="http://schemas.openxmlformats.org/drawingml/2006/main" noGrp="1"/>
          </p:cNvSpPr>
          <p:nvPr/>
        </p:nvSpPr>
        <p:spPr>
          <a:xfrm xmlns:a="http://schemas.openxmlformats.org/drawingml/2006/main">
            <a:off x="548640" y="3611880"/>
            <a:ext cx="2651760" cy="23774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TextBox 108">
            <a:extLst xmlns:a="http://schemas.openxmlformats.org/drawingml/2006/main">
              <a:ext uri="{FF2B5EF4-FFF2-40B4-BE49-F238E27FC236}">
                <a16:creationId xmlns:a16="http://schemas.microsoft.com/office/drawing/2014/main" id="{FD4D61E2-DD95-428A-88E6-821C09EC5233}"/>
              </a:ext>
            </a:extLst>
          </p:cNvPr>
          <p:cNvSpPr>
            <a:spLocks xmlns:a="http://schemas.openxmlformats.org/drawingml/2006/main" noGrp="1"/>
          </p:cNvSpPr>
          <p:nvPr/>
        </p:nvSpPr>
        <p:spPr>
          <a:xfrm xmlns:a="http://schemas.openxmlformats.org/drawingml/2006/main">
            <a:off x="685800" y="3721608"/>
            <a:ext cx="2377440" cy="13614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MEASURED CHANNELS</a:t>
            </a:r>
          </a:p>
          <a:p xmlns:a="http://schemas.openxmlformats.org/drawingml/2006/main">
            <a:pPr algn="l">
              <a:spcBef>
                <a:spcPts val="400"/>
              </a:spcBef>
              <a:buNone/>
            </a:pPr>
            <a:r>
              <a:rPr sz="1300" b="0">
                <a:solidFill>
                  <a:srgbClr val="1E1E1E"/>
                </a:solidFill>
                <a:latin typeface="Arial"/>
                <a:ea typeface="Arial"/>
                <a:cs typeface="Arial"/>
              </a:rPr>
              <a:t>Phase voltages and currents</a:t>
            </a:r>
          </a:p>
          <a:p xmlns:a="http://schemas.openxmlformats.org/drawingml/2006/main">
            <a:pPr algn="l">
              <a:spcBef>
                <a:spcPts val="400"/>
              </a:spcBef>
              <a:buNone/>
            </a:pPr>
            <a:r>
              <a:rPr sz="1300" b="0">
                <a:solidFill>
                  <a:srgbClr val="1E1E1E"/>
                </a:solidFill>
                <a:latin typeface="Arial"/>
                <a:ea typeface="Arial"/>
                <a:cs typeface="Arial"/>
              </a:rPr>
              <a:t>Ambient and top-oil temperature</a:t>
            </a:r>
          </a:p>
          <a:p xmlns:a="http://schemas.openxmlformats.org/drawingml/2006/main">
            <a:pPr algn="l">
              <a:spcBef>
                <a:spcPts val="400"/>
              </a:spcBef>
              <a:buNone/>
            </a:pPr>
            <a:r>
              <a:rPr sz="1300" b="0">
                <a:solidFill>
                  <a:srgbClr val="1E1E1E"/>
                </a:solidFill>
                <a:latin typeface="Arial"/>
                <a:ea typeface="Arial"/>
                <a:cs typeface="Arial"/>
              </a:rPr>
              <a:t>Time and availability</a:t>
            </a:r>
          </a:p>
          <a:p xmlns:a="http://schemas.openxmlformats.org/drawingml/2006/main">
            <a:pPr algn="l">
              <a:spcBef>
                <a:spcPts val="400"/>
              </a:spcBef>
              <a:buNone/>
            </a:pPr>
            <a:r>
              <a:rPr sz="1300" b="0">
                <a:solidFill>
                  <a:srgbClr val="1E1E1E"/>
                </a:solidFill>
                <a:latin typeface="Arial"/>
                <a:ea typeface="Arial"/>
                <a:cs typeface="Arial"/>
              </a:rPr>
              <a:t>Optional oil level / R-terminal sensors vary by dataset</a:t>
            </a:r>
          </a:p>
        </p:txBody>
      </p:sp>
      <p:sp>
        <p:nvSpPr>
          <p:cNvPr id="110" name="Rectangle 109">
            <a:extLst xmlns:a="http://schemas.openxmlformats.org/drawingml/2006/main">
              <a:ext uri="{FF2B5EF4-FFF2-40B4-BE49-F238E27FC236}">
                <a16:creationId xmlns:a16="http://schemas.microsoft.com/office/drawing/2014/main" id="{DD6B2E89-B68E-441D-821E-3FF902BAA621}"/>
              </a:ext>
            </a:extLst>
          </p:cNvPr>
          <p:cNvSpPr>
            <a:spLocks xmlns:a="http://schemas.openxmlformats.org/drawingml/2006/main" noGrp="1"/>
          </p:cNvSpPr>
          <p:nvPr/>
        </p:nvSpPr>
        <p:spPr>
          <a:xfrm xmlns:a="http://schemas.openxmlformats.org/drawingml/2006/main">
            <a:off x="3383280" y="3611880"/>
            <a:ext cx="2651760" cy="23774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TextBox 110">
            <a:extLst xmlns:a="http://schemas.openxmlformats.org/drawingml/2006/main">
              <a:ext uri="{FF2B5EF4-FFF2-40B4-BE49-F238E27FC236}">
                <a16:creationId xmlns:a16="http://schemas.microsoft.com/office/drawing/2014/main" id="{3113CA6C-72D6-4C48-8E8A-440135084754}"/>
              </a:ext>
            </a:extLst>
          </p:cNvPr>
          <p:cNvSpPr>
            <a:spLocks xmlns:a="http://schemas.openxmlformats.org/drawingml/2006/main" noGrp="1"/>
          </p:cNvSpPr>
          <p:nvPr/>
        </p:nvSpPr>
        <p:spPr>
          <a:xfrm xmlns:a="http://schemas.openxmlformats.org/drawingml/2006/main">
            <a:off x="3520440" y="3721608"/>
            <a:ext cx="2377440" cy="14071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SEPARATE STORIES</a:t>
            </a:r>
          </a:p>
          <a:p xmlns:a="http://schemas.openxmlformats.org/drawingml/2006/main">
            <a:pPr algn="l">
              <a:spcBef>
                <a:spcPts val="400"/>
              </a:spcBef>
              <a:buNone/>
            </a:pPr>
            <a:r>
              <a:rPr sz="1300" b="0">
                <a:solidFill>
                  <a:srgbClr val="1E1E1E"/>
                </a:solidFill>
                <a:latin typeface="Arial"/>
                <a:ea typeface="Arial"/>
                <a:cs typeface="Arial"/>
              </a:rPr>
              <a:t>Replay IDs identify independent synthetic histories. They do not form one physical asset’s timeline. Training and test files are separate from this replay total.</a:t>
            </a:r>
          </a:p>
        </p:txBody>
      </p:sp>
      <p:sp>
        <p:nvSpPr>
          <p:cNvPr id="112" name="Rectangle 111">
            <a:extLst xmlns:a="http://schemas.openxmlformats.org/drawingml/2006/main">
              <a:ext uri="{FF2B5EF4-FFF2-40B4-BE49-F238E27FC236}">
                <a16:creationId xmlns:a16="http://schemas.microsoft.com/office/drawing/2014/main" id="{779D8142-A625-4DEB-AA85-7BC2FF9066A3}"/>
              </a:ext>
            </a:extLst>
          </p:cNvPr>
          <p:cNvSpPr>
            <a:spLocks xmlns:a="http://schemas.openxmlformats.org/drawingml/2006/main" noGrp="1"/>
          </p:cNvSpPr>
          <p:nvPr/>
        </p:nvSpPr>
        <p:spPr>
          <a:xfrm xmlns:a="http://schemas.openxmlformats.org/drawingml/2006/main">
            <a:off x="6217920" y="3611880"/>
            <a:ext cx="2651760" cy="23774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TextBox 112">
            <a:extLst xmlns:a="http://schemas.openxmlformats.org/drawingml/2006/main">
              <a:ext uri="{FF2B5EF4-FFF2-40B4-BE49-F238E27FC236}">
                <a16:creationId xmlns:a16="http://schemas.microsoft.com/office/drawing/2014/main" id="{ECC49357-7345-443F-9F5F-19CC37006879}"/>
              </a:ext>
            </a:extLst>
          </p:cNvPr>
          <p:cNvSpPr>
            <a:spLocks xmlns:a="http://schemas.openxmlformats.org/drawingml/2006/main" noGrp="1"/>
          </p:cNvSpPr>
          <p:nvPr/>
        </p:nvSpPr>
        <p:spPr>
          <a:xfrm xmlns:a="http://schemas.openxmlformats.org/drawingml/2006/main">
            <a:off x="6355080" y="3721608"/>
            <a:ext cx="2377440" cy="1559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DEMO PROVENANCE</a:t>
            </a:r>
          </a:p>
          <a:p xmlns:a="http://schemas.openxmlformats.org/drawingml/2006/main">
            <a:pPr algn="l">
              <a:spcBef>
                <a:spcPts val="400"/>
              </a:spcBef>
              <a:buNone/>
            </a:pPr>
            <a:r>
              <a:rPr sz="1300" b="0">
                <a:solidFill>
                  <a:srgbClr val="1E1E1E"/>
                </a:solidFill>
                <a:latin typeface="Arial"/>
                <a:ea typeface="Arial"/>
                <a:cs typeface="Arial"/>
              </a:rPr>
              <a:t>1–8 Feb: normal response</a:t>
            </a:r>
          </a:p>
          <a:p xmlns:a="http://schemas.openxmlformats.org/drawingml/2006/main">
            <a:pPr algn="l">
              <a:spcBef>
                <a:spcPts val="400"/>
              </a:spcBef>
              <a:buNone/>
            </a:pPr>
            <a:r>
              <a:rPr sz="1300" b="0">
                <a:solidFill>
                  <a:srgbClr val="1E1E1E"/>
                </a:solidFill>
                <a:latin typeface="Arial"/>
                <a:ea typeface="Arial"/>
                <a:cs typeface="Arial"/>
              </a:rPr>
              <a:t>9–11 Feb: injected heating</a:t>
            </a:r>
          </a:p>
          <a:p xmlns:a="http://schemas.openxmlformats.org/drawingml/2006/main">
            <a:pPr algn="l">
              <a:spcBef>
                <a:spcPts val="400"/>
              </a:spcBef>
              <a:buNone/>
            </a:pPr>
            <a:r>
              <a:rPr sz="1300" b="0">
                <a:solidFill>
                  <a:srgbClr val="1E1E1E"/>
                </a:solidFill>
                <a:latin typeface="Arial"/>
                <a:ea typeface="Arial"/>
                <a:cs typeface="Arial"/>
              </a:rPr>
              <a:t>12–14 Feb: recovery</a:t>
            </a:r>
          </a:p>
          <a:p xmlns:a="http://schemas.openxmlformats.org/drawingml/2006/main">
            <a:pPr algn="l">
              <a:spcBef>
                <a:spcPts val="400"/>
              </a:spcBef>
              <a:buNone/>
            </a:pPr>
            <a:r>
              <a:rPr sz="1300" b="0">
                <a:solidFill>
                  <a:srgbClr val="1E1E1E"/>
                </a:solidFill>
                <a:latin typeface="Arial"/>
                <a:ea typeface="Arial"/>
                <a:cs typeface="Arial"/>
              </a:rPr>
              <a:t>Matched model physics makes this an illustration, not an accuracy benchmark.</a:t>
            </a:r>
          </a:p>
        </p:txBody>
      </p:sp>
      <p:sp>
        <p:nvSpPr>
          <p:cNvPr id="114" name="Rectangle 113">
            <a:extLst xmlns:a="http://schemas.openxmlformats.org/drawingml/2006/main">
              <a:ext uri="{FF2B5EF4-FFF2-40B4-BE49-F238E27FC236}">
                <a16:creationId xmlns:a16="http://schemas.microsoft.com/office/drawing/2014/main" id="{EC207635-0EDD-43AB-B539-B13443A8347A}"/>
              </a:ext>
            </a:extLst>
          </p:cNvPr>
          <p:cNvSpPr>
            <a:spLocks xmlns:a="http://schemas.openxmlformats.org/drawingml/2006/main" noGrp="1"/>
          </p:cNvSpPr>
          <p:nvPr/>
        </p:nvSpPr>
        <p:spPr>
          <a:xfrm xmlns:a="http://schemas.openxmlformats.org/drawingml/2006/main">
            <a:off x="9052560" y="3611880"/>
            <a:ext cx="2651760" cy="23774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TextBox 114">
            <a:extLst xmlns:a="http://schemas.openxmlformats.org/drawingml/2006/main">
              <a:ext uri="{FF2B5EF4-FFF2-40B4-BE49-F238E27FC236}">
                <a16:creationId xmlns:a16="http://schemas.microsoft.com/office/drawing/2014/main" id="{4C1050CE-1ADB-456B-A375-91A0EF33EB27}"/>
              </a:ext>
            </a:extLst>
          </p:cNvPr>
          <p:cNvSpPr>
            <a:spLocks xmlns:a="http://schemas.openxmlformats.org/drawingml/2006/main" noGrp="1"/>
          </p:cNvSpPr>
          <p:nvPr/>
        </p:nvSpPr>
        <p:spPr>
          <a:xfrm xmlns:a="http://schemas.openxmlformats.org/drawingml/2006/main">
            <a:off x="9189720" y="3721608"/>
            <a:ext cx="2377440" cy="1016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NO LABEL LEAKAGE</a:t>
            </a:r>
          </a:p>
          <a:p xmlns:a="http://schemas.openxmlformats.org/drawingml/2006/main">
            <a:pPr algn="l">
              <a:spcBef>
                <a:spcPts val="400"/>
              </a:spcBef>
              <a:buNone/>
            </a:pPr>
            <a:r>
              <a:rPr sz="1300" b="0">
                <a:solidFill>
                  <a:srgbClr val="1E1E1E"/>
                </a:solidFill>
                <a:latin typeface="Arial"/>
                <a:ea typeface="Arial"/>
                <a:cs typeface="Arial"/>
              </a:rPr>
              <a:t>Runtime excludes scenario, truth and latent generator fields.</a:t>
            </a:r>
          </a:p>
          <a:p xmlns:a="http://schemas.openxmlformats.org/drawingml/2006/main">
            <a:pPr algn="l">
              <a:spcBef>
                <a:spcPts val="400"/>
              </a:spcBef>
              <a:buNone/>
            </a:pPr>
            <a:r>
              <a:rPr sz="1150" b="0">
                <a:solidFill>
                  <a:srgbClr val="555555"/>
                </a:solidFill>
                <a:latin typeface="Arial"/>
                <a:ea typeface="Arial"/>
                <a:cs typeface="Arial"/>
              </a:rPr>
              <a:t>The 100-kVA heads use 4 thermal, 8 oil and 5 terminal derived features.</a:t>
            </a:r>
          </a:p>
        </p:txBody>
      </p:sp>
    </p:spTree>
    <p:extLst>
      <p:ext uri="{BB962C8B-B14F-4D97-AF65-F5344CB8AC3E}">
        <p14:creationId xmlns:p14="http://schemas.microsoft.com/office/powerpoint/2010/main" val="24639014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A9149D0F-597E-7102-8A26-F39DB9ABAE75}"/>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D7890E16-8AC3-8625-9AA1-DAC74901D77A}"/>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2A9477E6-1416-FF60-660E-58E4E9B5D942}"/>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C4459416-EBCA-9388-169C-9A4ECB3B5C5B}"/>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B9531EB0-1414-E94A-474B-F09EEF8EC1C7}"/>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FC903810-8B74-A02B-4302-74FE667D5846}"/>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423D6045-7212-37A8-53C2-2F94C60F085F}"/>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8236C147-DF8C-62DE-4A93-E4493F5EEEA7}"/>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5BDBB899-2BD9-69E7-4FC6-77EE75278F84}"/>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59B42370-DFDA-1084-F097-F3C99B9D6793}"/>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0E227D22-736D-E520-6C1B-72967362FA22}"/>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0082E226-D4A5-EBDB-3CCD-256DDFE27208}"/>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6E9A5CC5-EA54-E6F0-21E5-9C2A801F21E1}"/>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C4CE0403-BC0B-D6F3-33DA-221D647A895A}"/>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6EDE9F59-E827-BBCF-910B-06419744A519}"/>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DF544EAC-7FA3-57F4-F200-7F4A9D0C3A14}"/>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E859E322-E887-61FB-36F8-BD3233070F80}"/>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3B19D7E5-A8CF-96A2-4F99-83DB4A99C6CD}"/>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71FBDEB5-6821-CDDC-E0A0-3303FCCB7A3B}"/>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484E4EEB-3D18-FF79-E01D-21730248AA57}"/>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2F269295-7831-B009-648E-C77A2EAB60D0}"/>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A83AAD06-EE49-0BA8-8792-89CD5330C80C}"/>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B2ADF073-1EB3-E2C7-2F98-4603338DDAF4}"/>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FB297613-AE57-5329-58A4-D0351AC11E46}"/>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C58D841E-E831-9E44-9A29-F3B2509508BA}"/>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53EEB4B5-F7A0-2902-9166-876CF25D3023}"/>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F369AA7B-992A-20FD-266B-4DDE3C4B8C16}"/>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07CB79AD-EFE8-0CF3-E18A-A1B4ED2D8965}"/>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47987A4A-DA62-B307-1E02-6A28ABB5005F}"/>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B82D28F5-510D-AE4C-1600-C4FF59049988}"/>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970C4FF3-67E9-9658-C1E9-5E49929577C3}"/>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015DEE25-19E3-95C4-0F28-14A9CE97BB7D}"/>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B305EBA1-2EA0-851E-1DFA-764CD2DE5C3F}"/>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75BE60D6-5D59-8E01-FB16-5D1410DC050C}"/>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7C8063D2-02BE-9B90-F675-DE98E4D3CC97}"/>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8FBB912D-0361-D44F-6DDD-CFEFEFB03BED}"/>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53438249-2C0A-ED6D-E58F-6B6C6ACC2A8C}"/>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54438467-5614-C155-EDBB-5C910D94BB75}"/>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719BE108-4F5D-4AD4-E9D5-0CE639FCA080}"/>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1D1D33C4-D35D-620B-F7BA-3182367ED2EC}"/>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DCD180FF-FE4C-2262-819F-5458217451F1}"/>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AA68AC22-AFC8-7193-7577-0398B229BD72}"/>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535CE3CB-8529-9774-CABB-36FC60860246}"/>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961AE149-1708-0F0B-7723-91644471C7C5}"/>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F68F9D25-D9B3-4297-8EF8-4BFA2883F698}"/>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CB591D10-ED96-0AC9-3395-82EADC0072F3}"/>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7F27F832-B6F3-DBF6-9834-C8C691309B87}"/>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DD1A6EE6-FCF9-A3F4-DE0B-24F0EC5B305E}"/>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FB87D1D6-B3E4-E7ED-9EEE-7C9047C96552}"/>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A5437515-3896-626C-182B-46D31EC7022C}"/>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8EA49664-655B-253B-2A6D-8C8105E2ADBF}"/>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B56D8E58-7391-AC7C-7A57-6F657C2ADE18}"/>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687F8265-70BB-978D-903D-55EDA63C9402}"/>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99E8FD15-7CA2-5842-1870-399588E62C94}"/>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575DA900-1084-2980-3537-0FB857ED4CF9}"/>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69DE0767-C4E4-1BBB-E60C-BFCDA5703827}"/>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F21FCB60-9E29-4402-3518-7D95883E2ABE}"/>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A9E4764E-3B13-ACF4-2C10-2BF9D4F7C154}"/>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6DE82E77-3393-0284-AA8F-E27D9F99FD6B}"/>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CF2BF4DD-B289-E8A6-E9C0-61F016380A8D}"/>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7CE59608-F0B0-6043-D00A-675ACD555475}"/>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9CA074D5-AE5A-6B94-2AE6-E01619A871AE}"/>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71CCBC50-A8F6-B79F-829F-68ABB83EAFFB}"/>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63AC952D-135F-4C43-376A-7C253084E685}"/>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50678004-77BF-D289-5EBD-11E87A7A5F33}"/>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FF62F28F-269E-631F-8374-1F2843D4C378}"/>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AE4CCD0A-F2F7-697D-259C-1083064C52F2}"/>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3" name="Picture 2">
            <a:extLst xmlns:a="http://schemas.openxmlformats.org/drawingml/2006/main">
              <a:ext uri="{FF2B5EF4-FFF2-40B4-BE49-F238E27FC236}">
                <a16:creationId xmlns:a16="http://schemas.microsoft.com/office/drawing/2014/main" id="{FC52F0A0-4ED6-4E34-812E-B9B69BBBD3D5}"/>
              </a:ext>
            </a:extLst>
          </p:cNvPr>
          <p:cNvPicPr>
            <a:picLocks xmlns:a="http://schemas.openxmlformats.org/drawingml/2006/main" noChangeAspect="1"/>
          </p:cNvPicPr>
          <p:nvPr/>
        </p:nvPicPr>
        <p:blipFill>
          <a:blip xmlns:r="http://schemas.openxmlformats.org/officeDocument/2006/relationships" xmlns:a="http://schemas.openxmlformats.org/drawingml/2006/main" r:embed="Rcd656a7d9d30400a"/>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BA4E1246-44E3-414C-91D2-412CC038809B}"/>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Separate runtimes for each rating</a:t>
            </a:r>
          </a:p>
        </p:txBody>
      </p:sp>
      <p:sp>
        <p:nvSpPr>
          <p:cNvPr id="91" name="Subtitle">
            <a:extLst xmlns:a="http://schemas.openxmlformats.org/drawingml/2006/main">
              <a:ext uri="{FF2B5EF4-FFF2-40B4-BE49-F238E27FC236}">
                <a16:creationId xmlns:a16="http://schemas.microsoft.com/office/drawing/2014/main" id="{5DCC220E-B1B7-47F7-BC54-20DE5DF6561A}"/>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100 kVA is the flagship. Rating-specific calibration and runtime contracts remain separate.</a:t>
            </a:r>
          </a:p>
        </p:txBody>
      </p:sp>
      <p:sp>
        <p:nvSpPr>
          <p:cNvPr id="92" name="Connector 91">
            <a:extLst xmlns:a="http://schemas.openxmlformats.org/drawingml/2006/main">
              <a:ext uri="{FF2B5EF4-FFF2-40B4-BE49-F238E27FC236}">
                <a16:creationId xmlns:a16="http://schemas.microsoft.com/office/drawing/2014/main" id="{FDA7B9C1-0BA6-46EB-AF95-390540E9F45B}"/>
              </a:ext>
            </a:extLst>
          </p:cNvPr>
          <p:cNvSpPr>
            <a:spLocks xmlns:a="http://schemas.openxmlformats.org/drawingml/2006/main" noGrp="1"/>
          </p:cNvSpPr>
          <p:nvPr/>
        </p:nvSpPr>
        <p:spPr>
          <a:xfrm xmlns:a="http://schemas.openxmlformats.org/drawingml/2006/main">
            <a:off x="548640" y="6117336"/>
            <a:ext cx="11155680" cy="0"/>
          </a:xfrm>
          <a:prstGeom xmlns:a="http://schemas.openxmlformats.org/drawingml/2006/main" prst="line">
            <a:avLst/>
          </a:prstGeom>
          <a:ln xmlns:a="http://schemas.openxmlformats.org/drawingml/2006/main" w="9525">
            <a:solidFill>
              <a:srgbClr val="BDBD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3" name="Footer">
            <a:extLst xmlns:a="http://schemas.openxmlformats.org/drawingml/2006/main">
              <a:ext uri="{FF2B5EF4-FFF2-40B4-BE49-F238E27FC236}">
                <a16:creationId xmlns:a16="http://schemas.microsoft.com/office/drawing/2014/main" id="{C09157A8-817B-4AE3-886A-54C3F680CA93}"/>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09350CF0-9682-49CE-A663-8C5D7E1D5F28}"/>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06 / 10</a:t>
            </a:r>
          </a:p>
        </p:txBody>
      </p:sp>
      <p:sp>
        <p:nvSpPr>
          <p:cNvPr id="95" name="Rectangle 94">
            <a:extLst xmlns:a="http://schemas.openxmlformats.org/drawingml/2006/main">
              <a:ext uri="{FF2B5EF4-FFF2-40B4-BE49-F238E27FC236}">
                <a16:creationId xmlns:a16="http://schemas.microsoft.com/office/drawing/2014/main" id="{5153AD26-1F7C-4AAF-BD63-AC1636055130}"/>
              </a:ext>
            </a:extLst>
          </p:cNvPr>
          <p:cNvSpPr>
            <a:spLocks xmlns:a="http://schemas.openxmlformats.org/drawingml/2006/main" noGrp="1"/>
          </p:cNvSpPr>
          <p:nvPr/>
        </p:nvSpPr>
        <p:spPr>
          <a:xfrm xmlns:a="http://schemas.openxmlformats.org/drawingml/2006/main">
            <a:off x="548640" y="1463040"/>
            <a:ext cx="1737360" cy="45720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1A40A1CF-14D5-4627-9E1C-7BEE7C0BB3FF}"/>
              </a:ext>
            </a:extLst>
          </p:cNvPr>
          <p:cNvSpPr>
            <a:spLocks xmlns:a="http://schemas.openxmlformats.org/drawingml/2006/main" noGrp="1"/>
          </p:cNvSpPr>
          <p:nvPr/>
        </p:nvSpPr>
        <p:spPr>
          <a:xfrm xmlns:a="http://schemas.openxmlformats.org/drawingml/2006/main">
            <a:off x="2286000" y="1463040"/>
            <a:ext cx="3108960" cy="457200"/>
          </a:xfrm>
          <a:prstGeom xmlns:a="http://schemas.openxmlformats.org/drawingml/2006/main" prst="rect">
            <a:avLst/>
          </a:prstGeom>
          <a:solidFill xmlns:a="http://schemas.openxmlformats.org/drawingml/2006/main">
            <a:srgbClr val="D46A1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TextBox 96">
            <a:extLst xmlns:a="http://schemas.openxmlformats.org/drawingml/2006/main">
              <a:ext uri="{FF2B5EF4-FFF2-40B4-BE49-F238E27FC236}">
                <a16:creationId xmlns:a16="http://schemas.microsoft.com/office/drawing/2014/main" id="{9E9055D8-855B-4DDA-B75C-1A4C6D5CFB79}"/>
              </a:ext>
            </a:extLst>
          </p:cNvPr>
          <p:cNvSpPr>
            <a:spLocks xmlns:a="http://schemas.openxmlformats.org/drawingml/2006/main" noGrp="1"/>
          </p:cNvSpPr>
          <p:nvPr/>
        </p:nvSpPr>
        <p:spPr>
          <a:xfrm xmlns:a="http://schemas.openxmlformats.org/drawingml/2006/main">
            <a:off x="2423160" y="146304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FFFFFF"/>
                </a:solidFill>
                <a:latin typeface="Arial"/>
                <a:ea typeface="Arial"/>
                <a:cs typeface="Arial"/>
              </a:rPr>
              <a:t>100 kVA  ·  FLAGSHIP</a:t>
            </a:r>
          </a:p>
        </p:txBody>
      </p:sp>
      <p:sp>
        <p:nvSpPr>
          <p:cNvPr id="98" name="Rectangle 97">
            <a:extLst xmlns:a="http://schemas.openxmlformats.org/drawingml/2006/main">
              <a:ext uri="{FF2B5EF4-FFF2-40B4-BE49-F238E27FC236}">
                <a16:creationId xmlns:a16="http://schemas.microsoft.com/office/drawing/2014/main" id="{E6D8AFC1-90D8-460F-BD46-537F26017519}"/>
              </a:ext>
            </a:extLst>
          </p:cNvPr>
          <p:cNvSpPr>
            <a:spLocks xmlns:a="http://schemas.openxmlformats.org/drawingml/2006/main" noGrp="1"/>
          </p:cNvSpPr>
          <p:nvPr/>
        </p:nvSpPr>
        <p:spPr>
          <a:xfrm xmlns:a="http://schemas.openxmlformats.org/drawingml/2006/main">
            <a:off x="5394960" y="1463040"/>
            <a:ext cx="3108960" cy="457200"/>
          </a:xfrm>
          <a:prstGeom xmlns:a="http://schemas.openxmlformats.org/drawingml/2006/main" prst="rect">
            <a:avLst/>
          </a:prstGeom>
          <a:solidFill xmlns:a="http://schemas.openxmlformats.org/drawingml/2006/main">
            <a:srgbClr val="1E1E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TextBox 98">
            <a:extLst xmlns:a="http://schemas.openxmlformats.org/drawingml/2006/main">
              <a:ext uri="{FF2B5EF4-FFF2-40B4-BE49-F238E27FC236}">
                <a16:creationId xmlns:a16="http://schemas.microsoft.com/office/drawing/2014/main" id="{2DACB88C-C274-497B-8D9F-4B822CD19D53}"/>
              </a:ext>
            </a:extLst>
          </p:cNvPr>
          <p:cNvSpPr>
            <a:spLocks xmlns:a="http://schemas.openxmlformats.org/drawingml/2006/main" noGrp="1"/>
          </p:cNvSpPr>
          <p:nvPr/>
        </p:nvSpPr>
        <p:spPr>
          <a:xfrm xmlns:a="http://schemas.openxmlformats.org/drawingml/2006/main">
            <a:off x="5532120" y="146304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FFFFFF"/>
                </a:solidFill>
                <a:latin typeface="Arial"/>
                <a:ea typeface="Arial"/>
                <a:cs typeface="Arial"/>
              </a:rPr>
              <a:t>250 kVA</a:t>
            </a:r>
          </a:p>
        </p:txBody>
      </p:sp>
      <p:sp>
        <p:nvSpPr>
          <p:cNvPr id="100" name="Rectangle 99">
            <a:extLst xmlns:a="http://schemas.openxmlformats.org/drawingml/2006/main">
              <a:ext uri="{FF2B5EF4-FFF2-40B4-BE49-F238E27FC236}">
                <a16:creationId xmlns:a16="http://schemas.microsoft.com/office/drawing/2014/main" id="{77313FD5-C4B1-4F0F-90FA-5C0DBC71B383}"/>
              </a:ext>
            </a:extLst>
          </p:cNvPr>
          <p:cNvSpPr>
            <a:spLocks xmlns:a="http://schemas.openxmlformats.org/drawingml/2006/main" noGrp="1"/>
          </p:cNvSpPr>
          <p:nvPr/>
        </p:nvSpPr>
        <p:spPr>
          <a:xfrm xmlns:a="http://schemas.openxmlformats.org/drawingml/2006/main">
            <a:off x="8503920" y="1463040"/>
            <a:ext cx="3108960" cy="457200"/>
          </a:xfrm>
          <a:prstGeom xmlns:a="http://schemas.openxmlformats.org/drawingml/2006/main" prst="rect">
            <a:avLst/>
          </a:prstGeom>
          <a:solidFill xmlns:a="http://schemas.openxmlformats.org/drawingml/2006/main">
            <a:srgbClr val="1E1E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TextBox 100">
            <a:extLst xmlns:a="http://schemas.openxmlformats.org/drawingml/2006/main">
              <a:ext uri="{FF2B5EF4-FFF2-40B4-BE49-F238E27FC236}">
                <a16:creationId xmlns:a16="http://schemas.microsoft.com/office/drawing/2014/main" id="{369EEE58-DDB9-44E5-9347-0B0585C769CC}"/>
              </a:ext>
            </a:extLst>
          </p:cNvPr>
          <p:cNvSpPr>
            <a:spLocks xmlns:a="http://schemas.openxmlformats.org/drawingml/2006/main" noGrp="1"/>
          </p:cNvSpPr>
          <p:nvPr/>
        </p:nvSpPr>
        <p:spPr>
          <a:xfrm xmlns:a="http://schemas.openxmlformats.org/drawingml/2006/main">
            <a:off x="8641080" y="146304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FFFFFF"/>
                </a:solidFill>
                <a:latin typeface="Arial"/>
                <a:ea typeface="Arial"/>
                <a:cs typeface="Arial"/>
              </a:rPr>
              <a:t>630 kVA</a:t>
            </a:r>
          </a:p>
        </p:txBody>
      </p:sp>
      <p:sp>
        <p:nvSpPr>
          <p:cNvPr id="102" name="Rectangle 101">
            <a:extLst xmlns:a="http://schemas.openxmlformats.org/drawingml/2006/main">
              <a:ext uri="{FF2B5EF4-FFF2-40B4-BE49-F238E27FC236}">
                <a16:creationId xmlns:a16="http://schemas.microsoft.com/office/drawing/2014/main" id="{F6704529-1A8D-4637-A279-5C218AA4AEEB}"/>
              </a:ext>
            </a:extLst>
          </p:cNvPr>
          <p:cNvSpPr>
            <a:spLocks xmlns:a="http://schemas.openxmlformats.org/drawingml/2006/main" noGrp="1"/>
          </p:cNvSpPr>
          <p:nvPr/>
        </p:nvSpPr>
        <p:spPr>
          <a:xfrm xmlns:a="http://schemas.openxmlformats.org/drawingml/2006/main">
            <a:off x="548640" y="1920240"/>
            <a:ext cx="17373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TextBox 102">
            <a:extLst xmlns:a="http://schemas.openxmlformats.org/drawingml/2006/main">
              <a:ext uri="{FF2B5EF4-FFF2-40B4-BE49-F238E27FC236}">
                <a16:creationId xmlns:a16="http://schemas.microsoft.com/office/drawing/2014/main" id="{58C146AD-B73B-45DF-B05D-9D42132F7C3B}"/>
              </a:ext>
            </a:extLst>
          </p:cNvPr>
          <p:cNvSpPr>
            <a:spLocks xmlns:a="http://schemas.openxmlformats.org/drawingml/2006/main" noGrp="1"/>
          </p:cNvSpPr>
          <p:nvPr/>
        </p:nvSpPr>
        <p:spPr>
          <a:xfrm xmlns:a="http://schemas.openxmlformats.org/drawingml/2006/main">
            <a:off x="658368" y="1920240"/>
            <a:ext cx="15544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1E1E1E"/>
                </a:solidFill>
                <a:latin typeface="Arial"/>
                <a:ea typeface="Arial"/>
                <a:cs typeface="Arial"/>
              </a:rPr>
              <a:t>Detector</a:t>
            </a:r>
          </a:p>
        </p:txBody>
      </p:sp>
      <p:sp>
        <p:nvSpPr>
          <p:cNvPr id="104" name="Rectangle 103">
            <a:extLst xmlns:a="http://schemas.openxmlformats.org/drawingml/2006/main">
              <a:ext uri="{FF2B5EF4-FFF2-40B4-BE49-F238E27FC236}">
                <a16:creationId xmlns:a16="http://schemas.microsoft.com/office/drawing/2014/main" id="{C85FBFB8-83A0-4E3F-A237-E87D864FE90D}"/>
              </a:ext>
            </a:extLst>
          </p:cNvPr>
          <p:cNvSpPr>
            <a:spLocks xmlns:a="http://schemas.openxmlformats.org/drawingml/2006/main" noGrp="1"/>
          </p:cNvSpPr>
          <p:nvPr/>
        </p:nvSpPr>
        <p:spPr>
          <a:xfrm xmlns:a="http://schemas.openxmlformats.org/drawingml/2006/main">
            <a:off x="2286000" y="1920240"/>
            <a:ext cx="3108960" cy="73152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TextBox 104">
            <a:extLst xmlns:a="http://schemas.openxmlformats.org/drawingml/2006/main">
              <a:ext uri="{FF2B5EF4-FFF2-40B4-BE49-F238E27FC236}">
                <a16:creationId xmlns:a16="http://schemas.microsoft.com/office/drawing/2014/main" id="{9B51C847-E1FB-404E-84C3-E738EDD5C0DA}"/>
              </a:ext>
            </a:extLst>
          </p:cNvPr>
          <p:cNvSpPr>
            <a:spLocks xmlns:a="http://schemas.openxmlformats.org/drawingml/2006/main" noGrp="1"/>
          </p:cNvSpPr>
          <p:nvPr/>
        </p:nvSpPr>
        <p:spPr>
          <a:xfrm xmlns:a="http://schemas.openxmlformats.org/drawingml/2006/main">
            <a:off x="2423160" y="1920240"/>
            <a:ext cx="2834640" cy="3835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1E1E1E"/>
                </a:solidFill>
                <a:latin typeface="Arial"/>
                <a:ea typeface="Arial"/>
                <a:cs typeface="Arial"/>
              </a:rPr>
              <a:t>Three Logistic Regression heads</a:t>
            </a:r>
          </a:p>
          <a:p xmlns:a="http://schemas.openxmlformats.org/drawingml/2006/main">
            <a:pPr algn="l">
              <a:spcBef>
                <a:spcPts val="200"/>
              </a:spcBef>
              <a:buNone/>
            </a:pPr>
            <a:r>
              <a:rPr sz="1150" b="0">
                <a:solidFill>
                  <a:srgbClr val="555555"/>
                </a:solidFill>
                <a:latin typeface="Arial"/>
                <a:ea typeface="Arial"/>
                <a:cs typeface="Arial"/>
              </a:rPr>
              <a:t>Thermal 4 / oil 8 / terminal 5 features</a:t>
            </a:r>
          </a:p>
        </p:txBody>
      </p:sp>
      <p:sp>
        <p:nvSpPr>
          <p:cNvPr id="106" name="Rectangle 105">
            <a:extLst xmlns:a="http://schemas.openxmlformats.org/drawingml/2006/main">
              <a:ext uri="{FF2B5EF4-FFF2-40B4-BE49-F238E27FC236}">
                <a16:creationId xmlns:a16="http://schemas.microsoft.com/office/drawing/2014/main" id="{0D1A624C-296F-4950-A4C4-1B40E23EED00}"/>
              </a:ext>
            </a:extLst>
          </p:cNvPr>
          <p:cNvSpPr>
            <a:spLocks xmlns:a="http://schemas.openxmlformats.org/drawingml/2006/main" noGrp="1"/>
          </p:cNvSpPr>
          <p:nvPr/>
        </p:nvSpPr>
        <p:spPr>
          <a:xfrm xmlns:a="http://schemas.openxmlformats.org/drawingml/2006/main">
            <a:off x="5394960" y="1920240"/>
            <a:ext cx="31089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TextBox 106">
            <a:extLst xmlns:a="http://schemas.openxmlformats.org/drawingml/2006/main">
              <a:ext uri="{FF2B5EF4-FFF2-40B4-BE49-F238E27FC236}">
                <a16:creationId xmlns:a16="http://schemas.microsoft.com/office/drawing/2014/main" id="{C2222ADD-A6B8-4AEB-A2D5-E17F8CE8CEAE}"/>
              </a:ext>
            </a:extLst>
          </p:cNvPr>
          <p:cNvSpPr>
            <a:spLocks xmlns:a="http://schemas.openxmlformats.org/drawingml/2006/main" noGrp="1"/>
          </p:cNvSpPr>
          <p:nvPr/>
        </p:nvSpPr>
        <p:spPr>
          <a:xfrm xmlns:a="http://schemas.openxmlformats.org/drawingml/2006/main">
            <a:off x="5532120" y="192024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1E1E1E"/>
                </a:solidFill>
                <a:latin typeface="Arial"/>
                <a:ea typeface="Arial"/>
                <a:cs typeface="Arial"/>
              </a:rPr>
              <a:t>Histogram Gradient Boosting</a:t>
            </a:r>
          </a:p>
          <a:p xmlns:a="http://schemas.openxmlformats.org/drawingml/2006/main">
            <a:pPr algn="l">
              <a:spcBef>
                <a:spcPts val="200"/>
              </a:spcBef>
              <a:buNone/>
            </a:pPr>
            <a:r>
              <a:rPr sz="1150" b="0">
                <a:solidFill>
                  <a:srgbClr val="555555"/>
                </a:solidFill>
                <a:latin typeface="Arial"/>
                <a:ea typeface="Arial"/>
                <a:cs typeface="Arial"/>
              </a:rPr>
              <a:t>13 features</a:t>
            </a:r>
          </a:p>
        </p:txBody>
      </p:sp>
      <p:sp>
        <p:nvSpPr>
          <p:cNvPr id="108" name="Rectangle 107">
            <a:extLst xmlns:a="http://schemas.openxmlformats.org/drawingml/2006/main">
              <a:ext uri="{FF2B5EF4-FFF2-40B4-BE49-F238E27FC236}">
                <a16:creationId xmlns:a16="http://schemas.microsoft.com/office/drawing/2014/main" id="{74CA2F28-8548-468D-BD7B-03EEADEEBFC1}"/>
              </a:ext>
            </a:extLst>
          </p:cNvPr>
          <p:cNvSpPr>
            <a:spLocks xmlns:a="http://schemas.openxmlformats.org/drawingml/2006/main" noGrp="1"/>
          </p:cNvSpPr>
          <p:nvPr/>
        </p:nvSpPr>
        <p:spPr>
          <a:xfrm xmlns:a="http://schemas.openxmlformats.org/drawingml/2006/main">
            <a:off x="8503920" y="1920240"/>
            <a:ext cx="31089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TextBox 108">
            <a:extLst xmlns:a="http://schemas.openxmlformats.org/drawingml/2006/main">
              <a:ext uri="{FF2B5EF4-FFF2-40B4-BE49-F238E27FC236}">
                <a16:creationId xmlns:a16="http://schemas.microsoft.com/office/drawing/2014/main" id="{A5E2F6FA-C5FB-4253-9857-18E3BC3094A2}"/>
              </a:ext>
            </a:extLst>
          </p:cNvPr>
          <p:cNvSpPr>
            <a:spLocks xmlns:a="http://schemas.openxmlformats.org/drawingml/2006/main" noGrp="1"/>
          </p:cNvSpPr>
          <p:nvPr/>
        </p:nvSpPr>
        <p:spPr>
          <a:xfrm xmlns:a="http://schemas.openxmlformats.org/drawingml/2006/main">
            <a:off x="8641080" y="192024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1E1E1E"/>
                </a:solidFill>
                <a:latin typeface="Arial"/>
                <a:ea typeface="Arial"/>
                <a:cs typeface="Arial"/>
              </a:rPr>
              <a:t>Physics-based causal detector</a:t>
            </a:r>
          </a:p>
          <a:p xmlns:a="http://schemas.openxmlformats.org/drawingml/2006/main">
            <a:pPr algn="l">
              <a:spcBef>
                <a:spcPts val="200"/>
              </a:spcBef>
              <a:buNone/>
            </a:pPr>
            <a:r>
              <a:rPr sz="1150" b="0">
                <a:solidFill>
                  <a:srgbClr val="555555"/>
                </a:solidFill>
                <a:latin typeface="Arial"/>
                <a:ea typeface="Arial"/>
                <a:cs typeface="Arial"/>
              </a:rPr>
              <a:t>No trained classifier</a:t>
            </a:r>
          </a:p>
        </p:txBody>
      </p:sp>
      <p:sp>
        <p:nvSpPr>
          <p:cNvPr id="110" name="Rectangle 109">
            <a:extLst xmlns:a="http://schemas.openxmlformats.org/drawingml/2006/main">
              <a:ext uri="{FF2B5EF4-FFF2-40B4-BE49-F238E27FC236}">
                <a16:creationId xmlns:a16="http://schemas.microsoft.com/office/drawing/2014/main" id="{2771ED54-62F0-47C5-9302-C6743E97B811}"/>
              </a:ext>
            </a:extLst>
          </p:cNvPr>
          <p:cNvSpPr>
            <a:spLocks xmlns:a="http://schemas.openxmlformats.org/drawingml/2006/main" noGrp="1"/>
          </p:cNvSpPr>
          <p:nvPr/>
        </p:nvSpPr>
        <p:spPr>
          <a:xfrm xmlns:a="http://schemas.openxmlformats.org/drawingml/2006/main">
            <a:off x="548640" y="2651760"/>
            <a:ext cx="17373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TextBox 110">
            <a:extLst xmlns:a="http://schemas.openxmlformats.org/drawingml/2006/main">
              <a:ext uri="{FF2B5EF4-FFF2-40B4-BE49-F238E27FC236}">
                <a16:creationId xmlns:a16="http://schemas.microsoft.com/office/drawing/2014/main" id="{2D257C9B-F093-4E9B-B4A8-2CC09B9E14A7}"/>
              </a:ext>
            </a:extLst>
          </p:cNvPr>
          <p:cNvSpPr>
            <a:spLocks xmlns:a="http://schemas.openxmlformats.org/drawingml/2006/main" noGrp="1"/>
          </p:cNvSpPr>
          <p:nvPr/>
        </p:nvSpPr>
        <p:spPr>
          <a:xfrm xmlns:a="http://schemas.openxmlformats.org/drawingml/2006/main">
            <a:off x="658368" y="2651760"/>
            <a:ext cx="15544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1E1E1E"/>
                </a:solidFill>
                <a:latin typeface="Arial"/>
                <a:ea typeface="Arial"/>
                <a:cs typeface="Arial"/>
              </a:rPr>
              <a:t>Delivered data</a:t>
            </a:r>
          </a:p>
        </p:txBody>
      </p:sp>
      <p:sp>
        <p:nvSpPr>
          <p:cNvPr id="112" name="Rectangle 111">
            <a:extLst xmlns:a="http://schemas.openxmlformats.org/drawingml/2006/main">
              <a:ext uri="{FF2B5EF4-FFF2-40B4-BE49-F238E27FC236}">
                <a16:creationId xmlns:a16="http://schemas.microsoft.com/office/drawing/2014/main" id="{8F738987-3A81-45DF-B584-AB5F4DEA1CC0}"/>
              </a:ext>
            </a:extLst>
          </p:cNvPr>
          <p:cNvSpPr>
            <a:spLocks xmlns:a="http://schemas.openxmlformats.org/drawingml/2006/main" noGrp="1"/>
          </p:cNvSpPr>
          <p:nvPr/>
        </p:nvSpPr>
        <p:spPr>
          <a:xfrm xmlns:a="http://schemas.openxmlformats.org/drawingml/2006/main">
            <a:off x="2286000" y="2651760"/>
            <a:ext cx="3108960" cy="73152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TextBox 112">
            <a:extLst xmlns:a="http://schemas.openxmlformats.org/drawingml/2006/main">
              <a:ext uri="{FF2B5EF4-FFF2-40B4-BE49-F238E27FC236}">
                <a16:creationId xmlns:a16="http://schemas.microsoft.com/office/drawing/2014/main" id="{6695CA93-06B1-4FB7-B791-1F619A8A58F2}"/>
              </a:ext>
            </a:extLst>
          </p:cNvPr>
          <p:cNvSpPr>
            <a:spLocks xmlns:a="http://schemas.openxmlformats.org/drawingml/2006/main" noGrp="1"/>
          </p:cNvSpPr>
          <p:nvPr/>
        </p:nvSpPr>
        <p:spPr>
          <a:xfrm xmlns:a="http://schemas.openxmlformats.org/drawingml/2006/main">
            <a:off x="2423160" y="2651760"/>
            <a:ext cx="2834640" cy="3835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241,920 original rows</a:t>
            </a:r>
          </a:p>
          <a:p xmlns:a="http://schemas.openxmlformats.org/drawingml/2006/main">
            <a:pPr algn="l">
              <a:spcBef>
                <a:spcPts val="200"/>
              </a:spcBef>
              <a:buNone/>
            </a:pPr>
            <a:r>
              <a:rPr sz="1150" b="0">
                <a:solidFill>
                  <a:srgbClr val="555555"/>
                </a:solidFill>
                <a:latin typeface="Arial"/>
                <a:ea typeface="Arial"/>
                <a:cs typeface="Arial"/>
              </a:rPr>
              <a:t>+ 4,032 separate demo rows</a:t>
            </a:r>
          </a:p>
        </p:txBody>
      </p:sp>
      <p:sp>
        <p:nvSpPr>
          <p:cNvPr id="114" name="Rectangle 113">
            <a:extLst xmlns:a="http://schemas.openxmlformats.org/drawingml/2006/main">
              <a:ext uri="{FF2B5EF4-FFF2-40B4-BE49-F238E27FC236}">
                <a16:creationId xmlns:a16="http://schemas.microsoft.com/office/drawing/2014/main" id="{BEBCFD86-1135-4CBF-988F-326F5471BD5D}"/>
              </a:ext>
            </a:extLst>
          </p:cNvPr>
          <p:cNvSpPr>
            <a:spLocks xmlns:a="http://schemas.openxmlformats.org/drawingml/2006/main" noGrp="1"/>
          </p:cNvSpPr>
          <p:nvPr/>
        </p:nvSpPr>
        <p:spPr>
          <a:xfrm xmlns:a="http://schemas.openxmlformats.org/drawingml/2006/main">
            <a:off x="5394960" y="2651760"/>
            <a:ext cx="31089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TextBox 114">
            <a:extLst xmlns:a="http://schemas.openxmlformats.org/drawingml/2006/main">
              <a:ext uri="{FF2B5EF4-FFF2-40B4-BE49-F238E27FC236}">
                <a16:creationId xmlns:a16="http://schemas.microsoft.com/office/drawing/2014/main" id="{2D01A1CD-BE27-447E-89E6-109F75893690}"/>
              </a:ext>
            </a:extLst>
          </p:cNvPr>
          <p:cNvSpPr>
            <a:spLocks xmlns:a="http://schemas.openxmlformats.org/drawingml/2006/main" noGrp="1"/>
          </p:cNvSpPr>
          <p:nvPr/>
        </p:nvSpPr>
        <p:spPr>
          <a:xfrm xmlns:a="http://schemas.openxmlformats.org/drawingml/2006/main">
            <a:off x="5532120" y="265176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145,152 rows</a:t>
            </a:r>
          </a:p>
          <a:p xmlns:a="http://schemas.openxmlformats.org/drawingml/2006/main">
            <a:pPr algn="l">
              <a:spcBef>
                <a:spcPts val="200"/>
              </a:spcBef>
              <a:buNone/>
            </a:pPr>
            <a:r>
              <a:rPr sz="1150" b="0">
                <a:solidFill>
                  <a:srgbClr val="555555"/>
                </a:solidFill>
                <a:latin typeface="Arial"/>
                <a:ea typeface="Arial"/>
                <a:cs typeface="Arial"/>
              </a:rPr>
              <a:t>24 replays × 21 days</a:t>
            </a:r>
          </a:p>
        </p:txBody>
      </p:sp>
      <p:sp>
        <p:nvSpPr>
          <p:cNvPr id="116" name="Rectangle 115">
            <a:extLst xmlns:a="http://schemas.openxmlformats.org/drawingml/2006/main">
              <a:ext uri="{FF2B5EF4-FFF2-40B4-BE49-F238E27FC236}">
                <a16:creationId xmlns:a16="http://schemas.microsoft.com/office/drawing/2014/main" id="{C74053D5-80F7-4348-84ED-5D118DF926B4}"/>
              </a:ext>
            </a:extLst>
          </p:cNvPr>
          <p:cNvSpPr>
            <a:spLocks xmlns:a="http://schemas.openxmlformats.org/drawingml/2006/main" noGrp="1"/>
          </p:cNvSpPr>
          <p:nvPr/>
        </p:nvSpPr>
        <p:spPr>
          <a:xfrm xmlns:a="http://schemas.openxmlformats.org/drawingml/2006/main">
            <a:off x="8503920" y="2651760"/>
            <a:ext cx="31089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TextBox 116">
            <a:extLst xmlns:a="http://schemas.openxmlformats.org/drawingml/2006/main">
              <a:ext uri="{FF2B5EF4-FFF2-40B4-BE49-F238E27FC236}">
                <a16:creationId xmlns:a16="http://schemas.microsoft.com/office/drawing/2014/main" id="{26FE0FBB-EB38-4875-82A4-759C9BB72DDC}"/>
              </a:ext>
            </a:extLst>
          </p:cNvPr>
          <p:cNvSpPr>
            <a:spLocks xmlns:a="http://schemas.openxmlformats.org/drawingml/2006/main" noGrp="1"/>
          </p:cNvSpPr>
          <p:nvPr/>
        </p:nvSpPr>
        <p:spPr>
          <a:xfrm xmlns:a="http://schemas.openxmlformats.org/drawingml/2006/main">
            <a:off x="8641080" y="265176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193,536 rows</a:t>
            </a:r>
          </a:p>
          <a:p xmlns:a="http://schemas.openxmlformats.org/drawingml/2006/main">
            <a:pPr algn="l">
              <a:spcBef>
                <a:spcPts val="200"/>
              </a:spcBef>
              <a:buNone/>
            </a:pPr>
            <a:r>
              <a:rPr sz="1150" b="0">
                <a:solidFill>
                  <a:srgbClr val="555555"/>
                </a:solidFill>
                <a:latin typeface="Arial"/>
                <a:ea typeface="Arial"/>
                <a:cs typeface="Arial"/>
              </a:rPr>
              <a:t>24 replays × 28 days</a:t>
            </a:r>
          </a:p>
        </p:txBody>
      </p:sp>
      <p:sp>
        <p:nvSpPr>
          <p:cNvPr id="118" name="Rectangle 117">
            <a:extLst xmlns:a="http://schemas.openxmlformats.org/drawingml/2006/main">
              <a:ext uri="{FF2B5EF4-FFF2-40B4-BE49-F238E27FC236}">
                <a16:creationId xmlns:a16="http://schemas.microsoft.com/office/drawing/2014/main" id="{1F4A3C23-8D92-4550-8BA7-59095E89A05B}"/>
              </a:ext>
            </a:extLst>
          </p:cNvPr>
          <p:cNvSpPr>
            <a:spLocks xmlns:a="http://schemas.openxmlformats.org/drawingml/2006/main" noGrp="1"/>
          </p:cNvSpPr>
          <p:nvPr/>
        </p:nvSpPr>
        <p:spPr>
          <a:xfrm xmlns:a="http://schemas.openxmlformats.org/drawingml/2006/main">
            <a:off x="548640" y="3383280"/>
            <a:ext cx="17373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TextBox 118">
            <a:extLst xmlns:a="http://schemas.openxmlformats.org/drawingml/2006/main">
              <a:ext uri="{FF2B5EF4-FFF2-40B4-BE49-F238E27FC236}">
                <a16:creationId xmlns:a16="http://schemas.microsoft.com/office/drawing/2014/main" id="{B10D7E1C-44E3-4191-85F5-2DF22CF01042}"/>
              </a:ext>
            </a:extLst>
          </p:cNvPr>
          <p:cNvSpPr>
            <a:spLocks xmlns:a="http://schemas.openxmlformats.org/drawingml/2006/main" noGrp="1"/>
          </p:cNvSpPr>
          <p:nvPr/>
        </p:nvSpPr>
        <p:spPr>
          <a:xfrm xmlns:a="http://schemas.openxmlformats.org/drawingml/2006/main">
            <a:off x="658368" y="3383280"/>
            <a:ext cx="15544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1E1E1E"/>
                </a:solidFill>
                <a:latin typeface="Arial"/>
                <a:ea typeface="Arial"/>
                <a:cs typeface="Arial"/>
              </a:rPr>
              <a:t>Rating treatment</a:t>
            </a:r>
          </a:p>
        </p:txBody>
      </p:sp>
      <p:sp>
        <p:nvSpPr>
          <p:cNvPr id="120" name="Rectangle 119">
            <a:extLst xmlns:a="http://schemas.openxmlformats.org/drawingml/2006/main">
              <a:ext uri="{FF2B5EF4-FFF2-40B4-BE49-F238E27FC236}">
                <a16:creationId xmlns:a16="http://schemas.microsoft.com/office/drawing/2014/main" id="{6F1C709B-7A4D-4864-949B-F34B88A13ED3}"/>
              </a:ext>
            </a:extLst>
          </p:cNvPr>
          <p:cNvSpPr>
            <a:spLocks xmlns:a="http://schemas.openxmlformats.org/drawingml/2006/main" noGrp="1"/>
          </p:cNvSpPr>
          <p:nvPr/>
        </p:nvSpPr>
        <p:spPr>
          <a:xfrm xmlns:a="http://schemas.openxmlformats.org/drawingml/2006/main">
            <a:off x="2286000" y="3383280"/>
            <a:ext cx="3108960" cy="73152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TextBox 120">
            <a:extLst xmlns:a="http://schemas.openxmlformats.org/drawingml/2006/main">
              <a:ext uri="{FF2B5EF4-FFF2-40B4-BE49-F238E27FC236}">
                <a16:creationId xmlns:a16="http://schemas.microsoft.com/office/drawing/2014/main" id="{680723A3-A7AD-47D1-A83A-19776CCFD649}"/>
              </a:ext>
            </a:extLst>
          </p:cNvPr>
          <p:cNvSpPr>
            <a:spLocks xmlns:a="http://schemas.openxmlformats.org/drawingml/2006/main" noGrp="1"/>
          </p:cNvSpPr>
          <p:nvPr/>
        </p:nvSpPr>
        <p:spPr>
          <a:xfrm xmlns:a="http://schemas.openxmlformats.org/drawingml/2006/main">
            <a:off x="2423160" y="338328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Asset-bound calibration</a:t>
            </a:r>
          </a:p>
          <a:p xmlns:a="http://schemas.openxmlformats.org/drawingml/2006/main">
            <a:pPr algn="l">
              <a:spcBef>
                <a:spcPts val="200"/>
              </a:spcBef>
              <a:buNone/>
            </a:pPr>
            <a:r>
              <a:rPr sz="1150" b="0">
                <a:solidFill>
                  <a:srgbClr val="555555"/>
                </a:solidFill>
                <a:latin typeface="Arial"/>
                <a:ea typeface="Arial"/>
                <a:cs typeface="Arial"/>
              </a:rPr>
              <a:t>and guarded inference</a:t>
            </a:r>
          </a:p>
        </p:txBody>
      </p:sp>
      <p:sp>
        <p:nvSpPr>
          <p:cNvPr id="122" name="Rectangle 121">
            <a:extLst xmlns:a="http://schemas.openxmlformats.org/drawingml/2006/main">
              <a:ext uri="{FF2B5EF4-FFF2-40B4-BE49-F238E27FC236}">
                <a16:creationId xmlns:a16="http://schemas.microsoft.com/office/drawing/2014/main" id="{480D2000-C87C-4B70-ACFD-5AD1CE2D9F05}"/>
              </a:ext>
            </a:extLst>
          </p:cNvPr>
          <p:cNvSpPr>
            <a:spLocks xmlns:a="http://schemas.openxmlformats.org/drawingml/2006/main" noGrp="1"/>
          </p:cNvSpPr>
          <p:nvPr/>
        </p:nvSpPr>
        <p:spPr>
          <a:xfrm xmlns:a="http://schemas.openxmlformats.org/drawingml/2006/main">
            <a:off x="5394960" y="3383280"/>
            <a:ext cx="31089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TextBox 122">
            <a:extLst xmlns:a="http://schemas.openxmlformats.org/drawingml/2006/main">
              <a:ext uri="{FF2B5EF4-FFF2-40B4-BE49-F238E27FC236}">
                <a16:creationId xmlns:a16="http://schemas.microsoft.com/office/drawing/2014/main" id="{C2C8D9E0-4223-40D0-813D-14F6394C21C6}"/>
              </a:ext>
            </a:extLst>
          </p:cNvPr>
          <p:cNvSpPr>
            <a:spLocks xmlns:a="http://schemas.openxmlformats.org/drawingml/2006/main" noGrp="1"/>
          </p:cNvSpPr>
          <p:nvPr/>
        </p:nvSpPr>
        <p:spPr>
          <a:xfrm xmlns:a="http://schemas.openxmlformats.org/drawingml/2006/main">
            <a:off x="5532120" y="338328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Frozen nominal features</a:t>
            </a:r>
          </a:p>
          <a:p xmlns:a="http://schemas.openxmlformats.org/drawingml/2006/main">
            <a:pPr algn="l">
              <a:spcBef>
                <a:spcPts val="200"/>
              </a:spcBef>
              <a:buNone/>
            </a:pPr>
            <a:r>
              <a:rPr sz="1150" b="0">
                <a:solidFill>
                  <a:srgbClr val="555555"/>
                </a:solidFill>
                <a:latin typeface="Arial"/>
                <a:ea typeface="Arial"/>
                <a:cs typeface="Arial"/>
              </a:rPr>
              <a:t>plus electrical screens</a:t>
            </a:r>
          </a:p>
        </p:txBody>
      </p:sp>
      <p:sp>
        <p:nvSpPr>
          <p:cNvPr id="124" name="Rectangle 123">
            <a:extLst xmlns:a="http://schemas.openxmlformats.org/drawingml/2006/main">
              <a:ext uri="{FF2B5EF4-FFF2-40B4-BE49-F238E27FC236}">
                <a16:creationId xmlns:a16="http://schemas.microsoft.com/office/drawing/2014/main" id="{DF5C7B4F-B4A6-4EFB-8FB9-27BF3C3548D4}"/>
              </a:ext>
            </a:extLst>
          </p:cNvPr>
          <p:cNvSpPr>
            <a:spLocks xmlns:a="http://schemas.openxmlformats.org/drawingml/2006/main" noGrp="1"/>
          </p:cNvSpPr>
          <p:nvPr/>
        </p:nvSpPr>
        <p:spPr>
          <a:xfrm xmlns:a="http://schemas.openxmlformats.org/drawingml/2006/main">
            <a:off x="8503920" y="3383280"/>
            <a:ext cx="31089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TextBox 124">
            <a:extLst xmlns:a="http://schemas.openxmlformats.org/drawingml/2006/main">
              <a:ext uri="{FF2B5EF4-FFF2-40B4-BE49-F238E27FC236}">
                <a16:creationId xmlns:a16="http://schemas.microsoft.com/office/drawing/2014/main" id="{74FF185C-DDB3-4CA9-B69D-7528DF799711}"/>
              </a:ext>
            </a:extLst>
          </p:cNvPr>
          <p:cNvSpPr>
            <a:spLocks xmlns:a="http://schemas.openxmlformats.org/drawingml/2006/main" noGrp="1"/>
          </p:cNvSpPr>
          <p:nvPr/>
        </p:nvSpPr>
        <p:spPr>
          <a:xfrm xmlns:a="http://schemas.openxmlformats.org/drawingml/2006/main">
            <a:off x="8641080" y="338328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Rating-specific dynamics</a:t>
            </a:r>
          </a:p>
          <a:p xmlns:a="http://schemas.openxmlformats.org/drawingml/2006/main">
            <a:pPr algn="l">
              <a:spcBef>
                <a:spcPts val="200"/>
              </a:spcBef>
              <a:buNone/>
            </a:pPr>
            <a:r>
              <a:rPr sz="1150" b="0">
                <a:solidFill>
                  <a:srgbClr val="555555"/>
                </a:solidFill>
                <a:latin typeface="Arial"/>
                <a:ea typeface="Arial"/>
                <a:cs typeface="Arial"/>
              </a:rPr>
              <a:t>and time-constant warm-up</a:t>
            </a:r>
          </a:p>
        </p:txBody>
      </p:sp>
      <p:sp>
        <p:nvSpPr>
          <p:cNvPr id="126" name="Rectangle 125">
            <a:extLst xmlns:a="http://schemas.openxmlformats.org/drawingml/2006/main">
              <a:ext uri="{FF2B5EF4-FFF2-40B4-BE49-F238E27FC236}">
                <a16:creationId xmlns:a16="http://schemas.microsoft.com/office/drawing/2014/main" id="{4CC27813-32B8-4836-B4A4-D1D4AF719388}"/>
              </a:ext>
            </a:extLst>
          </p:cNvPr>
          <p:cNvSpPr>
            <a:spLocks xmlns:a="http://schemas.openxmlformats.org/drawingml/2006/main" noGrp="1"/>
          </p:cNvSpPr>
          <p:nvPr/>
        </p:nvSpPr>
        <p:spPr>
          <a:xfrm xmlns:a="http://schemas.openxmlformats.org/drawingml/2006/main">
            <a:off x="548640" y="4114800"/>
            <a:ext cx="17373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TextBox 126">
            <a:extLst xmlns:a="http://schemas.openxmlformats.org/drawingml/2006/main">
              <a:ext uri="{FF2B5EF4-FFF2-40B4-BE49-F238E27FC236}">
                <a16:creationId xmlns:a16="http://schemas.microsoft.com/office/drawing/2014/main" id="{1939C215-FB67-473C-8264-61AD7A0DA319}"/>
              </a:ext>
            </a:extLst>
          </p:cNvPr>
          <p:cNvSpPr>
            <a:spLocks xmlns:a="http://schemas.openxmlformats.org/drawingml/2006/main" noGrp="1"/>
          </p:cNvSpPr>
          <p:nvPr/>
        </p:nvSpPr>
        <p:spPr>
          <a:xfrm xmlns:a="http://schemas.openxmlformats.org/drawingml/2006/main">
            <a:off x="658368" y="4114800"/>
            <a:ext cx="15544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1">
                <a:solidFill>
                  <a:srgbClr val="1E1E1E"/>
                </a:solidFill>
                <a:latin typeface="Arial"/>
                <a:ea typeface="Arial"/>
                <a:cs typeface="Arial"/>
              </a:rPr>
              <a:t>Advanced modules</a:t>
            </a:r>
          </a:p>
        </p:txBody>
      </p:sp>
      <p:sp>
        <p:nvSpPr>
          <p:cNvPr id="128" name="Rectangle 127">
            <a:extLst xmlns:a="http://schemas.openxmlformats.org/drawingml/2006/main">
              <a:ext uri="{FF2B5EF4-FFF2-40B4-BE49-F238E27FC236}">
                <a16:creationId xmlns:a16="http://schemas.microsoft.com/office/drawing/2014/main" id="{86802A13-1C5A-4BF7-82EF-FAD1543936AF}"/>
              </a:ext>
            </a:extLst>
          </p:cNvPr>
          <p:cNvSpPr>
            <a:spLocks xmlns:a="http://schemas.openxmlformats.org/drawingml/2006/main" noGrp="1"/>
          </p:cNvSpPr>
          <p:nvPr/>
        </p:nvSpPr>
        <p:spPr>
          <a:xfrm xmlns:a="http://schemas.openxmlformats.org/drawingml/2006/main">
            <a:off x="2286000" y="4114800"/>
            <a:ext cx="3108960" cy="73152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TextBox 128">
            <a:extLst xmlns:a="http://schemas.openxmlformats.org/drawingml/2006/main">
              <a:ext uri="{FF2B5EF4-FFF2-40B4-BE49-F238E27FC236}">
                <a16:creationId xmlns:a16="http://schemas.microsoft.com/office/drawing/2014/main" id="{92214917-5391-461F-9FF7-FD6A1D525EFF}"/>
              </a:ext>
            </a:extLst>
          </p:cNvPr>
          <p:cNvSpPr>
            <a:spLocks xmlns:a="http://schemas.openxmlformats.org/drawingml/2006/main" noGrp="1"/>
          </p:cNvSpPr>
          <p:nvPr/>
        </p:nvSpPr>
        <p:spPr>
          <a:xfrm xmlns:a="http://schemas.openxmlformats.org/drawingml/2006/main">
            <a:off x="2423160" y="411480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All five investigation</a:t>
            </a:r>
          </a:p>
          <a:p xmlns:a="http://schemas.openxmlformats.org/drawingml/2006/main">
            <a:pPr algn="l">
              <a:spcBef>
                <a:spcPts val="200"/>
              </a:spcBef>
              <a:buNone/>
            </a:pPr>
            <a:r>
              <a:rPr sz="1150" b="0">
                <a:solidFill>
                  <a:srgbClr val="555555"/>
                </a:solidFill>
                <a:latin typeface="Arial"/>
                <a:ea typeface="Arial"/>
                <a:cs typeface="Arial"/>
              </a:rPr>
              <a:t>modules built</a:t>
            </a:r>
          </a:p>
        </p:txBody>
      </p:sp>
      <p:sp>
        <p:nvSpPr>
          <p:cNvPr id="130" name="Rectangle 129">
            <a:extLst xmlns:a="http://schemas.openxmlformats.org/drawingml/2006/main">
              <a:ext uri="{FF2B5EF4-FFF2-40B4-BE49-F238E27FC236}">
                <a16:creationId xmlns:a16="http://schemas.microsoft.com/office/drawing/2014/main" id="{72820863-6DA5-4C15-9475-1D66564089D1}"/>
              </a:ext>
            </a:extLst>
          </p:cNvPr>
          <p:cNvSpPr>
            <a:spLocks xmlns:a="http://schemas.openxmlformats.org/drawingml/2006/main" noGrp="1"/>
          </p:cNvSpPr>
          <p:nvPr/>
        </p:nvSpPr>
        <p:spPr>
          <a:xfrm xmlns:a="http://schemas.openxmlformats.org/drawingml/2006/main">
            <a:off x="5394960" y="4114800"/>
            <a:ext cx="31089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TextBox 130">
            <a:extLst xmlns:a="http://schemas.openxmlformats.org/drawingml/2006/main">
              <a:ext uri="{FF2B5EF4-FFF2-40B4-BE49-F238E27FC236}">
                <a16:creationId xmlns:a16="http://schemas.microsoft.com/office/drawing/2014/main" id="{E48E2D7D-D9DB-4A2B-A277-EE42B783D628}"/>
              </a:ext>
            </a:extLst>
          </p:cNvPr>
          <p:cNvSpPr>
            <a:spLocks xmlns:a="http://schemas.openxmlformats.org/drawingml/2006/main" noGrp="1"/>
          </p:cNvSpPr>
          <p:nvPr/>
        </p:nvSpPr>
        <p:spPr>
          <a:xfrm xmlns:a="http://schemas.openxmlformats.org/drawingml/2006/main">
            <a:off x="5532120" y="411480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Shared monitoring UI</a:t>
            </a:r>
          </a:p>
          <a:p xmlns:a="http://schemas.openxmlformats.org/drawingml/2006/main">
            <a:pPr algn="l">
              <a:spcBef>
                <a:spcPts val="200"/>
              </a:spcBef>
              <a:buNone/>
            </a:pPr>
            <a:r>
              <a:rPr sz="1150" b="0">
                <a:solidFill>
                  <a:srgbClr val="555555"/>
                </a:solidFill>
                <a:latin typeface="Arial"/>
                <a:ea typeface="Arial"/>
                <a:cs typeface="Arial"/>
              </a:rPr>
              <a:t>Extension planned</a:t>
            </a:r>
          </a:p>
        </p:txBody>
      </p:sp>
      <p:sp>
        <p:nvSpPr>
          <p:cNvPr id="132" name="Rectangle 131">
            <a:extLst xmlns:a="http://schemas.openxmlformats.org/drawingml/2006/main">
              <a:ext uri="{FF2B5EF4-FFF2-40B4-BE49-F238E27FC236}">
                <a16:creationId xmlns:a16="http://schemas.microsoft.com/office/drawing/2014/main" id="{28649D1A-BF7D-4478-8A9C-3938623816F0}"/>
              </a:ext>
            </a:extLst>
          </p:cNvPr>
          <p:cNvSpPr>
            <a:spLocks xmlns:a="http://schemas.openxmlformats.org/drawingml/2006/main" noGrp="1"/>
          </p:cNvSpPr>
          <p:nvPr/>
        </p:nvSpPr>
        <p:spPr>
          <a:xfrm xmlns:a="http://schemas.openxmlformats.org/drawingml/2006/main">
            <a:off x="8503920" y="4114800"/>
            <a:ext cx="3108960" cy="73152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C2732353-0189-446F-B5C5-76FEFFD33800}"/>
              </a:ext>
            </a:extLst>
          </p:cNvPr>
          <p:cNvSpPr>
            <a:spLocks xmlns:a="http://schemas.openxmlformats.org/drawingml/2006/main" noGrp="1"/>
          </p:cNvSpPr>
          <p:nvPr/>
        </p:nvSpPr>
        <p:spPr>
          <a:xfrm xmlns:a="http://schemas.openxmlformats.org/drawingml/2006/main">
            <a:off x="8641080" y="4114800"/>
            <a:ext cx="28346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00" b="0">
                <a:solidFill>
                  <a:srgbClr val="1E1E1E"/>
                </a:solidFill>
                <a:latin typeface="Arial"/>
                <a:ea typeface="Arial"/>
                <a:cs typeface="Arial"/>
              </a:rPr>
              <a:t>Shared monitoring UI</a:t>
            </a:r>
          </a:p>
          <a:p xmlns:a="http://schemas.openxmlformats.org/drawingml/2006/main">
            <a:pPr algn="l">
              <a:spcBef>
                <a:spcPts val="200"/>
              </a:spcBef>
              <a:buNone/>
            </a:pPr>
            <a:r>
              <a:rPr sz="1150" b="0">
                <a:solidFill>
                  <a:srgbClr val="555555"/>
                </a:solidFill>
                <a:latin typeface="Arial"/>
                <a:ea typeface="Arial"/>
                <a:cs typeface="Arial"/>
              </a:rPr>
              <a:t>Extension planned</a:t>
            </a:r>
          </a:p>
        </p:txBody>
      </p:sp>
      <p:sp>
        <p:nvSpPr>
          <p:cNvPr id="134" name="Rectangle 133">
            <a:extLst xmlns:a="http://schemas.openxmlformats.org/drawingml/2006/main">
              <a:ext uri="{FF2B5EF4-FFF2-40B4-BE49-F238E27FC236}">
                <a16:creationId xmlns:a16="http://schemas.microsoft.com/office/drawing/2014/main" id="{05FD42A0-B038-424D-B2D7-9836B49EDF82}"/>
              </a:ext>
            </a:extLst>
          </p:cNvPr>
          <p:cNvSpPr>
            <a:spLocks xmlns:a="http://schemas.openxmlformats.org/drawingml/2006/main" noGrp="1"/>
          </p:cNvSpPr>
          <p:nvPr/>
        </p:nvSpPr>
        <p:spPr>
          <a:xfrm xmlns:a="http://schemas.openxmlformats.org/drawingml/2006/main">
            <a:off x="548640" y="4937760"/>
            <a:ext cx="5486400" cy="10515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TextBox 134">
            <a:extLst xmlns:a="http://schemas.openxmlformats.org/drawingml/2006/main">
              <a:ext uri="{FF2B5EF4-FFF2-40B4-BE49-F238E27FC236}">
                <a16:creationId xmlns:a16="http://schemas.microsoft.com/office/drawing/2014/main" id="{884F2666-6C93-47AD-A937-8B89E598C4EE}"/>
              </a:ext>
            </a:extLst>
          </p:cNvPr>
          <p:cNvSpPr>
            <a:spLocks xmlns:a="http://schemas.openxmlformats.org/drawingml/2006/main" noGrp="1"/>
          </p:cNvSpPr>
          <p:nvPr/>
        </p:nvSpPr>
        <p:spPr>
          <a:xfrm xmlns:a="http://schemas.openxmlformats.org/drawingml/2006/main">
            <a:off x="685800" y="5047488"/>
            <a:ext cx="5212080" cy="7442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RATING MATTERS</a:t>
            </a:r>
          </a:p>
          <a:p xmlns:a="http://schemas.openxmlformats.org/drawingml/2006/main">
            <a:pPr algn="l">
              <a:spcBef>
                <a:spcPts val="400"/>
              </a:spcBef>
              <a:buNone/>
            </a:pPr>
            <a:r>
              <a:rPr sz="1150" b="0">
                <a:solidFill>
                  <a:srgbClr val="1E1E1E"/>
                </a:solidFill>
                <a:latin typeface="Arial"/>
                <a:ea typeface="Arial"/>
                <a:cs typeface="Arial"/>
              </a:rPr>
              <a:t>Rated phase current and thermal response depend on the transformer. The project uses separate frozen runtimes. A shared model would need explicit cross-rating validation.</a:t>
            </a:r>
          </a:p>
        </p:txBody>
      </p:sp>
      <p:sp>
        <p:nvSpPr>
          <p:cNvPr id="136" name="Rectangle 135">
            <a:extLst xmlns:a="http://schemas.openxmlformats.org/drawingml/2006/main">
              <a:ext uri="{FF2B5EF4-FFF2-40B4-BE49-F238E27FC236}">
                <a16:creationId xmlns:a16="http://schemas.microsoft.com/office/drawing/2014/main" id="{EDB0C4DD-1607-45D5-ACBF-76562DD020C3}"/>
              </a:ext>
            </a:extLst>
          </p:cNvPr>
          <p:cNvSpPr>
            <a:spLocks xmlns:a="http://schemas.openxmlformats.org/drawingml/2006/main" noGrp="1"/>
          </p:cNvSpPr>
          <p:nvPr/>
        </p:nvSpPr>
        <p:spPr>
          <a:xfrm xmlns:a="http://schemas.openxmlformats.org/drawingml/2006/main">
            <a:off x="6172200" y="4937760"/>
            <a:ext cx="5532120" cy="10515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TextBox 136">
            <a:extLst xmlns:a="http://schemas.openxmlformats.org/drawingml/2006/main">
              <a:ext uri="{FF2B5EF4-FFF2-40B4-BE49-F238E27FC236}">
                <a16:creationId xmlns:a16="http://schemas.microsoft.com/office/drawing/2014/main" id="{398BB4DF-5CFF-4A67-8106-98E4E30AB9CF}"/>
              </a:ext>
            </a:extLst>
          </p:cNvPr>
          <p:cNvSpPr>
            <a:spLocks xmlns:a="http://schemas.openxmlformats.org/drawingml/2006/main" noGrp="1"/>
          </p:cNvSpPr>
          <p:nvPr/>
        </p:nvSpPr>
        <p:spPr>
          <a:xfrm xmlns:a="http://schemas.openxmlformats.org/drawingml/2006/main">
            <a:off x="6309360" y="5047488"/>
            <a:ext cx="5257800" cy="568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DETECTION SCOPE</a:t>
            </a:r>
          </a:p>
          <a:p xmlns:a="http://schemas.openxmlformats.org/drawingml/2006/main">
            <a:pPr algn="l">
              <a:spcBef>
                <a:spcPts val="400"/>
              </a:spcBef>
              <a:buNone/>
            </a:pPr>
            <a:r>
              <a:rPr sz="1150" b="0">
                <a:solidFill>
                  <a:srgbClr val="1E1E1E"/>
                </a:solidFill>
                <a:latin typeface="Arial"/>
                <a:ea typeface="Arial"/>
                <a:cs typeface="Arial"/>
              </a:rPr>
              <a:t>100-kVA oil depletion and R-terminal heating use separate LR heads. Neither diagnoses internal bushing faults. No cross-rating accuracy ranking is justified.</a:t>
            </a:r>
          </a:p>
        </p:txBody>
      </p:sp>
    </p:spTree>
    <p:extLst>
      <p:ext uri="{BB962C8B-B14F-4D97-AF65-F5344CB8AC3E}">
        <p14:creationId xmlns:p14="http://schemas.microsoft.com/office/powerpoint/2010/main" val="34740413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98488CCE-0360-89B6-4046-FC26F65019A6}"/>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BAD9C57B-F6F3-960B-2E54-39726392A636}"/>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A917A33C-214C-F10D-7E5C-987AD50391FE}"/>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EC3E9E8C-7064-DF57-7125-35D14D08007D}"/>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92063938-2B2C-517B-2CDC-F732699DB84F}"/>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ADD863B3-FB63-A98A-CCFA-1758440FD1C9}"/>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51F07EC8-90E2-DA15-707C-65B7FC2CFD27}"/>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9A86EC5F-AB85-57CD-4F55-F52F87912928}"/>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3745C451-DF2A-D011-4BDF-DEDBD36770EB}"/>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0EE90816-27AE-4CA1-D5CA-B11516F96955}"/>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1BF5418E-414D-51B5-2C32-DE776CFBAE4F}"/>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F6BF817E-4E0A-211E-B5D1-E331A5044B46}"/>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1284878E-07F5-35FF-AB6A-8C583D38BB4D}"/>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36691215-60A8-ADF3-88D5-CB797C3423E7}"/>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3AF2E568-168F-385D-F29F-EEE9A769E496}"/>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04C7D755-00BE-DE6D-BE16-D04A10DF0827}"/>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12D03173-C8C9-DD78-3E1D-E9E28BC4BC72}"/>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EE1DD2A1-6B9E-D03B-333E-1858313267DF}"/>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2A0C8DA7-CBA5-AB3A-D584-570DCF84CCFF}"/>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DF0890F7-66D2-6B37-1F4F-0A30409C2321}"/>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B32AFFEA-FD9A-2F79-9E47-D714003A461F}"/>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9B626AD2-72C5-8E56-8C21-A2A3B27329DE}"/>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AE67FF56-6A28-972F-B870-BCF2FA72511D}"/>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8A7C628D-367C-2438-830E-61460EB8EA95}"/>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2AC24FCB-A920-D9CA-2C26-6691239AEC5E}"/>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90F5F315-D533-7ED4-9681-0FB3FAB679FD}"/>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57EA9C90-7C4C-F7ED-69D6-64CE220E141C}"/>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8FE02E4B-C682-93FC-A9B7-A80CA20CAE99}"/>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25FA78AE-4C52-FB27-8025-69B1196331ED}"/>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8E2C82E3-07CC-11DB-C250-0E4A17183065}"/>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42D23AF0-6963-EF75-741F-5B1D39BAE295}"/>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31328205-FD64-B57C-0B39-0C7C52575642}"/>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610ECCB6-6F35-30D5-B6C6-7AFFCA84D53D}"/>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D3BEF712-73F7-7038-36E1-46CC9EE387AD}"/>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80B2598D-7B0C-8CC1-DFEA-29DC290FC200}"/>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3E591962-DB40-284D-B566-8DB7C60BF092}"/>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BCF06EF0-34B0-7918-16F7-00E49A94B6CA}"/>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0B330414-9CB0-A401-50C0-AA89AB6086A4}"/>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138ACE30-0624-7441-6071-7D7B81A2880C}"/>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221A5561-609A-88C1-61A5-EA4040664608}"/>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E2FBAEAA-FFFF-CD29-B835-B292CCADAAB8}"/>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470BFB1C-375B-4472-DD78-C9E4B3B844AF}"/>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B3DD64F8-94E6-E046-0CE3-0497403EFEE3}"/>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59C51C64-E2BC-ABA7-013B-56C440BF5DFB}"/>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741E4C15-1BDD-2A38-365B-84332E0593CF}"/>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2AB4D1BF-5B6E-D9E0-0407-6A3F0EF9797B}"/>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39930258-8C08-9BF0-C690-6B226F151D9C}"/>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2BC90832-65CE-FAA0-EBF7-607832CD991C}"/>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1103DFF6-520A-8211-C90F-612849485B8F}"/>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0ED754C8-5A56-992A-3698-9C00A80420D1}"/>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83AB0F12-D007-4721-81B3-6A743217636F}"/>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CBBA7C50-5BA1-336E-DB71-F15D9A0CACCD}"/>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5B6AF748-0DB5-75A7-5C84-4F1994E545F2}"/>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0A62C875-6D2D-7148-79C8-241B7F6C720B}"/>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D09828A8-A639-AA4C-B7A6-ABD38C2BC463}"/>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BBEEDDC3-482E-1AE9-D404-B6C9C0798BA8}"/>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2914BF7C-03D1-E2CA-D20F-47177772834C}"/>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488BB7EF-DA3B-5B06-1A6A-27CF93E6E56A}"/>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C6A8A76C-34A1-4423-6AEE-3D2C12B46C62}"/>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FA048D6A-89FE-2F47-B3BB-41C6948A3E1E}"/>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3511C570-B961-D039-CFFF-032A863F90B9}"/>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31DF58B6-A448-98C3-2326-E7BB952390D3}"/>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0AAA1796-6968-AB2D-4111-12BF0CC745E2}"/>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0C022182-8995-6E53-7145-5E3EE44E09DE}"/>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BADC8D44-03EB-3A8F-5655-6323D0C9063F}"/>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0A639275-314A-CA16-B5FC-E27108A3760F}"/>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C02B4B9C-6B0F-F5B0-6955-8A79D8D70298}"/>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3" name="Picture 2">
            <a:extLst xmlns:a="http://schemas.openxmlformats.org/drawingml/2006/main">
              <a:ext uri="{FF2B5EF4-FFF2-40B4-BE49-F238E27FC236}">
                <a16:creationId xmlns:a16="http://schemas.microsoft.com/office/drawing/2014/main" id="{73AA23A7-1494-4EAE-A598-103F8621F66A}"/>
              </a:ext>
            </a:extLst>
          </p:cNvPr>
          <p:cNvPicPr>
            <a:picLocks xmlns:a="http://schemas.openxmlformats.org/drawingml/2006/main" noChangeAspect="1"/>
          </p:cNvPicPr>
          <p:nvPr/>
        </p:nvPicPr>
        <p:blipFill>
          <a:blip xmlns:r="http://schemas.openxmlformats.org/officeDocument/2006/relationships" xmlns:a="http://schemas.openxmlformats.org/drawingml/2006/main" r:embed="R1112ae447f2b4469"/>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42566CF1-A92C-47F9-82A5-51EE4E2E41ED}"/>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The judge demonstration</a:t>
            </a:r>
          </a:p>
        </p:txBody>
      </p:sp>
      <p:sp>
        <p:nvSpPr>
          <p:cNvPr id="91" name="Subtitle">
            <a:extLst xmlns:a="http://schemas.openxmlformats.org/drawingml/2006/main">
              <a:ext uri="{FF2B5EF4-FFF2-40B4-BE49-F238E27FC236}">
                <a16:creationId xmlns:a16="http://schemas.microsoft.com/office/drawing/2014/main" id="{E494530B-CEBC-4D11-ABFC-C192BFA76A4D}"/>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A separate 4,032-reading synthetic replay shows normal response, injected excess heat and recovery.</a:t>
            </a:r>
          </a:p>
        </p:txBody>
      </p:sp>
      <p:sp>
        <p:nvSpPr>
          <p:cNvPr id="92" name="Connector 91">
            <a:extLst xmlns:a="http://schemas.openxmlformats.org/drawingml/2006/main">
              <a:ext uri="{FF2B5EF4-FFF2-40B4-BE49-F238E27FC236}">
                <a16:creationId xmlns:a16="http://schemas.microsoft.com/office/drawing/2014/main" id="{3923B2A6-1693-4666-9CB8-C5374F060591}"/>
              </a:ext>
            </a:extLst>
          </p:cNvPr>
          <p:cNvSpPr>
            <a:spLocks xmlns:a="http://schemas.openxmlformats.org/drawingml/2006/main" noGrp="1"/>
          </p:cNvSpPr>
          <p:nvPr/>
        </p:nvSpPr>
        <p:spPr>
          <a:xfrm xmlns:a="http://schemas.openxmlformats.org/drawingml/2006/main">
            <a:off x="548640" y="6117336"/>
            <a:ext cx="11155680" cy="0"/>
          </a:xfrm>
          <a:prstGeom xmlns:a="http://schemas.openxmlformats.org/drawingml/2006/main" prst="line">
            <a:avLst/>
          </a:prstGeom>
          <a:ln xmlns:a="http://schemas.openxmlformats.org/drawingml/2006/main" w="9525">
            <a:solidFill>
              <a:srgbClr val="BDBD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3" name="Footer">
            <a:extLst xmlns:a="http://schemas.openxmlformats.org/drawingml/2006/main">
              <a:ext uri="{FF2B5EF4-FFF2-40B4-BE49-F238E27FC236}">
                <a16:creationId xmlns:a16="http://schemas.microsoft.com/office/drawing/2014/main" id="{75434753-A82D-4FDC-98D5-F9A84A82C68B}"/>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C48F5361-FB23-4D00-B43A-C449C5C89EBB}"/>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07 / 10</a:t>
            </a:r>
          </a:p>
        </p:txBody>
      </p:sp>
      <p:sp>
        <p:nvSpPr>
          <p:cNvPr id="95" name="Rectangle 94">
            <a:extLst xmlns:a="http://schemas.openxmlformats.org/drawingml/2006/main">
              <a:ext uri="{FF2B5EF4-FFF2-40B4-BE49-F238E27FC236}">
                <a16:creationId xmlns:a16="http://schemas.microsoft.com/office/drawing/2014/main" id="{B9A90441-C835-4BC0-919D-ACBAF2B2EF31}"/>
              </a:ext>
            </a:extLst>
          </p:cNvPr>
          <p:cNvSpPr>
            <a:spLocks xmlns:a="http://schemas.openxmlformats.org/drawingml/2006/main" noGrp="1"/>
          </p:cNvSpPr>
          <p:nvPr/>
        </p:nvSpPr>
        <p:spPr>
          <a:xfrm xmlns:a="http://schemas.openxmlformats.org/drawingml/2006/main">
            <a:off x="512063" y="1472184"/>
            <a:ext cx="7022592" cy="3984615"/>
          </a:xfrm>
          <a:prstGeom xmlns:a="http://schemas.openxmlformats.org/drawingml/2006/main" prst="rect">
            <a:avLst/>
          </a:prstGeom>
          <a:solidFill xmlns:a="http://schemas.openxmlformats.org/drawingml/2006/main">
            <a:srgbClr val="FFFFFF"/>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96" name="Dashboard screenshot">
            <a:extLst xmlns:a="http://schemas.openxmlformats.org/drawingml/2006/main">
              <a:ext uri="{FF2B5EF4-FFF2-40B4-BE49-F238E27FC236}">
                <a16:creationId xmlns:a16="http://schemas.microsoft.com/office/drawing/2014/main" id="{9C74B0C2-ABF8-44AD-8A31-4FA932825D09}"/>
              </a:ext>
            </a:extLst>
          </p:cNvPr>
          <p:cNvPicPr>
            <a:picLocks xmlns:a="http://schemas.openxmlformats.org/drawingml/2006/main" noChangeAspect="1"/>
          </p:cNvPicPr>
          <p:nvPr/>
        </p:nvPicPr>
        <p:blipFill>
          <a:blip xmlns:r="http://schemas.openxmlformats.org/officeDocument/2006/relationships" xmlns:a="http://schemas.openxmlformats.org/drawingml/2006/main" r:embed="Radcb1a31bb444c10"/>
          <a:stretch xmlns:a="http://schemas.openxmlformats.org/drawingml/2006/main"/>
        </p:blipFill>
        <p:spPr>
          <a:xfrm xmlns:a="http://schemas.openxmlformats.org/drawingml/2006/main">
            <a:off x="548640" y="1508760"/>
            <a:ext cx="6949439" cy="3911463"/>
          </a:xfrm>
          <a:prstGeom xmlns:a="http://schemas.openxmlformats.org/drawingml/2006/main" prst="rect">
            <a:avLst/>
          </a:prstGeom>
        </p:spPr>
      </p:pic>
      <p:sp>
        <p:nvSpPr>
          <p:cNvPr id="98" name="TextBox 97">
            <a:extLst xmlns:a="http://schemas.openxmlformats.org/drawingml/2006/main">
              <a:ext uri="{FF2B5EF4-FFF2-40B4-BE49-F238E27FC236}">
                <a16:creationId xmlns:a16="http://schemas.microsoft.com/office/drawing/2014/main" id="{328703D4-844E-449F-A597-AC07EBFDCB88}"/>
              </a:ext>
            </a:extLst>
          </p:cNvPr>
          <p:cNvSpPr>
            <a:spLocks xmlns:a="http://schemas.openxmlformats.org/drawingml/2006/main" noGrp="1"/>
          </p:cNvSpPr>
          <p:nvPr/>
        </p:nvSpPr>
        <p:spPr>
          <a:xfrm xmlns:a="http://schemas.openxmlformats.org/drawingml/2006/main">
            <a:off x="1325265" y="1538252"/>
            <a:ext cx="292608"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
            </a:r>
          </a:p>
        </p:txBody>
      </p:sp>
      <p:sp>
        <p:nvSpPr>
          <p:cNvPr id="100" name="TextBox 99">
            <a:extLst xmlns:a="http://schemas.openxmlformats.org/drawingml/2006/main">
              <a:ext uri="{FF2B5EF4-FFF2-40B4-BE49-F238E27FC236}">
                <a16:creationId xmlns:a16="http://schemas.microsoft.com/office/drawing/2014/main" id="{8CF704BF-F74E-47E2-8105-8E5CB7297B5C}"/>
              </a:ext>
            </a:extLst>
          </p:cNvPr>
          <p:cNvSpPr>
            <a:spLocks xmlns:a="http://schemas.openxmlformats.org/drawingml/2006/main" noGrp="1"/>
          </p:cNvSpPr>
          <p:nvPr/>
        </p:nvSpPr>
        <p:spPr>
          <a:xfrm xmlns:a="http://schemas.openxmlformats.org/drawingml/2006/main">
            <a:off x="556157" y="1911818"/>
            <a:ext cx="292608"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
            </a:r>
          </a:p>
        </p:txBody>
      </p:sp>
      <p:sp>
        <p:nvSpPr>
          <p:cNvPr id="102" name="TextBox 101">
            <a:extLst xmlns:a="http://schemas.openxmlformats.org/drawingml/2006/main">
              <a:ext uri="{FF2B5EF4-FFF2-40B4-BE49-F238E27FC236}">
                <a16:creationId xmlns:a16="http://schemas.microsoft.com/office/drawing/2014/main" id="{6328E820-8CD4-4365-A95A-615D96D5259E}"/>
              </a:ext>
            </a:extLst>
          </p:cNvPr>
          <p:cNvSpPr>
            <a:spLocks xmlns:a="http://schemas.openxmlformats.org/drawingml/2006/main" noGrp="1"/>
          </p:cNvSpPr>
          <p:nvPr/>
        </p:nvSpPr>
        <p:spPr>
          <a:xfrm xmlns:a="http://schemas.openxmlformats.org/drawingml/2006/main">
            <a:off x="4247875" y="3257757"/>
            <a:ext cx="292608"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
            </a:r>
          </a:p>
        </p:txBody>
      </p:sp>
      <p:sp>
        <p:nvSpPr>
          <p:cNvPr id="104" name="TextBox 103">
            <a:extLst xmlns:a="http://schemas.openxmlformats.org/drawingml/2006/main">
              <a:ext uri="{FF2B5EF4-FFF2-40B4-BE49-F238E27FC236}">
                <a16:creationId xmlns:a16="http://schemas.microsoft.com/office/drawing/2014/main" id="{25C84456-9D90-4A45-9BFB-9528B6D51896}"/>
              </a:ext>
            </a:extLst>
          </p:cNvPr>
          <p:cNvSpPr>
            <a:spLocks xmlns:a="http://schemas.openxmlformats.org/drawingml/2006/main" noGrp="1"/>
          </p:cNvSpPr>
          <p:nvPr/>
        </p:nvSpPr>
        <p:spPr>
          <a:xfrm xmlns:a="http://schemas.openxmlformats.org/drawingml/2006/main">
            <a:off x="4797238" y="1867869"/>
            <a:ext cx="292608"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
            </a:r>
          </a:p>
        </p:txBody>
      </p:sp>
      <p:sp>
        <p:nvSpPr>
          <p:cNvPr id="105" name="Rectangle 104">
            <a:extLst xmlns:a="http://schemas.openxmlformats.org/drawingml/2006/main">
              <a:ext uri="{FF2B5EF4-FFF2-40B4-BE49-F238E27FC236}">
                <a16:creationId xmlns:a16="http://schemas.microsoft.com/office/drawing/2014/main" id="{CF67C044-7DA8-4D69-B69A-7769E3C82900}"/>
              </a:ext>
            </a:extLst>
          </p:cNvPr>
          <p:cNvSpPr>
            <a:spLocks xmlns:a="http://schemas.openxmlformats.org/drawingml/2006/main" noGrp="1"/>
          </p:cNvSpPr>
          <p:nvPr/>
        </p:nvSpPr>
        <p:spPr>
          <a:xfrm xmlns:a="http://schemas.openxmlformats.org/drawingml/2006/main">
            <a:off x="7772400" y="1463040"/>
            <a:ext cx="3931920" cy="10058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Oval 105">
            <a:extLst xmlns:a="http://schemas.openxmlformats.org/drawingml/2006/main">
              <a:ext uri="{FF2B5EF4-FFF2-40B4-BE49-F238E27FC236}">
                <a16:creationId xmlns:a16="http://schemas.microsoft.com/office/drawing/2014/main" id="{8E1CA5DD-675D-4ADA-9AFF-75F289226F5A}"/>
              </a:ext>
            </a:extLst>
          </p:cNvPr>
          <p:cNvSpPr>
            <a:spLocks xmlns:a="http://schemas.openxmlformats.org/drawingml/2006/main" noGrp="1"/>
          </p:cNvSpPr>
          <p:nvPr/>
        </p:nvSpPr>
        <p:spPr>
          <a:xfrm xmlns:a="http://schemas.openxmlformats.org/drawingml/2006/main">
            <a:off x="7946136" y="1618488"/>
            <a:ext cx="292608" cy="292608"/>
          </a:xfrm>
          <a:prstGeom xmlns:a="http://schemas.openxmlformats.org/drawingml/2006/main" prst="ellipse">
            <a:avLst/>
          </a:prstGeom>
          <a:solidFill xmlns:a="http://schemas.openxmlformats.org/drawingml/2006/main">
            <a:srgbClr val="D46A12"/>
          </a:solidFill>
          <a:ln xmlns:a="http://schemas.openxmlformats.org/drawingml/2006/main" w="1905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TextBox 106">
            <a:extLst xmlns:a="http://schemas.openxmlformats.org/drawingml/2006/main">
              <a:ext uri="{FF2B5EF4-FFF2-40B4-BE49-F238E27FC236}">
                <a16:creationId xmlns:a16="http://schemas.microsoft.com/office/drawing/2014/main" id="{1A953F1A-FADF-4764-8E95-EFFB4DAA74D8}"/>
              </a:ext>
            </a:extLst>
          </p:cNvPr>
          <p:cNvSpPr>
            <a:spLocks xmlns:a="http://schemas.openxmlformats.org/drawingml/2006/main" noGrp="1"/>
          </p:cNvSpPr>
          <p:nvPr/>
        </p:nvSpPr>
        <p:spPr>
          <a:xfrm xmlns:a="http://schemas.openxmlformats.org/drawingml/2006/main">
            <a:off x="7946136" y="1618488"/>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1</a:t>
            </a:r>
          </a:p>
        </p:txBody>
      </p:sp>
      <p:sp>
        <p:nvSpPr>
          <p:cNvPr id="108" name="TextBox 107">
            <a:extLst xmlns:a="http://schemas.openxmlformats.org/drawingml/2006/main">
              <a:ext uri="{FF2B5EF4-FFF2-40B4-BE49-F238E27FC236}">
                <a16:creationId xmlns:a16="http://schemas.microsoft.com/office/drawing/2014/main" id="{52BE8D3E-0F80-45E3-B206-85AFD0651D33}"/>
              </a:ext>
            </a:extLst>
          </p:cNvPr>
          <p:cNvSpPr>
            <a:spLocks xmlns:a="http://schemas.openxmlformats.org/drawingml/2006/main" noGrp="1"/>
          </p:cNvSpPr>
          <p:nvPr/>
        </p:nvSpPr>
        <p:spPr>
          <a:xfrm xmlns:a="http://schemas.openxmlformats.org/drawingml/2006/main">
            <a:off x="8229600" y="1554480"/>
            <a:ext cx="3383280" cy="543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NORMAL RESPONSE</a:t>
            </a:r>
          </a:p>
          <a:p xmlns:a="http://schemas.openxmlformats.org/drawingml/2006/main">
            <a:pPr algn="l">
              <a:spcBef>
                <a:spcPts val="200"/>
              </a:spcBef>
              <a:buNone/>
            </a:pPr>
            <a:r>
              <a:rPr sz="1150" b="0">
                <a:solidFill>
                  <a:srgbClr val="1E1E1E"/>
                </a:solidFill>
                <a:latin typeface="Arial"/>
                <a:ea typeface="Arial"/>
                <a:cs typeface="Arial"/>
              </a:rPr>
              <a:t>1–8 February: actual oil follows expected oil under alternating 35% and 70% loading.</a:t>
            </a:r>
          </a:p>
        </p:txBody>
      </p:sp>
      <p:sp>
        <p:nvSpPr>
          <p:cNvPr id="109" name="Rectangle 108">
            <a:extLst xmlns:a="http://schemas.openxmlformats.org/drawingml/2006/main">
              <a:ext uri="{FF2B5EF4-FFF2-40B4-BE49-F238E27FC236}">
                <a16:creationId xmlns:a16="http://schemas.microsoft.com/office/drawing/2014/main" id="{AF2AD5A5-D2FE-4FF6-88B9-BAC34249EA68}"/>
              </a:ext>
            </a:extLst>
          </p:cNvPr>
          <p:cNvSpPr>
            <a:spLocks xmlns:a="http://schemas.openxmlformats.org/drawingml/2006/main" noGrp="1"/>
          </p:cNvSpPr>
          <p:nvPr/>
        </p:nvSpPr>
        <p:spPr>
          <a:xfrm xmlns:a="http://schemas.openxmlformats.org/drawingml/2006/main">
            <a:off x="7772400" y="2560320"/>
            <a:ext cx="3931920" cy="10058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24C2BB9D-B71A-433F-8622-5862888C4675}"/>
              </a:ext>
            </a:extLst>
          </p:cNvPr>
          <p:cNvSpPr>
            <a:spLocks xmlns:a="http://schemas.openxmlformats.org/drawingml/2006/main" noGrp="1"/>
          </p:cNvSpPr>
          <p:nvPr/>
        </p:nvSpPr>
        <p:spPr>
          <a:xfrm xmlns:a="http://schemas.openxmlformats.org/drawingml/2006/main">
            <a:off x="7946136" y="2715768"/>
            <a:ext cx="292608" cy="292608"/>
          </a:xfrm>
          <a:prstGeom xmlns:a="http://schemas.openxmlformats.org/drawingml/2006/main" prst="ellipse">
            <a:avLst/>
          </a:prstGeom>
          <a:solidFill xmlns:a="http://schemas.openxmlformats.org/drawingml/2006/main">
            <a:srgbClr val="D46A12"/>
          </a:solidFill>
          <a:ln xmlns:a="http://schemas.openxmlformats.org/drawingml/2006/main" w="1905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TextBox 110">
            <a:extLst xmlns:a="http://schemas.openxmlformats.org/drawingml/2006/main">
              <a:ext uri="{FF2B5EF4-FFF2-40B4-BE49-F238E27FC236}">
                <a16:creationId xmlns:a16="http://schemas.microsoft.com/office/drawing/2014/main" id="{CAE9A7DE-C832-4E09-B4ED-C0F2B5402584}"/>
              </a:ext>
            </a:extLst>
          </p:cNvPr>
          <p:cNvSpPr>
            <a:spLocks xmlns:a="http://schemas.openxmlformats.org/drawingml/2006/main" noGrp="1"/>
          </p:cNvSpPr>
          <p:nvPr/>
        </p:nvSpPr>
        <p:spPr>
          <a:xfrm xmlns:a="http://schemas.openxmlformats.org/drawingml/2006/main">
            <a:off x="7946136" y="2715768"/>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2</a:t>
            </a:r>
          </a:p>
        </p:txBody>
      </p:sp>
      <p:sp>
        <p:nvSpPr>
          <p:cNvPr id="112" name="TextBox 111">
            <a:extLst xmlns:a="http://schemas.openxmlformats.org/drawingml/2006/main">
              <a:ext uri="{FF2B5EF4-FFF2-40B4-BE49-F238E27FC236}">
                <a16:creationId xmlns:a16="http://schemas.microsoft.com/office/drawing/2014/main" id="{58ED2BD7-0F69-48BB-896B-E4AA6875A84D}"/>
              </a:ext>
            </a:extLst>
          </p:cNvPr>
          <p:cNvSpPr>
            <a:spLocks xmlns:a="http://schemas.openxmlformats.org/drawingml/2006/main" noGrp="1"/>
          </p:cNvSpPr>
          <p:nvPr/>
        </p:nvSpPr>
        <p:spPr>
          <a:xfrm xmlns:a="http://schemas.openxmlformats.org/drawingml/2006/main">
            <a:off x="8229600" y="2651760"/>
            <a:ext cx="3383280" cy="7188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EXCESS HEATING</a:t>
            </a:r>
          </a:p>
          <a:p xmlns:a="http://schemas.openxmlformats.org/drawingml/2006/main">
            <a:pPr algn="l">
              <a:spcBef>
                <a:spcPts val="200"/>
              </a:spcBef>
              <a:buNone/>
            </a:pPr>
            <a:r>
              <a:rPr sz="1150" b="0">
                <a:solidFill>
                  <a:srgbClr val="1E1E1E"/>
                </a:solidFill>
                <a:latin typeface="Arial"/>
                <a:ea typeface="Arial"/>
                <a:cs typeface="Arial"/>
              </a:rPr>
              <a:t>9–11 February: added heat separates actual from expected. The locked detector raises a thermal alert.</a:t>
            </a:r>
          </a:p>
        </p:txBody>
      </p:sp>
      <p:sp>
        <p:nvSpPr>
          <p:cNvPr id="113" name="Rectangle 112">
            <a:extLst xmlns:a="http://schemas.openxmlformats.org/drawingml/2006/main">
              <a:ext uri="{FF2B5EF4-FFF2-40B4-BE49-F238E27FC236}">
                <a16:creationId xmlns:a16="http://schemas.microsoft.com/office/drawing/2014/main" id="{328E601A-ED2F-4EFD-8B39-2D28A0EEF03E}"/>
              </a:ext>
            </a:extLst>
          </p:cNvPr>
          <p:cNvSpPr>
            <a:spLocks xmlns:a="http://schemas.openxmlformats.org/drawingml/2006/main" noGrp="1"/>
          </p:cNvSpPr>
          <p:nvPr/>
        </p:nvSpPr>
        <p:spPr>
          <a:xfrm xmlns:a="http://schemas.openxmlformats.org/drawingml/2006/main">
            <a:off x="7772400" y="3657600"/>
            <a:ext cx="3931920" cy="10058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E4FE4219-CD1A-428F-8E2F-1EB53000CFB1}"/>
              </a:ext>
            </a:extLst>
          </p:cNvPr>
          <p:cNvSpPr>
            <a:spLocks xmlns:a="http://schemas.openxmlformats.org/drawingml/2006/main" noGrp="1"/>
          </p:cNvSpPr>
          <p:nvPr/>
        </p:nvSpPr>
        <p:spPr>
          <a:xfrm xmlns:a="http://schemas.openxmlformats.org/drawingml/2006/main">
            <a:off x="7946136" y="3813048"/>
            <a:ext cx="292608" cy="292608"/>
          </a:xfrm>
          <a:prstGeom xmlns:a="http://schemas.openxmlformats.org/drawingml/2006/main" prst="ellipse">
            <a:avLst/>
          </a:prstGeom>
          <a:solidFill xmlns:a="http://schemas.openxmlformats.org/drawingml/2006/main">
            <a:srgbClr val="D46A12"/>
          </a:solidFill>
          <a:ln xmlns:a="http://schemas.openxmlformats.org/drawingml/2006/main" w="1905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TextBox 114">
            <a:extLst xmlns:a="http://schemas.openxmlformats.org/drawingml/2006/main">
              <a:ext uri="{FF2B5EF4-FFF2-40B4-BE49-F238E27FC236}">
                <a16:creationId xmlns:a16="http://schemas.microsoft.com/office/drawing/2014/main" id="{694ECC99-D9F5-4ACC-A4E9-17EC9F1B839B}"/>
              </a:ext>
            </a:extLst>
          </p:cNvPr>
          <p:cNvSpPr>
            <a:spLocks xmlns:a="http://schemas.openxmlformats.org/drawingml/2006/main" noGrp="1"/>
          </p:cNvSpPr>
          <p:nvPr/>
        </p:nvSpPr>
        <p:spPr>
          <a:xfrm xmlns:a="http://schemas.openxmlformats.org/drawingml/2006/main">
            <a:off x="7946136" y="3813048"/>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3</a:t>
            </a:r>
          </a:p>
        </p:txBody>
      </p:sp>
      <p:sp>
        <p:nvSpPr>
          <p:cNvPr id="116" name="TextBox 115">
            <a:extLst xmlns:a="http://schemas.openxmlformats.org/drawingml/2006/main">
              <a:ext uri="{FF2B5EF4-FFF2-40B4-BE49-F238E27FC236}">
                <a16:creationId xmlns:a16="http://schemas.microsoft.com/office/drawing/2014/main" id="{CF15B326-083B-4213-8B77-9F00F08A8D12}"/>
              </a:ext>
            </a:extLst>
          </p:cNvPr>
          <p:cNvSpPr>
            <a:spLocks xmlns:a="http://schemas.openxmlformats.org/drawingml/2006/main" noGrp="1"/>
          </p:cNvSpPr>
          <p:nvPr/>
        </p:nvSpPr>
        <p:spPr>
          <a:xfrm xmlns:a="http://schemas.openxmlformats.org/drawingml/2006/main">
            <a:off x="8229600" y="3749039"/>
            <a:ext cx="3383280" cy="543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RECOVERY</a:t>
            </a:r>
          </a:p>
          <a:p xmlns:a="http://schemas.openxmlformats.org/drawingml/2006/main">
            <a:pPr algn="l">
              <a:spcBef>
                <a:spcPts val="200"/>
              </a:spcBef>
              <a:buNone/>
            </a:pPr>
            <a:r>
              <a:rPr sz="1150" b="0">
                <a:solidFill>
                  <a:srgbClr val="1E1E1E"/>
                </a:solidFill>
                <a:latin typeface="Arial"/>
                <a:ea typeface="Arial"/>
                <a:cs typeface="Arial"/>
              </a:rPr>
              <a:t>12–14 February: the extra heat stops. Oil cools gradually and the detector returns to no alert.</a:t>
            </a:r>
          </a:p>
        </p:txBody>
      </p:sp>
      <p:sp>
        <p:nvSpPr>
          <p:cNvPr id="117" name="Rectangle 116">
            <a:extLst xmlns:a="http://schemas.openxmlformats.org/drawingml/2006/main">
              <a:ext uri="{FF2B5EF4-FFF2-40B4-BE49-F238E27FC236}">
                <a16:creationId xmlns:a16="http://schemas.microsoft.com/office/drawing/2014/main" id="{9B212886-9A7E-4D06-A18E-9C229921D337}"/>
              </a:ext>
            </a:extLst>
          </p:cNvPr>
          <p:cNvSpPr>
            <a:spLocks xmlns:a="http://schemas.openxmlformats.org/drawingml/2006/main" noGrp="1"/>
          </p:cNvSpPr>
          <p:nvPr/>
        </p:nvSpPr>
        <p:spPr>
          <a:xfrm xmlns:a="http://schemas.openxmlformats.org/drawingml/2006/main">
            <a:off x="7772400" y="4754880"/>
            <a:ext cx="3931920" cy="100584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2D38B983-646D-49DC-9762-6F3D3DA1664A}"/>
              </a:ext>
            </a:extLst>
          </p:cNvPr>
          <p:cNvSpPr>
            <a:spLocks xmlns:a="http://schemas.openxmlformats.org/drawingml/2006/main" noGrp="1"/>
          </p:cNvSpPr>
          <p:nvPr/>
        </p:nvSpPr>
        <p:spPr>
          <a:xfrm xmlns:a="http://schemas.openxmlformats.org/drawingml/2006/main">
            <a:off x="7946136" y="4910328"/>
            <a:ext cx="292608" cy="292608"/>
          </a:xfrm>
          <a:prstGeom xmlns:a="http://schemas.openxmlformats.org/drawingml/2006/main" prst="ellipse">
            <a:avLst/>
          </a:prstGeom>
          <a:solidFill xmlns:a="http://schemas.openxmlformats.org/drawingml/2006/main">
            <a:srgbClr val="D46A12"/>
          </a:solidFill>
          <a:ln xmlns:a="http://schemas.openxmlformats.org/drawingml/2006/main" w="1905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TextBox 118">
            <a:extLst xmlns:a="http://schemas.openxmlformats.org/drawingml/2006/main">
              <a:ext uri="{FF2B5EF4-FFF2-40B4-BE49-F238E27FC236}">
                <a16:creationId xmlns:a16="http://schemas.microsoft.com/office/drawing/2014/main" id="{99A0CA0F-5753-4A6E-9812-93FA97353CB6}"/>
              </a:ext>
            </a:extLst>
          </p:cNvPr>
          <p:cNvSpPr>
            <a:spLocks xmlns:a="http://schemas.openxmlformats.org/drawingml/2006/main" noGrp="1"/>
          </p:cNvSpPr>
          <p:nvPr/>
        </p:nvSpPr>
        <p:spPr>
          <a:xfrm xmlns:a="http://schemas.openxmlformats.org/drawingml/2006/main">
            <a:off x="7946136" y="4910328"/>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4</a:t>
            </a:r>
          </a:p>
        </p:txBody>
      </p:sp>
      <p:sp>
        <p:nvSpPr>
          <p:cNvPr id="120" name="TextBox 119">
            <a:extLst xmlns:a="http://schemas.openxmlformats.org/drawingml/2006/main">
              <a:ext uri="{FF2B5EF4-FFF2-40B4-BE49-F238E27FC236}">
                <a16:creationId xmlns:a16="http://schemas.microsoft.com/office/drawing/2014/main" id="{6057446F-3EC1-4FEE-9F20-DA393A0DD494}"/>
              </a:ext>
            </a:extLst>
          </p:cNvPr>
          <p:cNvSpPr>
            <a:spLocks xmlns:a="http://schemas.openxmlformats.org/drawingml/2006/main" noGrp="1"/>
          </p:cNvSpPr>
          <p:nvPr/>
        </p:nvSpPr>
        <p:spPr>
          <a:xfrm xmlns:a="http://schemas.openxmlformats.org/drawingml/2006/main">
            <a:off x="8229600" y="4846320"/>
            <a:ext cx="3383280" cy="5435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COMPLETE REPLAY</a:t>
            </a:r>
          </a:p>
          <a:p xmlns:a="http://schemas.openxmlformats.org/drawingml/2006/main">
            <a:pPr algn="l">
              <a:spcBef>
                <a:spcPts val="200"/>
              </a:spcBef>
              <a:buNone/>
            </a:pPr>
            <a:r>
              <a:rPr sz="1150" b="0">
                <a:solidFill>
                  <a:srgbClr val="1E1E1E"/>
                </a:solidFill>
                <a:latin typeface="Arial"/>
                <a:ea typeface="Arial"/>
                <a:cs typeface="Arial"/>
              </a:rPr>
              <a:t>4,032 readings processed. One thermal episode recorded. Zero active warnings after recovery.</a:t>
            </a:r>
          </a:p>
        </p:txBody>
      </p:sp>
      <p:sp>
        <p:nvSpPr>
          <p:cNvPr id="121" name="TextBox 120">
            <a:extLst xmlns:a="http://schemas.openxmlformats.org/drawingml/2006/main">
              <a:ext uri="{FF2B5EF4-FFF2-40B4-BE49-F238E27FC236}">
                <a16:creationId xmlns:a16="http://schemas.microsoft.com/office/drawing/2014/main" id="{B0226C40-2D74-49D3-AF89-60572E0AFB07}"/>
              </a:ext>
            </a:extLst>
          </p:cNvPr>
          <p:cNvSpPr>
            <a:spLocks xmlns:a="http://schemas.openxmlformats.org/drawingml/2006/main" noGrp="1"/>
          </p:cNvSpPr>
          <p:nvPr/>
        </p:nvSpPr>
        <p:spPr>
          <a:xfrm xmlns:a="http://schemas.openxmlformats.org/drawingml/2006/main">
            <a:off x="7772400" y="5852160"/>
            <a:ext cx="3931920" cy="1600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50" b="0">
                <a:solidFill>
                  <a:srgbClr val="555555"/>
                </a:solidFill>
                <a:latin typeface="Arial"/>
                <a:ea typeface="Arial"/>
                <a:cs typeface="Arial"/>
              </a:rPr>
              <a:t>History retains the warning after recovery.</a:t>
            </a:r>
          </a:p>
        </p:txBody>
      </p:sp>
      <p:sp>
        <p:nvSpPr>
          <p:cNvPr id="122" name="Rectangle 121">
            <a:extLst xmlns:a="http://schemas.openxmlformats.org/drawingml/2006/main">
              <a:ext uri="{FF2B5EF4-FFF2-40B4-BE49-F238E27FC236}">
                <a16:creationId xmlns:a16="http://schemas.microsoft.com/office/drawing/2014/main" id="{7D59F290-C5C4-48C7-B2A6-482C0E5F2D8F}"/>
              </a:ext>
            </a:extLst>
          </p:cNvPr>
          <p:cNvSpPr>
            <a:spLocks xmlns:a="http://schemas.openxmlformats.org/drawingml/2006/main" noGrp="1"/>
          </p:cNvSpPr>
          <p:nvPr/>
        </p:nvSpPr>
        <p:spPr>
          <a:xfrm xmlns:a="http://schemas.openxmlformats.org/drawingml/2006/main">
            <a:off x="548640" y="5532120"/>
            <a:ext cx="1316736" cy="3657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TextBox 122">
            <a:extLst xmlns:a="http://schemas.openxmlformats.org/drawingml/2006/main">
              <a:ext uri="{FF2B5EF4-FFF2-40B4-BE49-F238E27FC236}">
                <a16:creationId xmlns:a16="http://schemas.microsoft.com/office/drawing/2014/main" id="{742C1C4B-2CE5-4CE2-800B-2C41AE51B4D8}"/>
              </a:ext>
            </a:extLst>
          </p:cNvPr>
          <p:cNvSpPr>
            <a:spLocks xmlns:a="http://schemas.openxmlformats.org/drawingml/2006/main" noGrp="1"/>
          </p:cNvSpPr>
          <p:nvPr/>
        </p:nvSpPr>
        <p:spPr>
          <a:xfrm xmlns:a="http://schemas.openxmlformats.org/drawingml/2006/main">
            <a:off x="548640" y="5532120"/>
            <a:ext cx="1316736"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1E1E1E"/>
                </a:solidFill>
                <a:latin typeface="Arial"/>
                <a:ea typeface="Arial"/>
                <a:cs typeface="Arial"/>
              </a:rPr>
              <a:t>100 kVA</a:t>
            </a:r>
          </a:p>
        </p:txBody>
      </p:sp>
      <p:sp>
        <p:nvSpPr>
          <p:cNvPr id="124" name="Rectangle 123">
            <a:extLst xmlns:a="http://schemas.openxmlformats.org/drawingml/2006/main">
              <a:ext uri="{FF2B5EF4-FFF2-40B4-BE49-F238E27FC236}">
                <a16:creationId xmlns:a16="http://schemas.microsoft.com/office/drawing/2014/main" id="{37AE0E57-BB30-4AD5-A017-6E2FD26C8C5C}"/>
              </a:ext>
            </a:extLst>
          </p:cNvPr>
          <p:cNvSpPr>
            <a:spLocks xmlns:a="http://schemas.openxmlformats.org/drawingml/2006/main" noGrp="1"/>
          </p:cNvSpPr>
          <p:nvPr/>
        </p:nvSpPr>
        <p:spPr>
          <a:xfrm xmlns:a="http://schemas.openxmlformats.org/drawingml/2006/main">
            <a:off x="1956816" y="5532120"/>
            <a:ext cx="1316736" cy="3657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TextBox 124">
            <a:extLst xmlns:a="http://schemas.openxmlformats.org/drawingml/2006/main">
              <a:ext uri="{FF2B5EF4-FFF2-40B4-BE49-F238E27FC236}">
                <a16:creationId xmlns:a16="http://schemas.microsoft.com/office/drawing/2014/main" id="{4E8A0ED4-786D-4489-9CCE-B37BD3A7BBBC}"/>
              </a:ext>
            </a:extLst>
          </p:cNvPr>
          <p:cNvSpPr>
            <a:spLocks xmlns:a="http://schemas.openxmlformats.org/drawingml/2006/main" noGrp="1"/>
          </p:cNvSpPr>
          <p:nvPr/>
        </p:nvSpPr>
        <p:spPr>
          <a:xfrm xmlns:a="http://schemas.openxmlformats.org/drawingml/2006/main">
            <a:off x="1956816" y="5532120"/>
            <a:ext cx="1316736"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1E1E1E"/>
                </a:solidFill>
                <a:latin typeface="Arial"/>
                <a:ea typeface="Arial"/>
                <a:cs typeface="Arial"/>
              </a:rPr>
              <a:t>JUDGE DEMO</a:t>
            </a:r>
          </a:p>
        </p:txBody>
      </p:sp>
      <p:sp>
        <p:nvSpPr>
          <p:cNvPr id="126" name="Rectangle 125">
            <a:extLst xmlns:a="http://schemas.openxmlformats.org/drawingml/2006/main">
              <a:ext uri="{FF2B5EF4-FFF2-40B4-BE49-F238E27FC236}">
                <a16:creationId xmlns:a16="http://schemas.microsoft.com/office/drawing/2014/main" id="{28B88092-A3D4-4686-8303-1F6F0A5FA4CE}"/>
              </a:ext>
            </a:extLst>
          </p:cNvPr>
          <p:cNvSpPr>
            <a:spLocks xmlns:a="http://schemas.openxmlformats.org/drawingml/2006/main" noGrp="1"/>
          </p:cNvSpPr>
          <p:nvPr/>
        </p:nvSpPr>
        <p:spPr>
          <a:xfrm xmlns:a="http://schemas.openxmlformats.org/drawingml/2006/main">
            <a:off x="3364992" y="5532120"/>
            <a:ext cx="1316736" cy="36576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TextBox 126">
            <a:extLst xmlns:a="http://schemas.openxmlformats.org/drawingml/2006/main">
              <a:ext uri="{FF2B5EF4-FFF2-40B4-BE49-F238E27FC236}">
                <a16:creationId xmlns:a16="http://schemas.microsoft.com/office/drawing/2014/main" id="{333D9939-D08B-4BF7-9329-1C4A2240D562}"/>
              </a:ext>
            </a:extLst>
          </p:cNvPr>
          <p:cNvSpPr>
            <a:spLocks xmlns:a="http://schemas.openxmlformats.org/drawingml/2006/main" noGrp="1"/>
          </p:cNvSpPr>
          <p:nvPr/>
        </p:nvSpPr>
        <p:spPr>
          <a:xfrm xmlns:a="http://schemas.openxmlformats.org/drawingml/2006/main">
            <a:off x="3364992" y="5532120"/>
            <a:ext cx="1316736"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1E1E1E"/>
                </a:solidFill>
                <a:latin typeface="Arial"/>
                <a:ea typeface="Arial"/>
                <a:cs typeface="Arial"/>
              </a:rPr>
              <a:t>60x REPLAY</a:t>
            </a:r>
          </a:p>
        </p:txBody>
      </p:sp>
      <p:sp>
        <p:nvSpPr>
          <p:cNvPr id="128" name="Rectangle 127">
            <a:extLst xmlns:a="http://schemas.openxmlformats.org/drawingml/2006/main">
              <a:ext uri="{FF2B5EF4-FFF2-40B4-BE49-F238E27FC236}">
                <a16:creationId xmlns:a16="http://schemas.microsoft.com/office/drawing/2014/main" id="{1FA5DD3E-85B4-454B-94E2-9020EA4F51E6}"/>
              </a:ext>
            </a:extLst>
          </p:cNvPr>
          <p:cNvSpPr>
            <a:spLocks xmlns:a="http://schemas.openxmlformats.org/drawingml/2006/main" noGrp="1"/>
          </p:cNvSpPr>
          <p:nvPr/>
        </p:nvSpPr>
        <p:spPr>
          <a:xfrm xmlns:a="http://schemas.openxmlformats.org/drawingml/2006/main">
            <a:off x="4773168" y="5532120"/>
            <a:ext cx="1316736" cy="3657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TextBox 128">
            <a:extLst xmlns:a="http://schemas.openxmlformats.org/drawingml/2006/main">
              <a:ext uri="{FF2B5EF4-FFF2-40B4-BE49-F238E27FC236}">
                <a16:creationId xmlns:a16="http://schemas.microsoft.com/office/drawing/2014/main" id="{3B86657E-02BF-4F5F-9D13-7B9A6D76C024}"/>
              </a:ext>
            </a:extLst>
          </p:cNvPr>
          <p:cNvSpPr>
            <a:spLocks xmlns:a="http://schemas.openxmlformats.org/drawingml/2006/main" noGrp="1"/>
          </p:cNvSpPr>
          <p:nvPr/>
        </p:nvSpPr>
        <p:spPr>
          <a:xfrm xmlns:a="http://schemas.openxmlformats.org/drawingml/2006/main">
            <a:off x="4773168" y="5532120"/>
            <a:ext cx="1316736"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1E1E1E"/>
                </a:solidFill>
                <a:latin typeface="Arial"/>
                <a:ea typeface="Arial"/>
                <a:cs typeface="Arial"/>
              </a:rPr>
              <a:t>LIVE TWIN</a:t>
            </a:r>
          </a:p>
        </p:txBody>
      </p:sp>
      <p:sp>
        <p:nvSpPr>
          <p:cNvPr id="130" name="Rectangle 129">
            <a:extLst xmlns:a="http://schemas.openxmlformats.org/drawingml/2006/main">
              <a:ext uri="{FF2B5EF4-FFF2-40B4-BE49-F238E27FC236}">
                <a16:creationId xmlns:a16="http://schemas.microsoft.com/office/drawing/2014/main" id="{FC5DE430-6E4A-43BA-8CCA-1CA200A3BAF1}"/>
              </a:ext>
            </a:extLst>
          </p:cNvPr>
          <p:cNvSpPr>
            <a:spLocks xmlns:a="http://schemas.openxmlformats.org/drawingml/2006/main" noGrp="1"/>
          </p:cNvSpPr>
          <p:nvPr/>
        </p:nvSpPr>
        <p:spPr>
          <a:xfrm xmlns:a="http://schemas.openxmlformats.org/drawingml/2006/main">
            <a:off x="6181344" y="5532120"/>
            <a:ext cx="1316736" cy="3657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TextBox 130">
            <a:extLst xmlns:a="http://schemas.openxmlformats.org/drawingml/2006/main">
              <a:ext uri="{FF2B5EF4-FFF2-40B4-BE49-F238E27FC236}">
                <a16:creationId xmlns:a16="http://schemas.microsoft.com/office/drawing/2014/main" id="{FDCAF984-C882-4D22-B4E6-2EC454B191EB}"/>
              </a:ext>
            </a:extLst>
          </p:cNvPr>
          <p:cNvSpPr>
            <a:spLocks xmlns:a="http://schemas.openxmlformats.org/drawingml/2006/main" noGrp="1"/>
          </p:cNvSpPr>
          <p:nvPr/>
        </p:nvSpPr>
        <p:spPr>
          <a:xfrm xmlns:a="http://schemas.openxmlformats.org/drawingml/2006/main">
            <a:off x="6181344" y="5532120"/>
            <a:ext cx="1316736" cy="16764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100" b="1">
                <a:solidFill>
                  <a:srgbClr val="1E1E1E"/>
                </a:solidFill>
                <a:latin typeface="Arial"/>
                <a:ea typeface="Arial"/>
                <a:cs typeface="Arial"/>
              </a:rPr>
              <a:t>SELECT DATE</a:t>
            </a:r>
          </a:p>
        </p:txBody>
      </p:sp>
    </p:spTree>
    <p:extLst>
      <p:ext uri="{BB962C8B-B14F-4D97-AF65-F5344CB8AC3E}">
        <p14:creationId xmlns:p14="http://schemas.microsoft.com/office/powerpoint/2010/main" val="166972105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04217059-0314-48EC-80FB-1036C6E36D7E}"/>
              </a:ext>
            </a:extLst>
          </p:cNvPr>
          <p:cNvPicPr>
            <a:picLocks xmlns:a="http://schemas.openxmlformats.org/drawingml/2006/main" noChangeAspect="1"/>
          </p:cNvPicPr>
          <p:nvPr/>
        </p:nvPicPr>
        <p:blipFill>
          <a:blip xmlns:r="http://schemas.openxmlformats.org/officeDocument/2006/relationships" xmlns:a="http://schemas.openxmlformats.org/drawingml/2006/main" r:embed="R2da3b509d5af482a"/>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2BEF0461-0F1E-40AA-872A-9715AB084C97}"/>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Investigation tools and evidence limits</a:t>
            </a:r>
          </a:p>
        </p:txBody>
      </p:sp>
      <p:sp>
        <p:nvSpPr>
          <p:cNvPr id="91" name="Subtitle">
            <a:extLst xmlns:a="http://schemas.openxmlformats.org/drawingml/2006/main">
              <a:ext uri="{FF2B5EF4-FFF2-40B4-BE49-F238E27FC236}">
                <a16:creationId xmlns:a16="http://schemas.microsoft.com/office/drawing/2014/main" id="{DE67AECB-FE5D-48DA-A3DE-2E8BA567995A}"/>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Five implemented tools on 100 kVA support review. Each has a clear evidence boundary.</a:t>
            </a:r>
          </a:p>
        </p:txBody>
      </p:sp>
      <p:sp>
        <p:nvSpPr>
          <p:cNvPr id="93" name="Footer">
            <a:extLst xmlns:a="http://schemas.openxmlformats.org/drawingml/2006/main">
              <a:ext uri="{FF2B5EF4-FFF2-40B4-BE49-F238E27FC236}">
                <a16:creationId xmlns:a16="http://schemas.microsoft.com/office/drawing/2014/main" id="{317ECEAD-08B3-4D11-B61B-A6C6A4239EB6}"/>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ABAC6F6F-BC53-4B1A-9263-7EDBE14703A9}"/>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08 / 10</a:t>
            </a:r>
          </a:p>
        </p:txBody>
      </p:sp>
      <p:graphicFrame>
        <p:nvGraphicFramePr>
          <p:cNvPr id="95" name="">
            <a:extLst xmlns:a="http://schemas.openxmlformats.org/drawingml/2006/main">
              <a:ext uri="{FF2B5EF4-FFF2-40B4-BE49-F238E27FC236}">
                <a16:creationId xmlns:a16="http://schemas.microsoft.com/office/drawing/2014/main" id="{E2B7C4DF-7D61-4742-BD6F-F0B52F06401C}"/>
              </a:ext>
            </a:extLst>
          </p:cNvPr>
          <p:cNvGraphicFramePr/>
          <p:nvPr/>
        </p:nvGraphicFramePr>
        <p:xfrm>
          <a:off xmlns:a="http://schemas.openxmlformats.org/drawingml/2006/main" x="548640" y="1571625"/>
          <a:ext xmlns:a="http://schemas.openxmlformats.org/drawingml/2006/main" cx="11155680" cy="3790950"/>
        </p:xfrm>
        <a:graphic xmlns:a="http://schemas.openxmlformats.org/drawingml/2006/main">
          <a:graphicData uri="http://schemas.openxmlformats.org/drawingml/2006/table">
            <a:tbl>
              <a:tblPr/>
              <a:tblGrid>
                <a:gridCol w="2238375"/>
                <a:gridCol w="5095875"/>
                <a:gridCol w="3821430"/>
              </a:tblGrid>
              <a:tr h="631825">
                <a:tc>
                  <a:txBody>
                    <a:bodyPr/>
                    <a:lstStyle/>
                    <a:p>
                      <a:r>
                        <a:rPr sz="1275" b="1">
                          <a:solidFill>
                            <a:srgbClr val="FFFFFF"/>
                          </a:solidFill>
                        </a:rPr>
                        <a:t>Tool</a:t>
                      </a:r>
                    </a:p>
                  </a:txBody>
                  <a:tcPr marL="91440" marR="91440" marT="45720" marB="45720">
                    <a:solidFill>
                      <a:srgbClr val="1E1E1E"/>
                    </a:solidFill>
                  </a:tcPr>
                </a:tc>
                <a:tc>
                  <a:txBody>
                    <a:bodyPr/>
                    <a:lstStyle/>
                    <a:p>
                      <a:r>
                        <a:rPr sz="1275" b="1">
                          <a:solidFill>
                            <a:srgbClr val="FFFFFF"/>
                          </a:solidFill>
                        </a:rPr>
                        <a:t>Implemented contribution</a:t>
                      </a:r>
                    </a:p>
                  </a:txBody>
                  <a:tcPr marL="91440" marR="91440" marT="45720" marB="45720">
                    <a:solidFill>
                      <a:srgbClr val="1E1E1E"/>
                    </a:solidFill>
                  </a:tcPr>
                </a:tc>
                <a:tc>
                  <a:txBody>
                    <a:bodyPr/>
                    <a:lstStyle/>
                    <a:p>
                      <a:r>
                        <a:rPr sz="1275" b="1">
                          <a:solidFill>
                            <a:srgbClr val="FFFFFF"/>
                          </a:solidFill>
                        </a:rPr>
                        <a:t>Evidence boundary</a:t>
                      </a:r>
                    </a:p>
                  </a:txBody>
                  <a:tcPr marL="91440" marR="91440" marT="45720" marB="45720">
                    <a:solidFill>
                      <a:srgbClr val="1E1E1E"/>
                    </a:solidFill>
                  </a:tcPr>
                </a:tc>
              </a:tr>
              <a:tr h="631825">
                <a:tc>
                  <a:txBody>
                    <a:bodyPr/>
                    <a:lstStyle/>
                    <a:p>
                      <a:r>
                        <a:rPr sz="1238" b="1">
                          <a:solidFill>
                            <a:srgbClr val="B8500B"/>
                          </a:solidFill>
                        </a:rPr>
                        <a:t>What-if simulator</a:t>
                      </a:r>
                    </a:p>
                  </a:txBody>
                  <a:tcPr marL="91440" marR="91440" marT="45720" marB="45720">
                    <a:solidFill>
                      <a:srgbClr val="F4F4F4"/>
                    </a:solidFill>
                  </a:tcPr>
                </a:tc>
                <a:tc>
                  <a:txBody>
                    <a:bodyPr/>
                    <a:lstStyle/>
                    <a:p>
                      <a:r>
                        <a:rPr sz="1238" b="0">
                          <a:solidFill>
                            <a:srgbClr val="1E1E1E"/>
                          </a:solidFill>
                        </a:rPr>
                        <a:t>Independent thermal projection after a hypothetical load reduction.</a:t>
                      </a:r>
                    </a:p>
                  </a:txBody>
                  <a:tcPr marL="91440" marR="91440" marT="45720" marB="45720">
                    <a:solidFill>
                      <a:srgbClr val="F4F4F4"/>
                    </a:solidFill>
                  </a:tcPr>
                </a:tc>
                <a:tc>
                  <a:txBody>
                    <a:bodyPr/>
                    <a:lstStyle/>
                    <a:p>
                      <a:r>
                        <a:rPr sz="1238" b="0">
                          <a:solidFill>
                            <a:srgbClr val="1E1E1E"/>
                          </a:solidFill>
                        </a:rPr>
                        <a:t>Constant ambient assumptions. No protection action or failure forecast.</a:t>
                      </a:r>
                    </a:p>
                  </a:txBody>
                  <a:tcPr marL="91440" marR="91440" marT="45720" marB="45720">
                    <a:solidFill>
                      <a:srgbClr val="F4F4F4"/>
                    </a:solidFill>
                  </a:tcPr>
                </a:tc>
              </a:tr>
              <a:tr h="631825">
                <a:tc>
                  <a:txBody>
                    <a:bodyPr/>
                    <a:lstStyle/>
                    <a:p>
                      <a:r>
                        <a:rPr sz="1238" b="1">
                          <a:solidFill>
                            <a:srgbClr val="B8500B"/>
                          </a:solidFill>
                        </a:rPr>
                        <a:t>Sensor investigator</a:t>
                      </a:r>
                    </a:p>
                  </a:txBody>
                  <a:tcPr marL="91440" marR="91440" marT="45720" marB="45720">
                    <a:solidFill>
                      <a:srgbClr val="F4F4F4"/>
                    </a:solidFill>
                  </a:tcPr>
                </a:tc>
                <a:tc>
                  <a:txBody>
                    <a:bodyPr/>
                    <a:lstStyle/>
                    <a:p>
                      <a:r>
                        <a:rPr sz="1238" b="0">
                          <a:solidFill>
                            <a:srgbClr val="1E1E1E"/>
                          </a:solidFill>
                        </a:rPr>
                        <a:t>Presents abrupt jumps, stuck sensors and competing heating explanations.</a:t>
                      </a:r>
                    </a:p>
                  </a:txBody>
                  <a:tcPr marL="91440" marR="91440" marT="45720" marB="45720">
                    <a:solidFill>
                      <a:srgbClr val="F4F4F4"/>
                    </a:solidFill>
                  </a:tcPr>
                </a:tc>
                <a:tc>
                  <a:txBody>
                    <a:bodyPr/>
                    <a:lstStyle/>
                    <a:p>
                      <a:r>
                        <a:rPr sz="1238" b="0">
                          <a:solidFill>
                            <a:srgbClr val="1E1E1E"/>
                          </a:solidFill>
                        </a:rPr>
                        <a:t>One oil probe cannot reliably separate slow sensor bias from excess heating.</a:t>
                      </a:r>
                    </a:p>
                  </a:txBody>
                  <a:tcPr marL="91440" marR="91440" marT="45720" marB="45720">
                    <a:solidFill>
                      <a:srgbClr val="F4F4F4"/>
                    </a:solidFill>
                  </a:tcPr>
                </a:tc>
              </a:tr>
              <a:tr h="631825">
                <a:tc>
                  <a:txBody>
                    <a:bodyPr/>
                    <a:lstStyle/>
                    <a:p>
                      <a:r>
                        <a:rPr sz="1238" b="1">
                          <a:solidFill>
                            <a:srgbClr val="B8500B"/>
                          </a:solidFill>
                        </a:rPr>
                        <a:t>Fault evidence report</a:t>
                      </a:r>
                    </a:p>
                  </a:txBody>
                  <a:tcPr marL="91440" marR="91440" marT="45720" marB="45720">
                    <a:solidFill>
                      <a:srgbClr val="F4F4F4"/>
                    </a:solidFill>
                  </a:tcPr>
                </a:tc>
                <a:tc>
                  <a:txBody>
                    <a:bodyPr/>
                    <a:lstStyle/>
                    <a:p>
                      <a:r>
                        <a:rPr sz="1238" b="0">
                          <a:solidFill>
                            <a:srgbClr val="1E1E1E"/>
                          </a:solidFill>
                        </a:rPr>
                        <a:t>Exports processed readings, onset, scores, quality and calibration context.</a:t>
                      </a:r>
                    </a:p>
                  </a:txBody>
                  <a:tcPr marL="91440" marR="91440" marT="45720" marB="45720">
                    <a:solidFill>
                      <a:srgbClr val="F4F4F4"/>
                    </a:solidFill>
                  </a:tcPr>
                </a:tc>
                <a:tc>
                  <a:txBody>
                    <a:bodyPr/>
                    <a:lstStyle/>
                    <a:p>
                      <a:r>
                        <a:rPr sz="1238" b="0">
                          <a:solidFill>
                            <a:srgbClr val="1E1E1E"/>
                          </a:solidFill>
                        </a:rPr>
                        <a:t>A detector warning supports investigation. It does not confirm a failed component.</a:t>
                      </a:r>
                    </a:p>
                  </a:txBody>
                  <a:tcPr marL="91440" marR="91440" marT="45720" marB="45720">
                    <a:solidFill>
                      <a:srgbClr val="F4F4F4"/>
                    </a:solidFill>
                  </a:tcPr>
                </a:tc>
              </a:tr>
              <a:tr h="631825">
                <a:tc>
                  <a:txBody>
                    <a:bodyPr/>
                    <a:lstStyle/>
                    <a:p>
                      <a:r>
                        <a:rPr sz="1238" b="1">
                          <a:solidFill>
                            <a:srgbClr val="B8500B"/>
                          </a:solidFill>
                        </a:rPr>
                        <a:t>Falsification Twin</a:t>
                      </a:r>
                    </a:p>
                  </a:txBody>
                  <a:tcPr marL="91440" marR="91440" marT="45720" marB="45720">
                    <a:solidFill>
                      <a:srgbClr val="F4F4F4"/>
                    </a:solidFill>
                  </a:tcPr>
                </a:tc>
                <a:tc>
                  <a:txBody>
                    <a:bodyPr/>
                    <a:lstStyle/>
                    <a:p>
                      <a:r>
                        <a:rPr sz="1238" b="0">
                          <a:solidFill>
                            <a:srgbClr val="1E1E1E"/>
                          </a:solidFill>
                        </a:rPr>
                        <a:t>Tracks recurrence and compares load/ambient-matched windows around maintenance.</a:t>
                      </a:r>
                    </a:p>
                  </a:txBody>
                  <a:tcPr marL="91440" marR="91440" marT="45720" marB="45720">
                    <a:solidFill>
                      <a:srgbClr val="F4F4F4"/>
                    </a:solidFill>
                  </a:tcPr>
                </a:tc>
                <a:tc>
                  <a:txBody>
                    <a:bodyPr/>
                    <a:lstStyle/>
                    <a:p>
                      <a:r>
                        <a:rPr sz="1238" b="0">
                          <a:solidFill>
                            <a:srgbClr val="1E1E1E"/>
                          </a:solidFill>
                        </a:rPr>
                        <a:t>Matched observations show association. They do not prove repair caused recovery.</a:t>
                      </a:r>
                    </a:p>
                  </a:txBody>
                  <a:tcPr marL="91440" marR="91440" marT="45720" marB="45720">
                    <a:solidFill>
                      <a:srgbClr val="F4F4F4"/>
                    </a:solidFill>
                  </a:tcPr>
                </a:tc>
              </a:tr>
              <a:tr h="631825">
                <a:tc>
                  <a:txBody>
                    <a:bodyPr/>
                    <a:lstStyle/>
                    <a:p>
                      <a:r>
                        <a:rPr sz="1238" b="1">
                          <a:solidFill>
                            <a:srgbClr val="B8500B"/>
                          </a:solidFill>
                        </a:rPr>
                        <a:t>Thermal DNA</a:t>
                      </a:r>
                    </a:p>
                  </a:txBody>
                  <a:tcPr marL="91440" marR="91440" marT="45720" marB="45720">
                    <a:solidFill>
                      <a:srgbClr val="F4F4F4"/>
                    </a:solidFill>
                  </a:tcPr>
                </a:tc>
                <a:tc>
                  <a:txBody>
                    <a:bodyPr/>
                    <a:lstStyle/>
                    <a:p>
                      <a:r>
                        <a:rPr sz="1238" b="0">
                          <a:solidFill>
                            <a:srgbClr val="1E1E1E"/>
                          </a:solidFill>
                        </a:rPr>
                        <a:t>Compares clean load-step responses with an explicitly verified healthy reference.</a:t>
                      </a:r>
                    </a:p>
                  </a:txBody>
                  <a:tcPr marL="91440" marR="91440" marT="45720" marB="45720">
                    <a:solidFill>
                      <a:srgbClr val="F4F4F4"/>
                    </a:solidFill>
                  </a:tcPr>
                </a:tc>
                <a:tc>
                  <a:txBody>
                    <a:bodyPr/>
                    <a:lstStyle/>
                    <a:p>
                      <a:r>
                        <a:rPr sz="1238" b="0">
                          <a:solidFill>
                            <a:srgbClr val="1E1E1E"/>
                          </a:solidFill>
                        </a:rPr>
                        <a:t>Needs sufficient comparable episodes. No inferred damage or fitted lifetime.</a:t>
                      </a:r>
                    </a:p>
                  </a:txBody>
                  <a:tcPr marL="91440" marR="91440" marT="45720" marB="45720">
                    <a:solidFill>
                      <a:srgbClr val="F4F4F4"/>
                    </a:solidFill>
                  </a:tcPr>
                </a:tc>
              </a:tr>
            </a:tbl>
          </a:graphicData>
        </a:graphic>
      </p:graphicFrame>
      <p:sp>
        <p:nvSpPr>
          <p:cNvPr id="96" name="">
            <a:extLst xmlns:a="http://schemas.openxmlformats.org/drawingml/2006/main">
              <a:ext uri="{FF2B5EF4-FFF2-40B4-BE49-F238E27FC236}">
                <a16:creationId xmlns:a16="http://schemas.microsoft.com/office/drawing/2014/main" id="{5996438E-FE7B-4E4A-A2DA-FBC4F0109E02}"/>
              </a:ext>
            </a:extLst>
          </p:cNvPr>
          <p:cNvSpPr>
            <a:spLocks xmlns:a="http://schemas.openxmlformats.org/drawingml/2006/main" noGrp="1"/>
          </p:cNvSpPr>
          <p:nvPr/>
        </p:nvSpPr>
        <p:spPr>
          <a:xfrm xmlns:a="http://schemas.openxmlformats.org/drawingml/2006/main">
            <a:off x="609600" y="55245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555555"/>
                </a:solidFill>
              </a:defRPr>
            </a:defPPr>
          </a:lstStyle>
          <a:p xmlns:a="http://schemas.openxmlformats.org/drawingml/2006/main">
            <a:pPr>
              <a:defRPr sz="1275">
                <a:solidFill>
                  <a:srgbClr val="555555"/>
                </a:solidFill>
              </a:defRPr>
            </a:pPr>
            <a:r>
              <a:rPr sz="1275">
                <a:solidFill>
                  <a:srgbClr val="555555"/>
                </a:solidFill>
              </a:rPr>
              <a:t>Thermal DNA requires at least three clean reference episodes and three comparable new episodes. No automatic healthy baseline.</a:t>
            </a:r>
          </a:p>
        </p:txBody>
      </p:sp>
    </p:spTree>
    <p:extLst>
      <p:ext uri="{BB962C8B-B14F-4D97-AF65-F5344CB8AC3E}">
        <p14:creationId xmlns:p14="http://schemas.microsoft.com/office/powerpoint/2010/main" val="369000037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9A8D2322-B1A3-EEF6-AEFF-D7D37241EFD2}"/>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AC031204-E0A1-062D-F7CF-592256E3D51D}"/>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3F51B5AA-D10B-8472-D328-E78B5B2368C2}"/>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D5D4CA78-0F21-FE89-364D-F52B4B8CC588}"/>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A5AC39AB-3510-8244-FBEE-A6D480CFDCB5}"/>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F837F946-0E3D-75F4-4B2F-7CB50729C26A}"/>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1831D73A-3D49-E8A5-950F-5F3897A24792}"/>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1EF558B8-23BA-367A-4BA3-2327D0685EF7}"/>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2905A623-56E4-84B1-0D32-E50861EFAF9F}"/>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82619B16-9D48-F58F-89F5-5C607F764EF4}"/>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CFDEA33D-D7E8-7F6B-4462-20B3D703AA5F}"/>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DF95AD43-9851-BF3A-72F7-0266B1B43606}"/>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9168B33B-EB28-3A29-82CE-C7DD63982A11}"/>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388B5CBC-57AE-72BA-B268-A5923ADFB915}"/>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988C07FD-B571-EB84-B805-592DF2F50A62}"/>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2D21AA15-B9D2-F9FB-2C88-9EDCC15A5FF5}"/>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D90BCF95-E962-26E3-67E2-CB9B999CA4DB}"/>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0C5FA26B-1AA0-57F7-989F-D2EC39D64599}"/>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B6CADF6A-2411-F928-C2C3-15296290EB2B}"/>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7BB5850B-7D3D-A003-33B0-A0725A10C483}"/>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28EA0656-8CBD-3A79-F1EC-30AA99388B88}"/>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127E1243-16B6-1B8F-E19C-A594487719EA}"/>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4ED3E332-1317-B3AC-0010-B15C31C2FE55}"/>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F8A736A2-1464-17CB-AE8A-6968E57BD881}"/>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B55B47E4-2A0A-33D5-ABAE-1D34BE8B638B}"/>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38DBD3F5-DEA6-DF74-D388-FBE185866DE1}"/>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76640FC1-FDB3-CDB1-4C5E-BE5B8973F77E}"/>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A0EA7107-D0B4-9FCA-1D98-38037A4FFC06}"/>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DCCFF4FA-05B7-1C61-042F-A2B1200E17E7}"/>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B291F7EB-C001-A2E8-BAD6-563F45C98051}"/>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F0201C6B-088F-746B-9713-B5399FCE447A}"/>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05491AD7-947B-8A31-6FC5-8F37A421558A}"/>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122E5C45-8379-578C-E920-D774845A66E2}"/>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D08BCBCB-CEEB-6180-74DF-960A0FAA0A44}"/>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28064546-BF36-2FB0-5254-596E874448D5}"/>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BEB8AD1D-276B-490A-3426-BEFE7B4ABCB8}"/>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853FC30D-BE35-6B9C-E6A8-06B9837DAFAC}"/>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1D5DC3DD-D12B-AF06-5F85-9B97D32A6BF4}"/>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78729999-3D6B-B1B8-7FD5-95FA56ECCE2B}"/>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B921C649-EAB7-B44B-2645-14F6276A923B}"/>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FF2FAA9F-621B-F1D9-13F5-CB95773986C7}"/>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03BF028B-1830-5C2D-D96F-048B26FD20B3}"/>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1FE278BB-3348-FC36-BB87-5FB6B5CD9CE4}"/>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F3FD1B1F-3B8F-EBB2-F2EE-BB8F8949554A}"/>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E446228B-9362-5748-B293-1A382BF02791}"/>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2F4541CB-4DF6-9849-650B-81835A35ECD1}"/>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FC362E9B-5DC0-55A5-9483-7805B6317C95}"/>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E87B6471-07F4-CBCA-D81D-B72EBD4CEAC6}"/>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CDE5249D-9863-79D7-2CF2-F983DC5312CA}"/>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9A056201-D59F-7757-3ADA-4547B31D6DCC}"/>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E722A065-2A54-524A-A438-B963F8E4B9AE}"/>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94E0ECCD-00EE-3A5D-7F58-1D4698402226}"/>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6F3254B0-F708-2E23-875C-108B1B2F1C83}"/>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309B8DDF-34C4-FAB8-4006-136AA8ACE952}"/>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FD158ADD-6B04-E292-A99F-564EB0EFCF4A}"/>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4EA3A003-B736-7D82-BD6D-F0210EDA1FA0}"/>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4264749B-AB1E-EB39-097E-B9211380BE77}"/>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16E20A61-2FC2-A953-1C1C-341BEAC52B4A}"/>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C3C19F68-D986-85CB-2B0A-F404D9F8C456}"/>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E359CF1C-227A-8755-7B9E-3BD1DB4560D2}"/>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160DE026-E4DC-AFA2-1206-B58CDF9C472E}"/>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2CB9B4DE-DA6B-743B-FFE6-943B82803336}"/>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D93445D0-BCAB-13D8-693C-D2DB27F23729}"/>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DA3E96B7-4A53-BC0E-DA1F-C8B79FE2CB29}"/>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9E9C252D-30AA-FF38-8F7C-2E3D68899CD1}"/>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86ED8D89-6373-A379-DD81-DCD1656381D0}"/>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D1460668-F800-CE91-77BD-9860C9F8505B}"/>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3" name="Picture 2">
            <a:extLst xmlns:a="http://schemas.openxmlformats.org/drawingml/2006/main">
              <a:ext uri="{FF2B5EF4-FFF2-40B4-BE49-F238E27FC236}">
                <a16:creationId xmlns:a16="http://schemas.microsoft.com/office/drawing/2014/main" id="{CBEDEBA2-56F0-4F28-9AB1-443BF6F1EBB1}"/>
              </a:ext>
            </a:extLst>
          </p:cNvPr>
          <p:cNvPicPr>
            <a:picLocks xmlns:a="http://schemas.openxmlformats.org/drawingml/2006/main" noChangeAspect="1"/>
          </p:cNvPicPr>
          <p:nvPr/>
        </p:nvPicPr>
        <p:blipFill>
          <a:blip xmlns:r="http://schemas.openxmlformats.org/officeDocument/2006/relationships" xmlns:a="http://schemas.openxmlformats.org/drawingml/2006/main" r:embed="R1d36537bc9a6429c"/>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B6D6C9C2-3A45-4DFB-8AD1-87B6B0818E44}"/>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Fresh synthetic validation and its trade-offs</a:t>
            </a:r>
          </a:p>
        </p:txBody>
      </p:sp>
      <p:sp>
        <p:nvSpPr>
          <p:cNvPr id="91" name="Subtitle">
            <a:extLst xmlns:a="http://schemas.openxmlformats.org/drawingml/2006/main">
              <a:ext uri="{FF2B5EF4-FFF2-40B4-BE49-F238E27FC236}">
                <a16:creationId xmlns:a16="http://schemas.microsoft.com/office/drawing/2014/main" id="{87D01EC3-8389-4F85-BA98-1F43DF75A68D}"/>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Thermal test: 48,384 rows generated after lock. Same simulator family. No field generalization claim.</a:t>
            </a:r>
          </a:p>
        </p:txBody>
      </p:sp>
      <p:sp>
        <p:nvSpPr>
          <p:cNvPr id="92" name="Connector 91">
            <a:extLst xmlns:a="http://schemas.openxmlformats.org/drawingml/2006/main">
              <a:ext uri="{FF2B5EF4-FFF2-40B4-BE49-F238E27FC236}">
                <a16:creationId xmlns:a16="http://schemas.microsoft.com/office/drawing/2014/main" id="{492030E6-1215-4955-AA32-906EE1CCB5EF}"/>
              </a:ext>
            </a:extLst>
          </p:cNvPr>
          <p:cNvSpPr>
            <a:spLocks xmlns:a="http://schemas.openxmlformats.org/drawingml/2006/main" noGrp="1"/>
          </p:cNvSpPr>
          <p:nvPr/>
        </p:nvSpPr>
        <p:spPr>
          <a:xfrm xmlns:a="http://schemas.openxmlformats.org/drawingml/2006/main">
            <a:off x="548640" y="6117336"/>
            <a:ext cx="11155680" cy="0"/>
          </a:xfrm>
          <a:prstGeom xmlns:a="http://schemas.openxmlformats.org/drawingml/2006/main" prst="line">
            <a:avLst/>
          </a:prstGeom>
          <a:ln xmlns:a="http://schemas.openxmlformats.org/drawingml/2006/main" w="9525">
            <a:solidFill>
              <a:srgbClr val="BDBD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3" name="Footer">
            <a:extLst xmlns:a="http://schemas.openxmlformats.org/drawingml/2006/main">
              <a:ext uri="{FF2B5EF4-FFF2-40B4-BE49-F238E27FC236}">
                <a16:creationId xmlns:a16="http://schemas.microsoft.com/office/drawing/2014/main" id="{6F4669AF-0902-4DBB-AEA3-12026D4CF4EC}"/>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3C52BBBD-C161-4BEA-BBF4-B3F2ACA2CED4}"/>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09 / 10</a:t>
            </a:r>
          </a:p>
        </p:txBody>
      </p:sp>
      <p:sp>
        <p:nvSpPr>
          <p:cNvPr id="95" name="Rectangle 94">
            <a:extLst xmlns:a="http://schemas.openxmlformats.org/drawingml/2006/main">
              <a:ext uri="{FF2B5EF4-FFF2-40B4-BE49-F238E27FC236}">
                <a16:creationId xmlns:a16="http://schemas.microsoft.com/office/drawing/2014/main" id="{CCCDBBF5-E488-4301-A3BA-EC3E9C34AF8A}"/>
              </a:ext>
            </a:extLst>
          </p:cNvPr>
          <p:cNvSpPr>
            <a:spLocks xmlns:a="http://schemas.openxmlformats.org/drawingml/2006/main" noGrp="1"/>
          </p:cNvSpPr>
          <p:nvPr/>
        </p:nvSpPr>
        <p:spPr>
          <a:xfrm xmlns:a="http://schemas.openxmlformats.org/drawingml/2006/main">
            <a:off x="548640" y="1508760"/>
            <a:ext cx="3611880" cy="160020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TextBox 95">
            <a:extLst xmlns:a="http://schemas.openxmlformats.org/drawingml/2006/main">
              <a:ext uri="{FF2B5EF4-FFF2-40B4-BE49-F238E27FC236}">
                <a16:creationId xmlns:a16="http://schemas.microsoft.com/office/drawing/2014/main" id="{14D0AFA1-A997-4E76-B2EC-F5F5A461ADD7}"/>
              </a:ext>
            </a:extLst>
          </p:cNvPr>
          <p:cNvSpPr>
            <a:spLocks xmlns:a="http://schemas.openxmlformats.org/drawingml/2006/main" noGrp="1"/>
          </p:cNvSpPr>
          <p:nvPr/>
        </p:nvSpPr>
        <p:spPr>
          <a:xfrm xmlns:a="http://schemas.openxmlformats.org/drawingml/2006/main">
            <a:off x="731520" y="1572768"/>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4000" b="1">
                <a:solidFill>
                  <a:srgbClr val="D46A12"/>
                </a:solidFill>
                <a:latin typeface="Arial"/>
                <a:ea typeface="Arial"/>
                <a:cs typeface="Arial"/>
              </a:rPr>
              <a:t>22 / 23</a:t>
            </a:r>
          </a:p>
        </p:txBody>
      </p:sp>
      <p:sp>
        <p:nvSpPr>
          <p:cNvPr id="97" name="TextBox 96">
            <a:extLst xmlns:a="http://schemas.openxmlformats.org/drawingml/2006/main">
              <a:ext uri="{FF2B5EF4-FFF2-40B4-BE49-F238E27FC236}">
                <a16:creationId xmlns:a16="http://schemas.microsoft.com/office/drawing/2014/main" id="{64903C81-751C-4902-B1F9-5018961A23C1}"/>
              </a:ext>
            </a:extLst>
          </p:cNvPr>
          <p:cNvSpPr>
            <a:spLocks xmlns:a="http://schemas.openxmlformats.org/drawingml/2006/main" noGrp="1"/>
          </p:cNvSpPr>
          <p:nvPr/>
        </p:nvSpPr>
        <p:spPr>
          <a:xfrm xmlns:a="http://schemas.openxmlformats.org/drawingml/2006/main">
            <a:off x="731520" y="233172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300" b="1">
                <a:solidFill>
                  <a:srgbClr val="1E1E1E"/>
                </a:solidFill>
                <a:latin typeface="Arial"/>
                <a:ea typeface="Arial"/>
                <a:cs typeface="Arial"/>
              </a:rPr>
              <a:t>thermal events detected</a:t>
            </a:r>
          </a:p>
          <a:p xmlns:a="http://schemas.openxmlformats.org/drawingml/2006/main">
            <a:pPr algn="l">
              <a:spcBef>
                <a:spcPts val="200"/>
              </a:spcBef>
              <a:buNone/>
            </a:pPr>
            <a:r>
              <a:rPr sz="1100" b="0">
                <a:solidFill>
                  <a:srgbClr val="555555"/>
                </a:solidFill>
                <a:latin typeface="Arial"/>
                <a:ea typeface="Arial"/>
                <a:cs typeface="Arial"/>
              </a:rPr>
              <a:t>Median delay 82.5 min, 90th percentile 218 min</a:t>
            </a:r>
          </a:p>
        </p:txBody>
      </p:sp>
      <p:sp>
        <p:nvSpPr>
          <p:cNvPr id="98" name="Rectangle 97">
            <a:extLst xmlns:a="http://schemas.openxmlformats.org/drawingml/2006/main">
              <a:ext uri="{FF2B5EF4-FFF2-40B4-BE49-F238E27FC236}">
                <a16:creationId xmlns:a16="http://schemas.microsoft.com/office/drawing/2014/main" id="{4CD70DC3-865C-4398-9C6B-0445D03C672A}"/>
              </a:ext>
            </a:extLst>
          </p:cNvPr>
          <p:cNvSpPr>
            <a:spLocks xmlns:a="http://schemas.openxmlformats.org/drawingml/2006/main" noGrp="1"/>
          </p:cNvSpPr>
          <p:nvPr/>
        </p:nvSpPr>
        <p:spPr>
          <a:xfrm xmlns:a="http://schemas.openxmlformats.org/drawingml/2006/main">
            <a:off x="4320540" y="1508760"/>
            <a:ext cx="3611880" cy="160020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TextBox 98">
            <a:extLst xmlns:a="http://schemas.openxmlformats.org/drawingml/2006/main">
              <a:ext uri="{FF2B5EF4-FFF2-40B4-BE49-F238E27FC236}">
                <a16:creationId xmlns:a16="http://schemas.microsoft.com/office/drawing/2014/main" id="{C153CB8D-E0EA-45ED-BDDB-FBFB4A6AE3D7}"/>
              </a:ext>
            </a:extLst>
          </p:cNvPr>
          <p:cNvSpPr>
            <a:spLocks xmlns:a="http://schemas.openxmlformats.org/drawingml/2006/main" noGrp="1"/>
          </p:cNvSpPr>
          <p:nvPr/>
        </p:nvSpPr>
        <p:spPr>
          <a:xfrm xmlns:a="http://schemas.openxmlformats.org/drawingml/2006/main">
            <a:off x="4503420" y="1572768"/>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4000" b="1">
                <a:solidFill>
                  <a:srgbClr val="D46A12"/>
                </a:solidFill>
                <a:latin typeface="Arial"/>
                <a:ea typeface="Arial"/>
                <a:cs typeface="Arial"/>
              </a:rPr>
              <a:t>93.1%</a:t>
            </a:r>
          </a:p>
        </p:txBody>
      </p:sp>
      <p:sp>
        <p:nvSpPr>
          <p:cNvPr id="100" name="TextBox 99">
            <a:extLst xmlns:a="http://schemas.openxmlformats.org/drawingml/2006/main">
              <a:ext uri="{FF2B5EF4-FFF2-40B4-BE49-F238E27FC236}">
                <a16:creationId xmlns:a16="http://schemas.microsoft.com/office/drawing/2014/main" id="{0A7A5B2A-3FAC-45F1-B30B-8DC782DAB651}"/>
              </a:ext>
            </a:extLst>
          </p:cNvPr>
          <p:cNvSpPr>
            <a:spLocks xmlns:a="http://schemas.openxmlformats.org/drawingml/2006/main" noGrp="1"/>
          </p:cNvSpPr>
          <p:nvPr/>
        </p:nvSpPr>
        <p:spPr>
          <a:xfrm xmlns:a="http://schemas.openxmlformats.org/drawingml/2006/main">
            <a:off x="4503420" y="233172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300" b="1">
                <a:solidFill>
                  <a:srgbClr val="1E1E1E"/>
                </a:solidFill>
                <a:latin typeface="Arial"/>
                <a:ea typeface="Arial"/>
                <a:cs typeface="Arial"/>
              </a:rPr>
              <a:t>thermal assessment coverage</a:t>
            </a:r>
          </a:p>
          <a:p xmlns:a="http://schemas.openxmlformats.org/drawingml/2006/main">
            <a:pPr algn="l">
              <a:spcBef>
                <a:spcPts val="200"/>
              </a:spcBef>
              <a:buNone/>
            </a:pPr>
            <a:r>
              <a:rPr sz="1100" b="0">
                <a:solidFill>
                  <a:srgbClr val="555555"/>
                </a:solidFill>
                <a:latin typeface="Arial"/>
                <a:ea typeface="Arial"/>
                <a:cs typeface="Arial"/>
              </a:rPr>
              <a:t>Rows the model cannot judge are marked unassessed</a:t>
            </a:r>
          </a:p>
        </p:txBody>
      </p:sp>
      <p:sp>
        <p:nvSpPr>
          <p:cNvPr id="101" name="Rectangle 100">
            <a:extLst xmlns:a="http://schemas.openxmlformats.org/drawingml/2006/main">
              <a:ext uri="{FF2B5EF4-FFF2-40B4-BE49-F238E27FC236}">
                <a16:creationId xmlns:a16="http://schemas.microsoft.com/office/drawing/2014/main" id="{ABB4F774-1783-4645-9323-AF64C05321E9}"/>
              </a:ext>
            </a:extLst>
          </p:cNvPr>
          <p:cNvSpPr>
            <a:spLocks xmlns:a="http://schemas.openxmlformats.org/drawingml/2006/main" noGrp="1"/>
          </p:cNvSpPr>
          <p:nvPr/>
        </p:nvSpPr>
        <p:spPr>
          <a:xfrm xmlns:a="http://schemas.openxmlformats.org/drawingml/2006/main">
            <a:off x="8092440" y="1508760"/>
            <a:ext cx="3611880" cy="160020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TextBox 101">
            <a:extLst xmlns:a="http://schemas.openxmlformats.org/drawingml/2006/main">
              <a:ext uri="{FF2B5EF4-FFF2-40B4-BE49-F238E27FC236}">
                <a16:creationId xmlns:a16="http://schemas.microsoft.com/office/drawing/2014/main" id="{86E7E5DC-4252-4F5B-9521-539C7A1406E8}"/>
              </a:ext>
            </a:extLst>
          </p:cNvPr>
          <p:cNvSpPr>
            <a:spLocks xmlns:a="http://schemas.openxmlformats.org/drawingml/2006/main" noGrp="1"/>
          </p:cNvSpPr>
          <p:nvPr/>
        </p:nvSpPr>
        <p:spPr>
          <a:xfrm xmlns:a="http://schemas.openxmlformats.org/drawingml/2006/main">
            <a:off x="8275319" y="1572768"/>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4000" b="1">
                <a:solidFill>
                  <a:srgbClr val="D46A12"/>
                </a:solidFill>
                <a:latin typeface="Arial"/>
                <a:ea typeface="Arial"/>
                <a:cs typeface="Arial"/>
              </a:rPr>
              <a:t>0.127</a:t>
            </a:r>
          </a:p>
        </p:txBody>
      </p:sp>
      <p:sp>
        <p:nvSpPr>
          <p:cNvPr id="103" name="TextBox 102">
            <a:extLst xmlns:a="http://schemas.openxmlformats.org/drawingml/2006/main">
              <a:ext uri="{FF2B5EF4-FFF2-40B4-BE49-F238E27FC236}">
                <a16:creationId xmlns:a16="http://schemas.microsoft.com/office/drawing/2014/main" id="{C21BB4E3-EDF4-4E09-9F5E-6F167322D0F6}"/>
              </a:ext>
            </a:extLst>
          </p:cNvPr>
          <p:cNvSpPr>
            <a:spLocks xmlns:a="http://schemas.openxmlformats.org/drawingml/2006/main" noGrp="1"/>
          </p:cNvSpPr>
          <p:nvPr/>
        </p:nvSpPr>
        <p:spPr>
          <a:xfrm xmlns:a="http://schemas.openxmlformats.org/drawingml/2006/main">
            <a:off x="8275319" y="2331720"/>
            <a:ext cx="329184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300" b="1">
                <a:solidFill>
                  <a:srgbClr val="1E1E1E"/>
                </a:solidFill>
                <a:latin typeface="Arial"/>
                <a:ea typeface="Arial"/>
                <a:cs typeface="Arial"/>
              </a:rPr>
              <a:t>false episodes per negative-truth day</a:t>
            </a:r>
          </a:p>
          <a:p xmlns:a="http://schemas.openxmlformats.org/drawingml/2006/main">
            <a:pPr algn="l">
              <a:spcBef>
                <a:spcPts val="200"/>
              </a:spcBef>
              <a:buNone/>
            </a:pPr>
            <a:r>
              <a:rPr sz="1100" b="0">
                <a:solidFill>
                  <a:srgbClr val="555555"/>
                </a:solidFill>
                <a:latin typeface="Arial"/>
                <a:ea typeface="Arial"/>
                <a:cs typeface="Arial"/>
              </a:rPr>
              <a:t>18 episodes / 141.8 day-equivalents pooled across synthetic histories</a:t>
            </a:r>
          </a:p>
        </p:txBody>
      </p:sp>
      <p:sp>
        <p:nvSpPr>
          <p:cNvPr id="104" name="Rectangle 103">
            <a:extLst xmlns:a="http://schemas.openxmlformats.org/drawingml/2006/main">
              <a:ext uri="{FF2B5EF4-FFF2-40B4-BE49-F238E27FC236}">
                <a16:creationId xmlns:a16="http://schemas.microsoft.com/office/drawing/2014/main" id="{2DD01B3E-122D-4B31-B67A-EB3E917E72A8}"/>
              </a:ext>
            </a:extLst>
          </p:cNvPr>
          <p:cNvSpPr>
            <a:spLocks xmlns:a="http://schemas.openxmlformats.org/drawingml/2006/main" noGrp="1"/>
          </p:cNvSpPr>
          <p:nvPr/>
        </p:nvSpPr>
        <p:spPr>
          <a:xfrm xmlns:a="http://schemas.openxmlformats.org/drawingml/2006/main">
            <a:off x="548640" y="3291840"/>
            <a:ext cx="4572000" cy="269748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TextBox 104">
            <a:extLst xmlns:a="http://schemas.openxmlformats.org/drawingml/2006/main">
              <a:ext uri="{FF2B5EF4-FFF2-40B4-BE49-F238E27FC236}">
                <a16:creationId xmlns:a16="http://schemas.microsoft.com/office/drawing/2014/main" id="{BF15C0BF-3A2E-4E0D-BFB9-90312D80280F}"/>
              </a:ext>
            </a:extLst>
          </p:cNvPr>
          <p:cNvSpPr>
            <a:spLocks xmlns:a="http://schemas.openxmlformats.org/drawingml/2006/main" noGrp="1"/>
          </p:cNvSpPr>
          <p:nvPr/>
        </p:nvSpPr>
        <p:spPr>
          <a:xfrm xmlns:a="http://schemas.openxmlformats.org/drawingml/2006/main">
            <a:off x="685800" y="3401568"/>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BASELINE VS VOLTMIND  (SYNTHETIC)</a:t>
            </a:r>
          </a:p>
        </p:txBody>
      </p:sp>
      <p:sp>
        <p:nvSpPr>
          <p:cNvPr id="106" name="TextBox 105">
            <a:extLst xmlns:a="http://schemas.openxmlformats.org/drawingml/2006/main">
              <a:ext uri="{FF2B5EF4-FFF2-40B4-BE49-F238E27FC236}">
                <a16:creationId xmlns:a16="http://schemas.microsoft.com/office/drawing/2014/main" id="{271AC125-AEA9-4C91-9129-530D1C8ABC85}"/>
              </a:ext>
            </a:extLst>
          </p:cNvPr>
          <p:cNvSpPr>
            <a:spLocks xmlns:a="http://schemas.openxmlformats.org/drawingml/2006/main" noGrp="1"/>
          </p:cNvSpPr>
          <p:nvPr/>
        </p:nvSpPr>
        <p:spPr>
          <a:xfrm xmlns:a="http://schemas.openxmlformats.org/drawingml/2006/main">
            <a:off x="2514600" y="3730752"/>
            <a:ext cx="86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1150" b="1">
                <a:solidFill>
                  <a:srgbClr val="555555"/>
                </a:solidFill>
                <a:latin typeface="Arial"/>
                <a:ea typeface="Arial"/>
                <a:cs typeface="Arial"/>
              </a:rPr>
              <a:t>Baseline</a:t>
            </a:r>
          </a:p>
        </p:txBody>
      </p:sp>
      <p:sp>
        <p:nvSpPr>
          <p:cNvPr id="107" name="TextBox 106">
            <a:extLst xmlns:a="http://schemas.openxmlformats.org/drawingml/2006/main">
              <a:ext uri="{FF2B5EF4-FFF2-40B4-BE49-F238E27FC236}">
                <a16:creationId xmlns:a16="http://schemas.microsoft.com/office/drawing/2014/main" id="{29CA61B0-9DCB-4500-9E0F-B451C17A1C14}"/>
              </a:ext>
            </a:extLst>
          </p:cNvPr>
          <p:cNvSpPr>
            <a:spLocks xmlns:a="http://schemas.openxmlformats.org/drawingml/2006/main" noGrp="1"/>
          </p:cNvSpPr>
          <p:nvPr/>
        </p:nvSpPr>
        <p:spPr>
          <a:xfrm xmlns:a="http://schemas.openxmlformats.org/drawingml/2006/main">
            <a:off x="3429000" y="3730752"/>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1150" b="1">
                <a:solidFill>
                  <a:srgbClr val="D46A12"/>
                </a:solidFill>
                <a:latin typeface="Arial"/>
                <a:ea typeface="Arial"/>
                <a:cs typeface="Arial"/>
              </a:rPr>
              <a:t>VoltMind</a:t>
            </a:r>
          </a:p>
        </p:txBody>
      </p:sp>
      <p:sp>
        <p:nvSpPr>
          <p:cNvPr id="108" name="Rectangle 107">
            <a:extLst xmlns:a="http://schemas.openxmlformats.org/drawingml/2006/main">
              <a:ext uri="{FF2B5EF4-FFF2-40B4-BE49-F238E27FC236}">
                <a16:creationId xmlns:a16="http://schemas.microsoft.com/office/drawing/2014/main" id="{E5CC72DF-D9A5-4B38-A5C3-C62411B67953}"/>
              </a:ext>
            </a:extLst>
          </p:cNvPr>
          <p:cNvSpPr>
            <a:spLocks xmlns:a="http://schemas.openxmlformats.org/drawingml/2006/main" noGrp="1"/>
          </p:cNvSpPr>
          <p:nvPr/>
        </p:nvSpPr>
        <p:spPr>
          <a:xfrm xmlns:a="http://schemas.openxmlformats.org/drawingml/2006/main">
            <a:off x="685800" y="4462272"/>
            <a:ext cx="4297680" cy="914"/>
          </a:xfrm>
          <a:prstGeom xmlns:a="http://schemas.openxmlformats.org/drawingml/2006/main" prst="rect">
            <a:avLst/>
          </a:prstGeom>
          <a:solidFill xmlns:a="http://schemas.openxmlformats.org/drawingml/2006/main">
            <a:srgbClr val="C4C4C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TextBox 108">
            <a:extLst xmlns:a="http://schemas.openxmlformats.org/drawingml/2006/main">
              <a:ext uri="{FF2B5EF4-FFF2-40B4-BE49-F238E27FC236}">
                <a16:creationId xmlns:a16="http://schemas.microsoft.com/office/drawing/2014/main" id="{857DDFD5-ED2C-4D1A-A10F-D6D19D274096}"/>
              </a:ext>
            </a:extLst>
          </p:cNvPr>
          <p:cNvSpPr>
            <a:spLocks xmlns:a="http://schemas.openxmlformats.org/drawingml/2006/main" noGrp="1"/>
          </p:cNvSpPr>
          <p:nvPr/>
        </p:nvSpPr>
        <p:spPr>
          <a:xfrm xmlns:a="http://schemas.openxmlformats.org/drawingml/2006/main">
            <a:off x="685800" y="4069080"/>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50" b="1">
                <a:solidFill>
                  <a:srgbClr val="1E1E1E"/>
                </a:solidFill>
                <a:latin typeface="Arial"/>
                <a:ea typeface="Arial"/>
                <a:cs typeface="Arial"/>
              </a:rPr>
              <a:t>Events detected</a:t>
            </a:r>
          </a:p>
        </p:txBody>
      </p:sp>
      <p:sp>
        <p:nvSpPr>
          <p:cNvPr id="110" name="TextBox 109">
            <a:extLst xmlns:a="http://schemas.openxmlformats.org/drawingml/2006/main">
              <a:ext uri="{FF2B5EF4-FFF2-40B4-BE49-F238E27FC236}">
                <a16:creationId xmlns:a16="http://schemas.microsoft.com/office/drawing/2014/main" id="{56BD80F6-9B8C-45A0-8984-1B1B2BB0E0CE}"/>
              </a:ext>
            </a:extLst>
          </p:cNvPr>
          <p:cNvSpPr>
            <a:spLocks xmlns:a="http://schemas.openxmlformats.org/drawingml/2006/main" noGrp="1"/>
          </p:cNvSpPr>
          <p:nvPr/>
        </p:nvSpPr>
        <p:spPr>
          <a:xfrm xmlns:a="http://schemas.openxmlformats.org/drawingml/2006/main">
            <a:off x="2514600" y="4069080"/>
            <a:ext cx="868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300" b="0">
                <a:solidFill>
                  <a:srgbClr val="1E1E1E"/>
                </a:solidFill>
                <a:latin typeface="Arial"/>
                <a:ea typeface="Arial"/>
                <a:cs typeface="Arial"/>
              </a:rPr>
              <a:t>20 / 23</a:t>
            </a:r>
          </a:p>
        </p:txBody>
      </p:sp>
      <p:sp>
        <p:nvSpPr>
          <p:cNvPr id="111" name="TextBox 110">
            <a:extLst xmlns:a="http://schemas.openxmlformats.org/drawingml/2006/main">
              <a:ext uri="{FF2B5EF4-FFF2-40B4-BE49-F238E27FC236}">
                <a16:creationId xmlns:a16="http://schemas.microsoft.com/office/drawing/2014/main" id="{FEF07700-99D5-40D9-ABB6-E1AD5E366E93}"/>
              </a:ext>
            </a:extLst>
          </p:cNvPr>
          <p:cNvSpPr>
            <a:spLocks xmlns:a="http://schemas.openxmlformats.org/drawingml/2006/main" noGrp="1"/>
          </p:cNvSpPr>
          <p:nvPr/>
        </p:nvSpPr>
        <p:spPr>
          <a:xfrm xmlns:a="http://schemas.openxmlformats.org/drawingml/2006/main">
            <a:off x="3429000" y="4069080"/>
            <a:ext cx="1554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300" b="1">
                <a:solidFill>
                  <a:srgbClr val="1E1E1E"/>
                </a:solidFill>
                <a:latin typeface="Arial"/>
                <a:ea typeface="Arial"/>
                <a:cs typeface="Arial"/>
              </a:rPr>
              <a:t>22 / 23</a:t>
            </a:r>
          </a:p>
        </p:txBody>
      </p:sp>
      <p:sp>
        <p:nvSpPr>
          <p:cNvPr id="112" name="Rectangle 111">
            <a:extLst xmlns:a="http://schemas.openxmlformats.org/drawingml/2006/main">
              <a:ext uri="{FF2B5EF4-FFF2-40B4-BE49-F238E27FC236}">
                <a16:creationId xmlns:a16="http://schemas.microsoft.com/office/drawing/2014/main" id="{150F2334-C6A5-4D71-A86F-023782A63E5A}"/>
              </a:ext>
            </a:extLst>
          </p:cNvPr>
          <p:cNvSpPr>
            <a:spLocks xmlns:a="http://schemas.openxmlformats.org/drawingml/2006/main" noGrp="1"/>
          </p:cNvSpPr>
          <p:nvPr/>
        </p:nvSpPr>
        <p:spPr>
          <a:xfrm xmlns:a="http://schemas.openxmlformats.org/drawingml/2006/main">
            <a:off x="685800" y="4919472"/>
            <a:ext cx="4297680" cy="914"/>
          </a:xfrm>
          <a:prstGeom xmlns:a="http://schemas.openxmlformats.org/drawingml/2006/main" prst="rect">
            <a:avLst/>
          </a:prstGeom>
          <a:solidFill xmlns:a="http://schemas.openxmlformats.org/drawingml/2006/main">
            <a:srgbClr val="C4C4C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TextBox 112">
            <a:extLst xmlns:a="http://schemas.openxmlformats.org/drawingml/2006/main">
              <a:ext uri="{FF2B5EF4-FFF2-40B4-BE49-F238E27FC236}">
                <a16:creationId xmlns:a16="http://schemas.microsoft.com/office/drawing/2014/main" id="{8A87E40E-6285-4027-AC84-D46A710B666A}"/>
              </a:ext>
            </a:extLst>
          </p:cNvPr>
          <p:cNvSpPr>
            <a:spLocks xmlns:a="http://schemas.openxmlformats.org/drawingml/2006/main" noGrp="1"/>
          </p:cNvSpPr>
          <p:nvPr/>
        </p:nvSpPr>
        <p:spPr>
          <a:xfrm xmlns:a="http://schemas.openxmlformats.org/drawingml/2006/main">
            <a:off x="685800" y="4526280"/>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50" b="1">
                <a:solidFill>
                  <a:srgbClr val="1E1E1E"/>
                </a:solidFill>
                <a:latin typeface="Arial"/>
                <a:ea typeface="Arial"/>
                <a:cs typeface="Arial"/>
              </a:rPr>
              <a:t>Coverage</a:t>
            </a:r>
          </a:p>
        </p:txBody>
      </p:sp>
      <p:sp>
        <p:nvSpPr>
          <p:cNvPr id="114" name="TextBox 113">
            <a:extLst xmlns:a="http://schemas.openxmlformats.org/drawingml/2006/main">
              <a:ext uri="{FF2B5EF4-FFF2-40B4-BE49-F238E27FC236}">
                <a16:creationId xmlns:a16="http://schemas.microsoft.com/office/drawing/2014/main" id="{57D14B68-8A71-46F3-BC1B-75133D2F6FED}"/>
              </a:ext>
            </a:extLst>
          </p:cNvPr>
          <p:cNvSpPr>
            <a:spLocks xmlns:a="http://schemas.openxmlformats.org/drawingml/2006/main" noGrp="1"/>
          </p:cNvSpPr>
          <p:nvPr/>
        </p:nvSpPr>
        <p:spPr>
          <a:xfrm xmlns:a="http://schemas.openxmlformats.org/drawingml/2006/main">
            <a:off x="2514600" y="4526280"/>
            <a:ext cx="868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300" b="0">
                <a:solidFill>
                  <a:srgbClr val="1E1E1E"/>
                </a:solidFill>
                <a:latin typeface="Arial"/>
                <a:ea typeface="Arial"/>
                <a:cs typeface="Arial"/>
              </a:rPr>
              <a:t>74.8%</a:t>
            </a:r>
          </a:p>
        </p:txBody>
      </p:sp>
      <p:sp>
        <p:nvSpPr>
          <p:cNvPr id="115" name="TextBox 114">
            <a:extLst xmlns:a="http://schemas.openxmlformats.org/drawingml/2006/main">
              <a:ext uri="{FF2B5EF4-FFF2-40B4-BE49-F238E27FC236}">
                <a16:creationId xmlns:a16="http://schemas.microsoft.com/office/drawing/2014/main" id="{55A89CC4-956E-444D-AAFA-9DF778B04753}"/>
              </a:ext>
            </a:extLst>
          </p:cNvPr>
          <p:cNvSpPr>
            <a:spLocks xmlns:a="http://schemas.openxmlformats.org/drawingml/2006/main" noGrp="1"/>
          </p:cNvSpPr>
          <p:nvPr/>
        </p:nvSpPr>
        <p:spPr>
          <a:xfrm xmlns:a="http://schemas.openxmlformats.org/drawingml/2006/main">
            <a:off x="3429000" y="4526280"/>
            <a:ext cx="1554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300" b="1">
                <a:solidFill>
                  <a:srgbClr val="1E1E1E"/>
                </a:solidFill>
                <a:latin typeface="Arial"/>
                <a:ea typeface="Arial"/>
                <a:cs typeface="Arial"/>
              </a:rPr>
              <a:t>93.1%</a:t>
            </a:r>
          </a:p>
        </p:txBody>
      </p:sp>
      <p:sp>
        <p:nvSpPr>
          <p:cNvPr id="116" name="Rectangle 115">
            <a:extLst xmlns:a="http://schemas.openxmlformats.org/drawingml/2006/main">
              <a:ext uri="{FF2B5EF4-FFF2-40B4-BE49-F238E27FC236}">
                <a16:creationId xmlns:a16="http://schemas.microsoft.com/office/drawing/2014/main" id="{8AABED5B-761F-4872-95A1-6C98B07D4836}"/>
              </a:ext>
            </a:extLst>
          </p:cNvPr>
          <p:cNvSpPr>
            <a:spLocks xmlns:a="http://schemas.openxmlformats.org/drawingml/2006/main" noGrp="1"/>
          </p:cNvSpPr>
          <p:nvPr/>
        </p:nvSpPr>
        <p:spPr>
          <a:xfrm xmlns:a="http://schemas.openxmlformats.org/drawingml/2006/main">
            <a:off x="685800" y="5376672"/>
            <a:ext cx="4297680" cy="914"/>
          </a:xfrm>
          <a:prstGeom xmlns:a="http://schemas.openxmlformats.org/drawingml/2006/main" prst="rect">
            <a:avLst/>
          </a:prstGeom>
          <a:solidFill xmlns:a="http://schemas.openxmlformats.org/drawingml/2006/main">
            <a:srgbClr val="C4C4C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TextBox 116">
            <a:extLst xmlns:a="http://schemas.openxmlformats.org/drawingml/2006/main">
              <a:ext uri="{FF2B5EF4-FFF2-40B4-BE49-F238E27FC236}">
                <a16:creationId xmlns:a16="http://schemas.microsoft.com/office/drawing/2014/main" id="{6C3F8AFD-5C4E-438C-8200-4850C7469FC1}"/>
              </a:ext>
            </a:extLst>
          </p:cNvPr>
          <p:cNvSpPr>
            <a:spLocks xmlns:a="http://schemas.openxmlformats.org/drawingml/2006/main" noGrp="1"/>
          </p:cNvSpPr>
          <p:nvPr/>
        </p:nvSpPr>
        <p:spPr>
          <a:xfrm xmlns:a="http://schemas.openxmlformats.org/drawingml/2006/main">
            <a:off x="685800" y="4983480"/>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250" b="1">
                <a:solidFill>
                  <a:srgbClr val="1E1E1E"/>
                </a:solidFill>
                <a:latin typeface="Arial"/>
                <a:ea typeface="Arial"/>
                <a:cs typeface="Arial"/>
              </a:rPr>
              <a:t>False episodes / day</a:t>
            </a:r>
          </a:p>
        </p:txBody>
      </p:sp>
      <p:sp>
        <p:nvSpPr>
          <p:cNvPr id="118" name="TextBox 117">
            <a:extLst xmlns:a="http://schemas.openxmlformats.org/drawingml/2006/main">
              <a:ext uri="{FF2B5EF4-FFF2-40B4-BE49-F238E27FC236}">
                <a16:creationId xmlns:a16="http://schemas.microsoft.com/office/drawing/2014/main" id="{EB9E75DA-7F55-4415-8771-3B3C265860DC}"/>
              </a:ext>
            </a:extLst>
          </p:cNvPr>
          <p:cNvSpPr>
            <a:spLocks xmlns:a="http://schemas.openxmlformats.org/drawingml/2006/main" noGrp="1"/>
          </p:cNvSpPr>
          <p:nvPr/>
        </p:nvSpPr>
        <p:spPr>
          <a:xfrm xmlns:a="http://schemas.openxmlformats.org/drawingml/2006/main">
            <a:off x="2514600" y="4983480"/>
            <a:ext cx="868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300" b="0">
                <a:solidFill>
                  <a:srgbClr val="1E1E1E"/>
                </a:solidFill>
                <a:latin typeface="Arial"/>
                <a:ea typeface="Arial"/>
                <a:cs typeface="Arial"/>
              </a:rPr>
              <a:t>0.071</a:t>
            </a:r>
          </a:p>
        </p:txBody>
      </p:sp>
      <p:sp>
        <p:nvSpPr>
          <p:cNvPr id="119" name="TextBox 118">
            <a:extLst xmlns:a="http://schemas.openxmlformats.org/drawingml/2006/main">
              <a:ext uri="{FF2B5EF4-FFF2-40B4-BE49-F238E27FC236}">
                <a16:creationId xmlns:a16="http://schemas.microsoft.com/office/drawing/2014/main" id="{B25943A1-7346-4503-97BB-86CBCF3FA601}"/>
              </a:ext>
            </a:extLst>
          </p:cNvPr>
          <p:cNvSpPr>
            <a:spLocks xmlns:a="http://schemas.openxmlformats.org/drawingml/2006/main" noGrp="1"/>
          </p:cNvSpPr>
          <p:nvPr/>
        </p:nvSpPr>
        <p:spPr>
          <a:xfrm xmlns:a="http://schemas.openxmlformats.org/drawingml/2006/main">
            <a:off x="3429000" y="4983480"/>
            <a:ext cx="1554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1300" b="1">
                <a:solidFill>
                  <a:srgbClr val="1E1E1E"/>
                </a:solidFill>
                <a:latin typeface="Arial"/>
                <a:ea typeface="Arial"/>
                <a:cs typeface="Arial"/>
              </a:rPr>
              <a:t>0.127</a:t>
            </a:r>
          </a:p>
        </p:txBody>
      </p:sp>
      <p:sp>
        <p:nvSpPr>
          <p:cNvPr id="120" name="TextBox 119">
            <a:extLst xmlns:a="http://schemas.openxmlformats.org/drawingml/2006/main">
              <a:ext uri="{FF2B5EF4-FFF2-40B4-BE49-F238E27FC236}">
                <a16:creationId xmlns:a16="http://schemas.microsoft.com/office/drawing/2014/main" id="{36115A3C-7482-4AF2-983E-56F8828258A4}"/>
              </a:ext>
            </a:extLst>
          </p:cNvPr>
          <p:cNvSpPr>
            <a:spLocks xmlns:a="http://schemas.openxmlformats.org/drawingml/2006/main" noGrp="1"/>
          </p:cNvSpPr>
          <p:nvPr/>
        </p:nvSpPr>
        <p:spPr>
          <a:xfrm xmlns:a="http://schemas.openxmlformats.org/drawingml/2006/main">
            <a:off x="685800" y="5486400"/>
            <a:ext cx="429768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50" b="0">
                <a:solidFill>
                  <a:srgbClr val="555555"/>
                </a:solidFill>
                <a:latin typeface="Arial"/>
                <a:ea typeface="Arial"/>
                <a:cs typeface="Arial"/>
              </a:rPr>
              <a:t>V4 detects more events sooner, with higher false alarms and lower row precision.</a:t>
            </a:r>
          </a:p>
        </p:txBody>
      </p:sp>
      <p:sp>
        <p:nvSpPr>
          <p:cNvPr id="121" name="Rectangle 120">
            <a:extLst xmlns:a="http://schemas.openxmlformats.org/drawingml/2006/main">
              <a:ext uri="{FF2B5EF4-FFF2-40B4-BE49-F238E27FC236}">
                <a16:creationId xmlns:a16="http://schemas.microsoft.com/office/drawing/2014/main" id="{8827A46A-2BDE-4ADE-98C3-60AD675659C2}"/>
              </a:ext>
            </a:extLst>
          </p:cNvPr>
          <p:cNvSpPr>
            <a:spLocks xmlns:a="http://schemas.openxmlformats.org/drawingml/2006/main" noGrp="1"/>
          </p:cNvSpPr>
          <p:nvPr/>
        </p:nvSpPr>
        <p:spPr>
          <a:xfrm xmlns:a="http://schemas.openxmlformats.org/drawingml/2006/main">
            <a:off x="5257800" y="3291840"/>
            <a:ext cx="3108960" cy="269748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TextBox 121">
            <a:extLst xmlns:a="http://schemas.openxmlformats.org/drawingml/2006/main">
              <a:ext uri="{FF2B5EF4-FFF2-40B4-BE49-F238E27FC236}">
                <a16:creationId xmlns:a16="http://schemas.microsoft.com/office/drawing/2014/main" id="{35A43A51-00DE-4058-8B9E-BF647964BAD2}"/>
              </a:ext>
            </a:extLst>
          </p:cNvPr>
          <p:cNvSpPr>
            <a:spLocks xmlns:a="http://schemas.openxmlformats.org/drawingml/2006/main" noGrp="1"/>
          </p:cNvSpPr>
          <p:nvPr/>
        </p:nvSpPr>
        <p:spPr>
          <a:xfrm xmlns:a="http://schemas.openxmlformats.org/drawingml/2006/main">
            <a:off x="5394960" y="3401568"/>
            <a:ext cx="2834640" cy="1808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SOFTWARE VERIFICATION</a:t>
            </a:r>
          </a:p>
          <a:p xmlns:a="http://schemas.openxmlformats.org/drawingml/2006/main">
            <a:pPr algn="l">
              <a:spcBef>
                <a:spcPts val="400"/>
              </a:spcBef>
              <a:buNone/>
            </a:pPr>
            <a:r>
              <a:rPr sz="2200" b="1">
                <a:solidFill>
                  <a:srgbClr val="D46A12"/>
                </a:solidFill>
                <a:latin typeface="Arial"/>
                <a:ea typeface="Arial"/>
                <a:cs typeface="Arial"/>
              </a:rPr>
              <a:t>80 Python tests</a:t>
            </a:r>
          </a:p>
          <a:p xmlns:a="http://schemas.openxmlformats.org/drawingml/2006/main">
            <a:pPr algn="l">
              <a:spcBef>
                <a:spcPts val="400"/>
              </a:spcBef>
              <a:buNone/>
            </a:pPr>
            <a:r>
              <a:rPr sz="2200" b="1">
                <a:solidFill>
                  <a:srgbClr val="D46A12"/>
                </a:solidFill>
                <a:latin typeface="Arial"/>
                <a:ea typeface="Arial"/>
                <a:cs typeface="Arial"/>
              </a:rPr>
              <a:t>21 frontend tests</a:t>
            </a:r>
          </a:p>
          <a:p xmlns:a="http://schemas.openxmlformats.org/drawingml/2006/main">
            <a:pPr algn="l">
              <a:spcBef>
                <a:spcPts val="400"/>
              </a:spcBef>
              <a:buNone/>
            </a:pPr>
            <a:r>
              <a:rPr sz="1250" b="0">
                <a:solidFill>
                  <a:srgbClr val="1E1E1E"/>
                </a:solidFill>
                <a:latin typeface="Arial"/>
                <a:ea typeface="Arial"/>
                <a:cs typeface="Arial"/>
              </a:rPr>
              <a:t>5 Spring Boot tests</a:t>
            </a:r>
          </a:p>
          <a:p xmlns:a="http://schemas.openxmlformats.org/drawingml/2006/main">
            <a:pPr algn="l">
              <a:spcBef>
                <a:spcPts val="400"/>
              </a:spcBef>
              <a:buNone/>
            </a:pPr>
            <a:r>
              <a:rPr sz="1150" b="0">
                <a:solidFill>
                  <a:srgbClr val="555555"/>
                </a:solidFill>
                <a:latin typeface="Arial"/>
                <a:ea typeface="Arial"/>
                <a:cs typeface="Arial"/>
              </a:rPr>
              <a:t>209 protected artifacts match exactly</a:t>
            </a:r>
          </a:p>
          <a:p xmlns:a="http://schemas.openxmlformats.org/drawingml/2006/main">
            <a:pPr algn="l">
              <a:spcBef>
                <a:spcPts val="400"/>
              </a:spcBef>
              <a:buNone/>
            </a:pPr>
            <a:r>
              <a:rPr sz="1150" b="0">
                <a:solidFill>
                  <a:srgbClr val="555555"/>
                </a:solidFill>
                <a:latin typeface="Arial"/>
                <a:ea typeface="Arial"/>
                <a:cs typeface="Arial"/>
              </a:rPr>
              <a:t>These checks establish software behaviour, not field accuracy.</a:t>
            </a:r>
          </a:p>
        </p:txBody>
      </p:sp>
      <p:sp>
        <p:nvSpPr>
          <p:cNvPr id="123" name="Rectangle 122">
            <a:extLst xmlns:a="http://schemas.openxmlformats.org/drawingml/2006/main">
              <a:ext uri="{FF2B5EF4-FFF2-40B4-BE49-F238E27FC236}">
                <a16:creationId xmlns:a16="http://schemas.microsoft.com/office/drawing/2014/main" id="{BD0AB901-ED33-4889-909B-2781EF3A36EF}"/>
              </a:ext>
            </a:extLst>
          </p:cNvPr>
          <p:cNvSpPr>
            <a:spLocks xmlns:a="http://schemas.openxmlformats.org/drawingml/2006/main" noGrp="1"/>
          </p:cNvSpPr>
          <p:nvPr/>
        </p:nvSpPr>
        <p:spPr>
          <a:xfrm xmlns:a="http://schemas.openxmlformats.org/drawingml/2006/main">
            <a:off x="8503920" y="3291840"/>
            <a:ext cx="3200400" cy="269748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TextBox 123">
            <a:extLst xmlns:a="http://schemas.openxmlformats.org/drawingml/2006/main">
              <a:ext uri="{FF2B5EF4-FFF2-40B4-BE49-F238E27FC236}">
                <a16:creationId xmlns:a16="http://schemas.microsoft.com/office/drawing/2014/main" id="{A4B23E02-2B90-48C6-9338-0157BF2084E3}"/>
              </a:ext>
            </a:extLst>
          </p:cNvPr>
          <p:cNvSpPr>
            <a:spLocks xmlns:a="http://schemas.openxmlformats.org/drawingml/2006/main" noGrp="1"/>
          </p:cNvSpPr>
          <p:nvPr/>
        </p:nvSpPr>
        <p:spPr>
          <a:xfrm xmlns:a="http://schemas.openxmlformats.org/drawingml/2006/main">
            <a:off x="8641080" y="3401568"/>
            <a:ext cx="2926080" cy="12725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MODEL LIMITS</a:t>
            </a:r>
          </a:p>
          <a:p xmlns:a="http://schemas.openxmlformats.org/drawingml/2006/main">
            <a:pPr algn="l">
              <a:spcBef>
                <a:spcPts val="400"/>
              </a:spcBef>
              <a:buNone/>
            </a:pPr>
            <a:r>
              <a:rPr sz="1250" b="0">
                <a:solidFill>
                  <a:srgbClr val="1E1E1E"/>
                </a:solidFill>
                <a:latin typeface="Arial"/>
                <a:ea typeface="Arial"/>
                <a:cs typeface="Arial"/>
              </a:rPr>
              <a:t>One of 23 thermal events missed.</a:t>
            </a:r>
          </a:p>
          <a:p xmlns:a="http://schemas.openxmlformats.org/drawingml/2006/main">
            <a:pPr algn="l">
              <a:spcBef>
                <a:spcPts val="400"/>
              </a:spcBef>
              <a:buNone/>
            </a:pPr>
            <a:r>
              <a:rPr sz="1250" b="0">
                <a:solidFill>
                  <a:srgbClr val="1E1E1E"/>
                </a:solidFill>
                <a:latin typeface="Arial"/>
                <a:ea typeface="Arial"/>
                <a:cs typeface="Arial"/>
              </a:rPr>
              <a:t>Oil recall including abstentions: 55.2%. Coverage: 55.1%.</a:t>
            </a:r>
          </a:p>
          <a:p xmlns:a="http://schemas.openxmlformats.org/drawingml/2006/main">
            <a:pPr algn="l">
              <a:spcBef>
                <a:spcPts val="400"/>
              </a:spcBef>
              <a:buNone/>
            </a:pPr>
            <a:r>
              <a:rPr sz="1250" b="0">
                <a:solidFill>
                  <a:srgbClr val="1E1E1E"/>
                </a:solidFill>
                <a:latin typeface="Arial"/>
                <a:ea typeface="Arial"/>
                <a:cs typeface="Arial"/>
              </a:rPr>
              <a:t>No trained pressure, internal bushing, short-circuit or RUL diagnosis.</a:t>
            </a:r>
          </a:p>
        </p:txBody>
      </p:sp>
    </p:spTree>
    <p:extLst>
      <p:ext uri="{BB962C8B-B14F-4D97-AF65-F5344CB8AC3E}">
        <p14:creationId xmlns:p14="http://schemas.microsoft.com/office/powerpoint/2010/main" val="299947361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Label Mentor">
            <a:extLst xmlns:a="http://schemas.openxmlformats.org/drawingml/2006/main">
              <a:ext uri="{FF2B5EF4-FFF2-40B4-BE49-F238E27FC236}">
                <a16:creationId xmlns:a16="http://schemas.microsoft.com/office/drawing/2014/main" id="{1D3F3CCC-B786-77CF-B8C2-A2C8E821B88C}"/>
              </a:ext>
            </a:extLst>
          </p:cNvPr>
          <p:cNvSpPr>
            <a:spLocks xmlns:a="http://schemas.openxmlformats.org/drawingml/2006/main" noGrp="1"/>
          </p:cNvSpPr>
          <p:nvPr/>
        </p:nvSpPr>
        <p:spPr>
          <a:xfrm xmlns:a="http://schemas.openxmlformats.org/drawingml/2006/main">
            <a:off x="548640" y="575157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endParaRPr sz="1300"/>
          </a:p>
        </p:txBody>
      </p:sp>
      <p:sp>
        <p:nvSpPr>
          <p:cNvPr id="14" name="Shape 12">
            <a:extLst xmlns:a="http://schemas.openxmlformats.org/drawingml/2006/main">
              <a:ext uri="{FF2B5EF4-FFF2-40B4-BE49-F238E27FC236}">
                <a16:creationId xmlns:a16="http://schemas.microsoft.com/office/drawing/2014/main" id="{8EF605F4-6E4C-8444-37ED-D0CD37DBB606}"/>
              </a:ext>
            </a:extLst>
          </p:cNvPr>
          <p:cNvSpPr>
            <a:spLocks xmlns:a="http://schemas.openxmlformats.org/drawingml/2006/main" noGrp="1"/>
          </p:cNvSpPr>
          <p:nvPr/>
        </p:nvSpPr>
        <p:spPr>
          <a:xfrm xmlns:a="http://schemas.openxmlformats.org/drawingml/2006/main" flipV="1">
            <a:off x="992124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5" name="Shape 13">
            <a:extLst xmlns:a="http://schemas.openxmlformats.org/drawingml/2006/main">
              <a:ext uri="{FF2B5EF4-FFF2-40B4-BE49-F238E27FC236}">
                <a16:creationId xmlns:a16="http://schemas.microsoft.com/office/drawing/2014/main" id="{AD9E8EAE-0808-1C0D-5364-679D1016781D}"/>
              </a:ext>
            </a:extLst>
          </p:cNvPr>
          <p:cNvSpPr>
            <a:spLocks xmlns:a="http://schemas.openxmlformats.org/drawingml/2006/main" noGrp="1"/>
          </p:cNvSpPr>
          <p:nvPr/>
        </p:nvSpPr>
        <p:spPr>
          <a:xfrm xmlns:a="http://schemas.openxmlformats.org/drawingml/2006/main">
            <a:off x="10789920" y="1097280"/>
            <a:ext cx="685800" cy="470916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16" name="Shape 14">
            <a:extLst xmlns:a="http://schemas.openxmlformats.org/drawingml/2006/main">
              <a:ext uri="{FF2B5EF4-FFF2-40B4-BE49-F238E27FC236}">
                <a16:creationId xmlns:a16="http://schemas.microsoft.com/office/drawing/2014/main" id="{E9822030-7F5E-A107-3C16-A27640A771E0}"/>
              </a:ext>
            </a:extLst>
          </p:cNvPr>
          <p:cNvSpPr>
            <a:spLocks xmlns:a="http://schemas.openxmlformats.org/drawingml/2006/main" noGrp="1"/>
          </p:cNvSpPr>
          <p:nvPr/>
        </p:nvSpPr>
        <p:spPr>
          <a:xfrm xmlns:a="http://schemas.openxmlformats.org/drawingml/2006/main">
            <a:off x="10607040" y="1097280"/>
            <a:ext cx="1828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7" name="Shape 15">
            <a:extLst xmlns:a="http://schemas.openxmlformats.org/drawingml/2006/main">
              <a:ext uri="{FF2B5EF4-FFF2-40B4-BE49-F238E27FC236}">
                <a16:creationId xmlns:a16="http://schemas.microsoft.com/office/drawing/2014/main" id="{BB2112ED-686D-3A3A-5F65-7CC0F66B36D0}"/>
              </a:ext>
            </a:extLst>
          </p:cNvPr>
          <p:cNvSpPr>
            <a:spLocks xmlns:a="http://schemas.openxmlformats.org/drawingml/2006/main" noGrp="1"/>
          </p:cNvSpPr>
          <p:nvPr/>
        </p:nvSpPr>
        <p:spPr>
          <a:xfrm xmlns:a="http://schemas.openxmlformats.org/drawingml/2006/main">
            <a:off x="10401300" y="2510028"/>
            <a:ext cx="5943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8" name="Shape 16">
            <a:extLst xmlns:a="http://schemas.openxmlformats.org/drawingml/2006/main">
              <a:ext uri="{FF2B5EF4-FFF2-40B4-BE49-F238E27FC236}">
                <a16:creationId xmlns:a16="http://schemas.microsoft.com/office/drawing/2014/main" id="{944A62D0-E77B-AB90-80EF-135721804037}"/>
              </a:ext>
            </a:extLst>
          </p:cNvPr>
          <p:cNvSpPr>
            <a:spLocks xmlns:a="http://schemas.openxmlformats.org/drawingml/2006/main" noGrp="1"/>
          </p:cNvSpPr>
          <p:nvPr/>
        </p:nvSpPr>
        <p:spPr>
          <a:xfrm xmlns:a="http://schemas.openxmlformats.org/drawingml/2006/main">
            <a:off x="10229850" y="3687318"/>
            <a:ext cx="9372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19" name="Shape 17">
            <a:extLst xmlns:a="http://schemas.openxmlformats.org/drawingml/2006/main">
              <a:ext uri="{FF2B5EF4-FFF2-40B4-BE49-F238E27FC236}">
                <a16:creationId xmlns:a16="http://schemas.microsoft.com/office/drawing/2014/main" id="{BFDD1C14-794C-261C-628F-413CADAA9021}"/>
              </a:ext>
            </a:extLst>
          </p:cNvPr>
          <p:cNvSpPr>
            <a:spLocks xmlns:a="http://schemas.openxmlformats.org/drawingml/2006/main" noGrp="1"/>
          </p:cNvSpPr>
          <p:nvPr/>
        </p:nvSpPr>
        <p:spPr>
          <a:xfrm xmlns:a="http://schemas.openxmlformats.org/drawingml/2006/main">
            <a:off x="10058400" y="4864608"/>
            <a:ext cx="128016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0" name="Shape 18">
            <a:extLst xmlns:a="http://schemas.openxmlformats.org/drawingml/2006/main">
              <a:ext uri="{FF2B5EF4-FFF2-40B4-BE49-F238E27FC236}">
                <a16:creationId xmlns:a16="http://schemas.microsoft.com/office/drawing/2014/main" id="{FDC887C6-3B7B-EC03-C30C-000643921C48}"/>
              </a:ext>
            </a:extLst>
          </p:cNvPr>
          <p:cNvSpPr>
            <a:spLocks xmlns:a="http://schemas.openxmlformats.org/drawingml/2006/main" noGrp="1"/>
          </p:cNvSpPr>
          <p:nvPr/>
        </p:nvSpPr>
        <p:spPr>
          <a:xfrm xmlns:a="http://schemas.openxmlformats.org/drawingml/2006/main">
            <a:off x="9921240" y="5806440"/>
            <a:ext cx="155448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21" name="Shape 19">
            <a:extLst xmlns:a="http://schemas.openxmlformats.org/drawingml/2006/main">
              <a:ext uri="{FF2B5EF4-FFF2-40B4-BE49-F238E27FC236}">
                <a16:creationId xmlns:a16="http://schemas.microsoft.com/office/drawing/2014/main" id="{17AE4E45-794D-19D2-6D81-2FBAFDA730BF}"/>
              </a:ext>
            </a:extLst>
          </p:cNvPr>
          <p:cNvSpPr>
            <a:spLocks xmlns:a="http://schemas.openxmlformats.org/drawingml/2006/main" noGrp="1"/>
          </p:cNvSpPr>
          <p:nvPr/>
        </p:nvSpPr>
        <p:spPr>
          <a:xfrm xmlns:a="http://schemas.openxmlformats.org/drawingml/2006/main">
            <a:off x="1060704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2" name="Shape 20">
            <a:extLst xmlns:a="http://schemas.openxmlformats.org/drawingml/2006/main">
              <a:ext uri="{FF2B5EF4-FFF2-40B4-BE49-F238E27FC236}">
                <a16:creationId xmlns:a16="http://schemas.microsoft.com/office/drawing/2014/main" id="{3F9DE081-7FF3-B2D7-994F-9C72382D42B2}"/>
              </a:ext>
            </a:extLst>
          </p:cNvPr>
          <p:cNvSpPr>
            <a:spLocks xmlns:a="http://schemas.openxmlformats.org/drawingml/2006/main" noGrp="1"/>
          </p:cNvSpPr>
          <p:nvPr/>
        </p:nvSpPr>
        <p:spPr>
          <a:xfrm xmlns:a="http://schemas.openxmlformats.org/drawingml/2006/main" flipV="1">
            <a:off x="10401300" y="1097280"/>
            <a:ext cx="388620" cy="1412748"/>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3" name="Shape 21">
            <a:extLst xmlns:a="http://schemas.openxmlformats.org/drawingml/2006/main">
              <a:ext uri="{FF2B5EF4-FFF2-40B4-BE49-F238E27FC236}">
                <a16:creationId xmlns:a16="http://schemas.microsoft.com/office/drawing/2014/main" id="{218A87DB-4862-78CA-17F9-6BC953C181BF}"/>
              </a:ext>
            </a:extLst>
          </p:cNvPr>
          <p:cNvSpPr>
            <a:spLocks xmlns:a="http://schemas.openxmlformats.org/drawingml/2006/main" noGrp="1"/>
          </p:cNvSpPr>
          <p:nvPr/>
        </p:nvSpPr>
        <p:spPr>
          <a:xfrm xmlns:a="http://schemas.openxmlformats.org/drawingml/2006/main">
            <a:off x="1040130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4" name="Shape 22">
            <a:extLst xmlns:a="http://schemas.openxmlformats.org/drawingml/2006/main">
              <a:ext uri="{FF2B5EF4-FFF2-40B4-BE49-F238E27FC236}">
                <a16:creationId xmlns:a16="http://schemas.microsoft.com/office/drawing/2014/main" id="{17A253E1-FB99-3B2A-439F-6A54215B15DD}"/>
              </a:ext>
            </a:extLst>
          </p:cNvPr>
          <p:cNvSpPr>
            <a:spLocks xmlns:a="http://schemas.openxmlformats.org/drawingml/2006/main" noGrp="1"/>
          </p:cNvSpPr>
          <p:nvPr/>
        </p:nvSpPr>
        <p:spPr>
          <a:xfrm xmlns:a="http://schemas.openxmlformats.org/drawingml/2006/main" flipV="1">
            <a:off x="10229850" y="2510028"/>
            <a:ext cx="7658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5" name="Shape 23">
            <a:extLst xmlns:a="http://schemas.openxmlformats.org/drawingml/2006/main">
              <a:ext uri="{FF2B5EF4-FFF2-40B4-BE49-F238E27FC236}">
                <a16:creationId xmlns:a16="http://schemas.microsoft.com/office/drawing/2014/main" id="{60ED8B70-5812-E1F8-06E5-01DE15B87DD1}"/>
              </a:ext>
            </a:extLst>
          </p:cNvPr>
          <p:cNvSpPr>
            <a:spLocks xmlns:a="http://schemas.openxmlformats.org/drawingml/2006/main" noGrp="1"/>
          </p:cNvSpPr>
          <p:nvPr/>
        </p:nvSpPr>
        <p:spPr>
          <a:xfrm xmlns:a="http://schemas.openxmlformats.org/drawingml/2006/main">
            <a:off x="1022985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6" name="Shape 24">
            <a:extLst xmlns:a="http://schemas.openxmlformats.org/drawingml/2006/main">
              <a:ext uri="{FF2B5EF4-FFF2-40B4-BE49-F238E27FC236}">
                <a16:creationId xmlns:a16="http://schemas.microsoft.com/office/drawing/2014/main" id="{DD0D5228-97C2-5030-7CFA-38CDCB6419BF}"/>
              </a:ext>
            </a:extLst>
          </p:cNvPr>
          <p:cNvSpPr>
            <a:spLocks xmlns:a="http://schemas.openxmlformats.org/drawingml/2006/main" noGrp="1"/>
          </p:cNvSpPr>
          <p:nvPr/>
        </p:nvSpPr>
        <p:spPr>
          <a:xfrm xmlns:a="http://schemas.openxmlformats.org/drawingml/2006/main" flipV="1">
            <a:off x="10058400" y="3687318"/>
            <a:ext cx="1108710" cy="117729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7" name="Shape 25">
            <a:extLst xmlns:a="http://schemas.openxmlformats.org/drawingml/2006/main">
              <a:ext uri="{FF2B5EF4-FFF2-40B4-BE49-F238E27FC236}">
                <a16:creationId xmlns:a16="http://schemas.microsoft.com/office/drawing/2014/main" id="{D0ED2C27-AA91-B39E-1BC8-98E5A0D0F3AE}"/>
              </a:ext>
            </a:extLst>
          </p:cNvPr>
          <p:cNvSpPr>
            <a:spLocks xmlns:a="http://schemas.openxmlformats.org/drawingml/2006/main" noGrp="1"/>
          </p:cNvSpPr>
          <p:nvPr/>
        </p:nvSpPr>
        <p:spPr>
          <a:xfrm xmlns:a="http://schemas.openxmlformats.org/drawingml/2006/main">
            <a:off x="1005840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8" name="Shape 26">
            <a:extLst xmlns:a="http://schemas.openxmlformats.org/drawingml/2006/main">
              <a:ext uri="{FF2B5EF4-FFF2-40B4-BE49-F238E27FC236}">
                <a16:creationId xmlns:a16="http://schemas.microsoft.com/office/drawing/2014/main" id="{1CDA60EF-6F47-23BB-BF12-5335C29BD985}"/>
              </a:ext>
            </a:extLst>
          </p:cNvPr>
          <p:cNvSpPr>
            <a:spLocks xmlns:a="http://schemas.openxmlformats.org/drawingml/2006/main" noGrp="1"/>
          </p:cNvSpPr>
          <p:nvPr/>
        </p:nvSpPr>
        <p:spPr>
          <a:xfrm xmlns:a="http://schemas.openxmlformats.org/drawingml/2006/main" flipV="1">
            <a:off x="9921240" y="4864608"/>
            <a:ext cx="1417320" cy="941832"/>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29" name="Shape 27">
            <a:extLst xmlns:a="http://schemas.openxmlformats.org/drawingml/2006/main">
              <a:ext uri="{FF2B5EF4-FFF2-40B4-BE49-F238E27FC236}">
                <a16:creationId xmlns:a16="http://schemas.microsoft.com/office/drawing/2014/main" id="{D44A7F4A-8AFE-9A97-9517-485E1C0DBE76}"/>
              </a:ext>
            </a:extLst>
          </p:cNvPr>
          <p:cNvSpPr>
            <a:spLocks xmlns:a="http://schemas.openxmlformats.org/drawingml/2006/main" noGrp="1"/>
          </p:cNvSpPr>
          <p:nvPr/>
        </p:nvSpPr>
        <p:spPr>
          <a:xfrm xmlns:a="http://schemas.openxmlformats.org/drawingml/2006/main">
            <a:off x="9646920" y="1568196"/>
            <a:ext cx="21031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0" name="Shape 28">
            <a:extLst xmlns:a="http://schemas.openxmlformats.org/drawingml/2006/main">
              <a:ext uri="{FF2B5EF4-FFF2-40B4-BE49-F238E27FC236}">
                <a16:creationId xmlns:a16="http://schemas.microsoft.com/office/drawing/2014/main" id="{B3106967-F912-0889-9E00-F578CB0CF734}"/>
              </a:ext>
            </a:extLst>
          </p:cNvPr>
          <p:cNvSpPr>
            <a:spLocks xmlns:a="http://schemas.openxmlformats.org/drawingml/2006/main" noGrp="1"/>
          </p:cNvSpPr>
          <p:nvPr/>
        </p:nvSpPr>
        <p:spPr>
          <a:xfrm xmlns:a="http://schemas.openxmlformats.org/drawingml/2006/main">
            <a:off x="9418320" y="2886761"/>
            <a:ext cx="25603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31" name="Shape 29">
            <a:extLst xmlns:a="http://schemas.openxmlformats.org/drawingml/2006/main">
              <a:ext uri="{FF2B5EF4-FFF2-40B4-BE49-F238E27FC236}">
                <a16:creationId xmlns:a16="http://schemas.microsoft.com/office/drawing/2014/main" id="{D2711D8D-3053-C395-5DBD-A6CE0E0CEE92}"/>
              </a:ext>
            </a:extLst>
          </p:cNvPr>
          <p:cNvSpPr>
            <a:spLocks xmlns:a="http://schemas.openxmlformats.org/drawingml/2006/main" noGrp="1"/>
          </p:cNvSpPr>
          <p:nvPr/>
        </p:nvSpPr>
        <p:spPr>
          <a:xfrm xmlns:a="http://schemas.openxmlformats.org/drawingml/2006/main" flipV="1">
            <a:off x="7360920"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2" name="Shape 30">
            <a:extLst xmlns:a="http://schemas.openxmlformats.org/drawingml/2006/main">
              <a:ext uri="{FF2B5EF4-FFF2-40B4-BE49-F238E27FC236}">
                <a16:creationId xmlns:a16="http://schemas.microsoft.com/office/drawing/2014/main" id="{3677D2B5-50B6-78CC-D90F-46E59956E3B0}"/>
              </a:ext>
            </a:extLst>
          </p:cNvPr>
          <p:cNvSpPr>
            <a:spLocks xmlns:a="http://schemas.openxmlformats.org/drawingml/2006/main" noGrp="1"/>
          </p:cNvSpPr>
          <p:nvPr/>
        </p:nvSpPr>
        <p:spPr>
          <a:xfrm xmlns:a="http://schemas.openxmlformats.org/drawingml/2006/main">
            <a:off x="7872984" y="2834640"/>
            <a:ext cx="402336" cy="2971800"/>
          </a:xfrm>
          <a:prstGeom xmlns:a="http://schemas.openxmlformats.org/drawingml/2006/main" prst="line">
            <a:avLst/>
          </a:prstGeom>
          <a:noFill xmlns:a="http://schemas.openxmlformats.org/drawingml/2006/main"/>
          <a:ln xmlns:a="http://schemas.openxmlformats.org/drawingml/2006/main" w="44450">
            <a:solidFill>
              <a:srgbClr val="BDBDBD"/>
            </a:solidFill>
            <a:prstDash val="solid"/>
          </a:ln>
        </p:spPr>
      </p:sp>
      <p:sp>
        <p:nvSpPr>
          <p:cNvPr id="33" name="Shape 31">
            <a:extLst xmlns:a="http://schemas.openxmlformats.org/drawingml/2006/main">
              <a:ext uri="{FF2B5EF4-FFF2-40B4-BE49-F238E27FC236}">
                <a16:creationId xmlns:a16="http://schemas.microsoft.com/office/drawing/2014/main" id="{037EC43F-73D6-97EB-FAD4-D91212F2D1BD}"/>
              </a:ext>
            </a:extLst>
          </p:cNvPr>
          <p:cNvSpPr>
            <a:spLocks xmlns:a="http://schemas.openxmlformats.org/drawingml/2006/main" noGrp="1"/>
          </p:cNvSpPr>
          <p:nvPr/>
        </p:nvSpPr>
        <p:spPr>
          <a:xfrm xmlns:a="http://schemas.openxmlformats.org/drawingml/2006/main">
            <a:off x="7763256" y="2834640"/>
            <a:ext cx="10972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4" name="Shape 32">
            <a:extLst xmlns:a="http://schemas.openxmlformats.org/drawingml/2006/main">
              <a:ext uri="{FF2B5EF4-FFF2-40B4-BE49-F238E27FC236}">
                <a16:creationId xmlns:a16="http://schemas.microsoft.com/office/drawing/2014/main" id="{AF6DFC96-4037-921A-F623-74CC10C119EA}"/>
              </a:ext>
            </a:extLst>
          </p:cNvPr>
          <p:cNvSpPr>
            <a:spLocks xmlns:a="http://schemas.openxmlformats.org/drawingml/2006/main" noGrp="1"/>
          </p:cNvSpPr>
          <p:nvPr/>
        </p:nvSpPr>
        <p:spPr>
          <a:xfrm xmlns:a="http://schemas.openxmlformats.org/drawingml/2006/main">
            <a:off x="7642555" y="3726180"/>
            <a:ext cx="35113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5" name="Shape 33">
            <a:extLst xmlns:a="http://schemas.openxmlformats.org/drawingml/2006/main">
              <a:ext uri="{FF2B5EF4-FFF2-40B4-BE49-F238E27FC236}">
                <a16:creationId xmlns:a16="http://schemas.microsoft.com/office/drawing/2014/main" id="{FF2C3CC2-C88E-07EF-48F2-A753056D12A3}"/>
              </a:ext>
            </a:extLst>
          </p:cNvPr>
          <p:cNvSpPr>
            <a:spLocks xmlns:a="http://schemas.openxmlformats.org/drawingml/2006/main" noGrp="1"/>
          </p:cNvSpPr>
          <p:nvPr/>
        </p:nvSpPr>
        <p:spPr>
          <a:xfrm xmlns:a="http://schemas.openxmlformats.org/drawingml/2006/main">
            <a:off x="7541971" y="4469130"/>
            <a:ext cx="552298"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6" name="Shape 34">
            <a:extLst xmlns:a="http://schemas.openxmlformats.org/drawingml/2006/main">
              <a:ext uri="{FF2B5EF4-FFF2-40B4-BE49-F238E27FC236}">
                <a16:creationId xmlns:a16="http://schemas.microsoft.com/office/drawing/2014/main" id="{589803F2-C684-9B46-4836-02C46355B913}"/>
              </a:ext>
            </a:extLst>
          </p:cNvPr>
          <p:cNvSpPr>
            <a:spLocks xmlns:a="http://schemas.openxmlformats.org/drawingml/2006/main" noGrp="1"/>
          </p:cNvSpPr>
          <p:nvPr/>
        </p:nvSpPr>
        <p:spPr>
          <a:xfrm xmlns:a="http://schemas.openxmlformats.org/drawingml/2006/main">
            <a:off x="7441387" y="5212080"/>
            <a:ext cx="753466"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7" name="Shape 35">
            <a:extLst xmlns:a="http://schemas.openxmlformats.org/drawingml/2006/main">
              <a:ext uri="{FF2B5EF4-FFF2-40B4-BE49-F238E27FC236}">
                <a16:creationId xmlns:a16="http://schemas.microsoft.com/office/drawing/2014/main" id="{FC3A14B9-B82C-4F60-22D2-58133F53C3C0}"/>
              </a:ext>
            </a:extLst>
          </p:cNvPr>
          <p:cNvSpPr>
            <a:spLocks xmlns:a="http://schemas.openxmlformats.org/drawingml/2006/main" noGrp="1"/>
          </p:cNvSpPr>
          <p:nvPr/>
        </p:nvSpPr>
        <p:spPr>
          <a:xfrm xmlns:a="http://schemas.openxmlformats.org/drawingml/2006/main">
            <a:off x="7360920" y="5806440"/>
            <a:ext cx="914400" cy="0"/>
          </a:xfrm>
          <a:prstGeom xmlns:a="http://schemas.openxmlformats.org/drawingml/2006/main" prst="line">
            <a:avLst/>
          </a:prstGeom>
          <a:noFill xmlns:a="http://schemas.openxmlformats.org/drawingml/2006/main"/>
          <a:ln xmlns:a="http://schemas.openxmlformats.org/drawingml/2006/main" w="31750">
            <a:solidFill>
              <a:srgbClr val="BDBDBD"/>
            </a:solidFill>
            <a:prstDash val="solid"/>
          </a:ln>
        </p:spPr>
      </p:sp>
      <p:sp>
        <p:nvSpPr>
          <p:cNvPr id="38" name="Shape 36">
            <a:extLst xmlns:a="http://schemas.openxmlformats.org/drawingml/2006/main">
              <a:ext uri="{FF2B5EF4-FFF2-40B4-BE49-F238E27FC236}">
                <a16:creationId xmlns:a16="http://schemas.microsoft.com/office/drawing/2014/main" id="{C86A7D34-456D-F846-B1F9-B1021C356FD7}"/>
              </a:ext>
            </a:extLst>
          </p:cNvPr>
          <p:cNvSpPr>
            <a:spLocks xmlns:a="http://schemas.openxmlformats.org/drawingml/2006/main" noGrp="1"/>
          </p:cNvSpPr>
          <p:nvPr/>
        </p:nvSpPr>
        <p:spPr>
          <a:xfrm xmlns:a="http://schemas.openxmlformats.org/drawingml/2006/main">
            <a:off x="7763256"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39" name="Shape 37">
            <a:extLst xmlns:a="http://schemas.openxmlformats.org/drawingml/2006/main">
              <a:ext uri="{FF2B5EF4-FFF2-40B4-BE49-F238E27FC236}">
                <a16:creationId xmlns:a16="http://schemas.microsoft.com/office/drawing/2014/main" id="{7DE39B96-B494-186C-6F98-6C8A30BA4F3D}"/>
              </a:ext>
            </a:extLst>
          </p:cNvPr>
          <p:cNvSpPr>
            <a:spLocks xmlns:a="http://schemas.openxmlformats.org/drawingml/2006/main" noGrp="1"/>
          </p:cNvSpPr>
          <p:nvPr/>
        </p:nvSpPr>
        <p:spPr>
          <a:xfrm xmlns:a="http://schemas.openxmlformats.org/drawingml/2006/main" flipV="1">
            <a:off x="7642555" y="2834640"/>
            <a:ext cx="230429" cy="89154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0" name="Shape 38">
            <a:extLst xmlns:a="http://schemas.openxmlformats.org/drawingml/2006/main">
              <a:ext uri="{FF2B5EF4-FFF2-40B4-BE49-F238E27FC236}">
                <a16:creationId xmlns:a16="http://schemas.microsoft.com/office/drawing/2014/main" id="{A0069719-1847-EB91-9762-11DAA412A7F0}"/>
              </a:ext>
            </a:extLst>
          </p:cNvPr>
          <p:cNvSpPr>
            <a:spLocks xmlns:a="http://schemas.openxmlformats.org/drawingml/2006/main" noGrp="1"/>
          </p:cNvSpPr>
          <p:nvPr/>
        </p:nvSpPr>
        <p:spPr>
          <a:xfrm xmlns:a="http://schemas.openxmlformats.org/drawingml/2006/main">
            <a:off x="7642555"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1" name="Shape 39">
            <a:extLst xmlns:a="http://schemas.openxmlformats.org/drawingml/2006/main">
              <a:ext uri="{FF2B5EF4-FFF2-40B4-BE49-F238E27FC236}">
                <a16:creationId xmlns:a16="http://schemas.microsoft.com/office/drawing/2014/main" id="{51AC6C3C-CF60-99AF-6F4B-50D69BC143FC}"/>
              </a:ext>
            </a:extLst>
          </p:cNvPr>
          <p:cNvSpPr>
            <a:spLocks xmlns:a="http://schemas.openxmlformats.org/drawingml/2006/main" noGrp="1"/>
          </p:cNvSpPr>
          <p:nvPr/>
        </p:nvSpPr>
        <p:spPr>
          <a:xfrm xmlns:a="http://schemas.openxmlformats.org/drawingml/2006/main" flipV="1">
            <a:off x="7541971" y="3726180"/>
            <a:ext cx="451714"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2" name="Shape 40">
            <a:extLst xmlns:a="http://schemas.openxmlformats.org/drawingml/2006/main">
              <a:ext uri="{FF2B5EF4-FFF2-40B4-BE49-F238E27FC236}">
                <a16:creationId xmlns:a16="http://schemas.microsoft.com/office/drawing/2014/main" id="{6A9A0426-4F0F-277F-A979-DB7C2CCCF56F}"/>
              </a:ext>
            </a:extLst>
          </p:cNvPr>
          <p:cNvSpPr>
            <a:spLocks xmlns:a="http://schemas.openxmlformats.org/drawingml/2006/main" noGrp="1"/>
          </p:cNvSpPr>
          <p:nvPr/>
        </p:nvSpPr>
        <p:spPr>
          <a:xfrm xmlns:a="http://schemas.openxmlformats.org/drawingml/2006/main">
            <a:off x="7541971"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3" name="Shape 41">
            <a:extLst xmlns:a="http://schemas.openxmlformats.org/drawingml/2006/main">
              <a:ext uri="{FF2B5EF4-FFF2-40B4-BE49-F238E27FC236}">
                <a16:creationId xmlns:a16="http://schemas.microsoft.com/office/drawing/2014/main" id="{40F345DA-F4E9-F2D7-837A-7F4880DEEB75}"/>
              </a:ext>
            </a:extLst>
          </p:cNvPr>
          <p:cNvSpPr>
            <a:spLocks xmlns:a="http://schemas.openxmlformats.org/drawingml/2006/main" noGrp="1"/>
          </p:cNvSpPr>
          <p:nvPr/>
        </p:nvSpPr>
        <p:spPr>
          <a:xfrm xmlns:a="http://schemas.openxmlformats.org/drawingml/2006/main" flipV="1">
            <a:off x="7441387" y="4469130"/>
            <a:ext cx="652882" cy="74295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4" name="Shape 42">
            <a:extLst xmlns:a="http://schemas.openxmlformats.org/drawingml/2006/main">
              <a:ext uri="{FF2B5EF4-FFF2-40B4-BE49-F238E27FC236}">
                <a16:creationId xmlns:a16="http://schemas.microsoft.com/office/drawing/2014/main" id="{F449ADC4-0C2D-AC2B-BAC1-41AF34A1406B}"/>
              </a:ext>
            </a:extLst>
          </p:cNvPr>
          <p:cNvSpPr>
            <a:spLocks xmlns:a="http://schemas.openxmlformats.org/drawingml/2006/main" noGrp="1"/>
          </p:cNvSpPr>
          <p:nvPr/>
        </p:nvSpPr>
        <p:spPr>
          <a:xfrm xmlns:a="http://schemas.openxmlformats.org/drawingml/2006/main">
            <a:off x="7441387"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5" name="Shape 43">
            <a:extLst xmlns:a="http://schemas.openxmlformats.org/drawingml/2006/main">
              <a:ext uri="{FF2B5EF4-FFF2-40B4-BE49-F238E27FC236}">
                <a16:creationId xmlns:a16="http://schemas.microsoft.com/office/drawing/2014/main" id="{8826451C-29A9-0AAF-9AF9-170226DEF08C}"/>
              </a:ext>
            </a:extLst>
          </p:cNvPr>
          <p:cNvSpPr>
            <a:spLocks xmlns:a="http://schemas.openxmlformats.org/drawingml/2006/main" noGrp="1"/>
          </p:cNvSpPr>
          <p:nvPr/>
        </p:nvSpPr>
        <p:spPr>
          <a:xfrm xmlns:a="http://schemas.openxmlformats.org/drawingml/2006/main" flipV="1">
            <a:off x="7360920" y="5212080"/>
            <a:ext cx="833933" cy="594360"/>
          </a:xfrm>
          <a:prstGeom xmlns:a="http://schemas.openxmlformats.org/drawingml/2006/main" prst="line">
            <a:avLst/>
          </a:prstGeom>
          <a:noFill xmlns:a="http://schemas.openxmlformats.org/drawingml/2006/main"/>
          <a:ln xmlns:a="http://schemas.openxmlformats.org/drawingml/2006/main" w="19050">
            <a:solidFill>
              <a:srgbClr val="BDBDBD"/>
            </a:solidFill>
            <a:prstDash val="solid"/>
          </a:ln>
        </p:spPr>
      </p:sp>
      <p:sp>
        <p:nvSpPr>
          <p:cNvPr id="46" name="Shape 44">
            <a:extLst xmlns:a="http://schemas.openxmlformats.org/drawingml/2006/main">
              <a:ext uri="{FF2B5EF4-FFF2-40B4-BE49-F238E27FC236}">
                <a16:creationId xmlns:a16="http://schemas.microsoft.com/office/drawing/2014/main" id="{27773D87-196B-A293-E3BA-D66B4CB92FDC}"/>
              </a:ext>
            </a:extLst>
          </p:cNvPr>
          <p:cNvSpPr>
            <a:spLocks xmlns:a="http://schemas.openxmlformats.org/drawingml/2006/main" noGrp="1"/>
          </p:cNvSpPr>
          <p:nvPr/>
        </p:nvSpPr>
        <p:spPr>
          <a:xfrm xmlns:a="http://schemas.openxmlformats.org/drawingml/2006/main">
            <a:off x="7223760" y="3131820"/>
            <a:ext cx="118872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7" name="Shape 45">
            <a:extLst xmlns:a="http://schemas.openxmlformats.org/drawingml/2006/main">
              <a:ext uri="{FF2B5EF4-FFF2-40B4-BE49-F238E27FC236}">
                <a16:creationId xmlns:a16="http://schemas.microsoft.com/office/drawing/2014/main" id="{5145D862-EF8B-A59E-E9A4-5973901E8320}"/>
              </a:ext>
            </a:extLst>
          </p:cNvPr>
          <p:cNvSpPr>
            <a:spLocks xmlns:a="http://schemas.openxmlformats.org/drawingml/2006/main" noGrp="1"/>
          </p:cNvSpPr>
          <p:nvPr/>
        </p:nvSpPr>
        <p:spPr>
          <a:xfrm xmlns:a="http://schemas.openxmlformats.org/drawingml/2006/main">
            <a:off x="7086600" y="3963924"/>
            <a:ext cx="1463040" cy="0"/>
          </a:xfrm>
          <a:prstGeom xmlns:a="http://schemas.openxmlformats.org/drawingml/2006/main" prst="line">
            <a:avLst/>
          </a:prstGeom>
          <a:noFill xmlns:a="http://schemas.openxmlformats.org/drawingml/2006/main"/>
          <a:ln xmlns:a="http://schemas.openxmlformats.org/drawingml/2006/main" w="50800">
            <a:solidFill>
              <a:srgbClr val="BDBDBD"/>
            </a:solidFill>
            <a:prstDash val="solid"/>
          </a:ln>
        </p:spPr>
      </p:sp>
      <p:sp>
        <p:nvSpPr>
          <p:cNvPr id="48" name="Shape 46">
            <a:extLst xmlns:a="http://schemas.openxmlformats.org/drawingml/2006/main">
              <a:ext uri="{FF2B5EF4-FFF2-40B4-BE49-F238E27FC236}">
                <a16:creationId xmlns:a16="http://schemas.microsoft.com/office/drawing/2014/main" id="{1BBEB4A0-6A13-0554-4CDA-12D1E8B5FF8A}"/>
              </a:ext>
            </a:extLst>
          </p:cNvPr>
          <p:cNvSpPr>
            <a:spLocks xmlns:a="http://schemas.openxmlformats.org/drawingml/2006/main" noGrp="1"/>
          </p:cNvSpPr>
          <p:nvPr/>
        </p:nvSpPr>
        <p:spPr>
          <a:xfrm xmlns:a="http://schemas.openxmlformats.org/drawingml/2006/main" flipV="1">
            <a:off x="8412480" y="3123590"/>
            <a:ext cx="123444" cy="823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49" name="Shape 47">
            <a:extLst xmlns:a="http://schemas.openxmlformats.org/drawingml/2006/main">
              <a:ext uri="{FF2B5EF4-FFF2-40B4-BE49-F238E27FC236}">
                <a16:creationId xmlns:a16="http://schemas.microsoft.com/office/drawing/2014/main" id="{5EE2D68D-3239-907F-7EDF-9684EE9FAB37}"/>
              </a:ext>
            </a:extLst>
          </p:cNvPr>
          <p:cNvSpPr>
            <a:spLocks xmlns:a="http://schemas.openxmlformats.org/drawingml/2006/main" noGrp="1"/>
          </p:cNvSpPr>
          <p:nvPr/>
        </p:nvSpPr>
        <p:spPr>
          <a:xfrm xmlns:a="http://schemas.openxmlformats.org/drawingml/2006/main" flipV="1">
            <a:off x="8535924" y="3082442"/>
            <a:ext cx="123444" cy="4114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0" name="Shape 48">
            <a:extLst xmlns:a="http://schemas.openxmlformats.org/drawingml/2006/main">
              <a:ext uri="{FF2B5EF4-FFF2-40B4-BE49-F238E27FC236}">
                <a16:creationId xmlns:a16="http://schemas.microsoft.com/office/drawing/2014/main" id="{BCC22142-82FA-86A6-3107-FBEABFB5AE23}"/>
              </a:ext>
            </a:extLst>
          </p:cNvPr>
          <p:cNvSpPr>
            <a:spLocks xmlns:a="http://schemas.openxmlformats.org/drawingml/2006/main" noGrp="1"/>
          </p:cNvSpPr>
          <p:nvPr/>
        </p:nvSpPr>
        <p:spPr>
          <a:xfrm xmlns:a="http://schemas.openxmlformats.org/drawingml/2006/main" flipV="1">
            <a:off x="8659368" y="3008376"/>
            <a:ext cx="123444" cy="7406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1" name="Shape 49">
            <a:extLst xmlns:a="http://schemas.openxmlformats.org/drawingml/2006/main">
              <a:ext uri="{FF2B5EF4-FFF2-40B4-BE49-F238E27FC236}">
                <a16:creationId xmlns:a16="http://schemas.microsoft.com/office/drawing/2014/main" id="{D94DB4DD-2D2A-9289-FB9B-986C8C608A87}"/>
              </a:ext>
            </a:extLst>
          </p:cNvPr>
          <p:cNvSpPr>
            <a:spLocks xmlns:a="http://schemas.openxmlformats.org/drawingml/2006/main" noGrp="1"/>
          </p:cNvSpPr>
          <p:nvPr/>
        </p:nvSpPr>
        <p:spPr>
          <a:xfrm xmlns:a="http://schemas.openxmlformats.org/drawingml/2006/main" flipV="1">
            <a:off x="8782812" y="2901391"/>
            <a:ext cx="123444" cy="10698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2" name="Shape 50">
            <a:extLst xmlns:a="http://schemas.openxmlformats.org/drawingml/2006/main">
              <a:ext uri="{FF2B5EF4-FFF2-40B4-BE49-F238E27FC236}">
                <a16:creationId xmlns:a16="http://schemas.microsoft.com/office/drawing/2014/main" id="{5FECF1A0-E3B5-1D19-ECAE-65D39F63FDA4}"/>
              </a:ext>
            </a:extLst>
          </p:cNvPr>
          <p:cNvSpPr>
            <a:spLocks xmlns:a="http://schemas.openxmlformats.org/drawingml/2006/main" noGrp="1"/>
          </p:cNvSpPr>
          <p:nvPr/>
        </p:nvSpPr>
        <p:spPr>
          <a:xfrm xmlns:a="http://schemas.openxmlformats.org/drawingml/2006/main" flipV="1">
            <a:off x="8906256" y="2761488"/>
            <a:ext cx="123444" cy="139903"/>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3" name="Shape 51">
            <a:extLst xmlns:a="http://schemas.openxmlformats.org/drawingml/2006/main">
              <a:ext uri="{FF2B5EF4-FFF2-40B4-BE49-F238E27FC236}">
                <a16:creationId xmlns:a16="http://schemas.microsoft.com/office/drawing/2014/main" id="{B38E4820-5945-071A-9F17-6E2794DB7062}"/>
              </a:ext>
            </a:extLst>
          </p:cNvPr>
          <p:cNvSpPr>
            <a:spLocks xmlns:a="http://schemas.openxmlformats.org/drawingml/2006/main" noGrp="1"/>
          </p:cNvSpPr>
          <p:nvPr/>
        </p:nvSpPr>
        <p:spPr>
          <a:xfrm xmlns:a="http://schemas.openxmlformats.org/drawingml/2006/main" flipV="1">
            <a:off x="9029700" y="2588666"/>
            <a:ext cx="123444" cy="17282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4" name="Shape 52">
            <a:extLst xmlns:a="http://schemas.openxmlformats.org/drawingml/2006/main">
              <a:ext uri="{FF2B5EF4-FFF2-40B4-BE49-F238E27FC236}">
                <a16:creationId xmlns:a16="http://schemas.microsoft.com/office/drawing/2014/main" id="{4E466A2A-FDB6-4D12-46DF-C2C516570257}"/>
              </a:ext>
            </a:extLst>
          </p:cNvPr>
          <p:cNvSpPr>
            <a:spLocks xmlns:a="http://schemas.openxmlformats.org/drawingml/2006/main" noGrp="1"/>
          </p:cNvSpPr>
          <p:nvPr/>
        </p:nvSpPr>
        <p:spPr>
          <a:xfrm xmlns:a="http://schemas.openxmlformats.org/drawingml/2006/main" flipV="1">
            <a:off x="9153144" y="2382926"/>
            <a:ext cx="123444" cy="2057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5" name="Shape 53">
            <a:extLst xmlns:a="http://schemas.openxmlformats.org/drawingml/2006/main">
              <a:ext uri="{FF2B5EF4-FFF2-40B4-BE49-F238E27FC236}">
                <a16:creationId xmlns:a16="http://schemas.microsoft.com/office/drawing/2014/main" id="{72F11D13-0ACF-1DD2-2EDA-2AC5D11B09EB}"/>
              </a:ext>
            </a:extLst>
          </p:cNvPr>
          <p:cNvSpPr>
            <a:spLocks xmlns:a="http://schemas.openxmlformats.org/drawingml/2006/main" noGrp="1"/>
          </p:cNvSpPr>
          <p:nvPr/>
        </p:nvSpPr>
        <p:spPr>
          <a:xfrm xmlns:a="http://schemas.openxmlformats.org/drawingml/2006/main" flipV="1">
            <a:off x="9276588" y="2144268"/>
            <a:ext cx="123444" cy="23865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6" name="Shape 54">
            <a:extLst xmlns:a="http://schemas.openxmlformats.org/drawingml/2006/main">
              <a:ext uri="{FF2B5EF4-FFF2-40B4-BE49-F238E27FC236}">
                <a16:creationId xmlns:a16="http://schemas.microsoft.com/office/drawing/2014/main" id="{90FD61FD-98EC-5D09-37AE-0500C64C45C9}"/>
              </a:ext>
            </a:extLst>
          </p:cNvPr>
          <p:cNvSpPr>
            <a:spLocks xmlns:a="http://schemas.openxmlformats.org/drawingml/2006/main" noGrp="1"/>
          </p:cNvSpPr>
          <p:nvPr/>
        </p:nvSpPr>
        <p:spPr>
          <a:xfrm xmlns:a="http://schemas.openxmlformats.org/drawingml/2006/main" flipV="1">
            <a:off x="9400032" y="1872691"/>
            <a:ext cx="123444" cy="27157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57" name="Shape 55">
            <a:extLst xmlns:a="http://schemas.openxmlformats.org/drawingml/2006/main">
              <a:ext uri="{FF2B5EF4-FFF2-40B4-BE49-F238E27FC236}">
                <a16:creationId xmlns:a16="http://schemas.microsoft.com/office/drawing/2014/main" id="{69F6E808-FFFF-2908-0CF8-D1FFC2945A33}"/>
              </a:ext>
            </a:extLst>
          </p:cNvPr>
          <p:cNvSpPr>
            <a:spLocks xmlns:a="http://schemas.openxmlformats.org/drawingml/2006/main" noGrp="1"/>
          </p:cNvSpPr>
          <p:nvPr/>
        </p:nvSpPr>
        <p:spPr>
          <a:xfrm xmlns:a="http://schemas.openxmlformats.org/drawingml/2006/main" flipV="1">
            <a:off x="9523476" y="1568196"/>
            <a:ext cx="123444" cy="304495"/>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8" name="Shape 66">
            <a:extLst xmlns:a="http://schemas.openxmlformats.org/drawingml/2006/main">
              <a:ext uri="{FF2B5EF4-FFF2-40B4-BE49-F238E27FC236}">
                <a16:creationId xmlns:a16="http://schemas.microsoft.com/office/drawing/2014/main" id="{2824C4BE-5DF8-278A-81D8-D1183625D54C}"/>
              </a:ext>
            </a:extLst>
          </p:cNvPr>
          <p:cNvSpPr>
            <a:spLocks xmlns:a="http://schemas.openxmlformats.org/drawingml/2006/main" noGrp="1"/>
          </p:cNvSpPr>
          <p:nvPr/>
        </p:nvSpPr>
        <p:spPr>
          <a:xfrm xmlns:a="http://schemas.openxmlformats.org/drawingml/2006/main">
            <a:off x="8549640" y="3963924"/>
            <a:ext cx="86868" cy="404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69" name="Shape 67">
            <a:extLst xmlns:a="http://schemas.openxmlformats.org/drawingml/2006/main">
              <a:ext uri="{FF2B5EF4-FFF2-40B4-BE49-F238E27FC236}">
                <a16:creationId xmlns:a16="http://schemas.microsoft.com/office/drawing/2014/main" id="{4CF9D858-A8A3-7FB6-4A9D-D6560CD020E3}"/>
              </a:ext>
            </a:extLst>
          </p:cNvPr>
          <p:cNvSpPr>
            <a:spLocks xmlns:a="http://schemas.openxmlformats.org/drawingml/2006/main" noGrp="1"/>
          </p:cNvSpPr>
          <p:nvPr/>
        </p:nvSpPr>
        <p:spPr>
          <a:xfrm xmlns:a="http://schemas.openxmlformats.org/drawingml/2006/main">
            <a:off x="8636508" y="4004340"/>
            <a:ext cx="86868" cy="749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0" name="Shape 68">
            <a:extLst xmlns:a="http://schemas.openxmlformats.org/drawingml/2006/main">
              <a:ext uri="{FF2B5EF4-FFF2-40B4-BE49-F238E27FC236}">
                <a16:creationId xmlns:a16="http://schemas.microsoft.com/office/drawing/2014/main" id="{5DC76FAB-48B7-3EAE-B095-8276E6E6B9DA}"/>
              </a:ext>
            </a:extLst>
          </p:cNvPr>
          <p:cNvSpPr>
            <a:spLocks xmlns:a="http://schemas.openxmlformats.org/drawingml/2006/main" noGrp="1"/>
          </p:cNvSpPr>
          <p:nvPr/>
        </p:nvSpPr>
        <p:spPr>
          <a:xfrm xmlns:a="http://schemas.openxmlformats.org/drawingml/2006/main" flipV="1">
            <a:off x="8723376" y="3986418"/>
            <a:ext cx="86868" cy="2542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1" name="Shape 69">
            <a:extLst xmlns:a="http://schemas.openxmlformats.org/drawingml/2006/main">
              <a:ext uri="{FF2B5EF4-FFF2-40B4-BE49-F238E27FC236}">
                <a16:creationId xmlns:a16="http://schemas.microsoft.com/office/drawing/2014/main" id="{4038D58C-D23C-2BD8-51FD-D0C4C773DC87}"/>
              </a:ext>
            </a:extLst>
          </p:cNvPr>
          <p:cNvSpPr>
            <a:spLocks xmlns:a="http://schemas.openxmlformats.org/drawingml/2006/main" noGrp="1"/>
          </p:cNvSpPr>
          <p:nvPr/>
        </p:nvSpPr>
        <p:spPr>
          <a:xfrm xmlns:a="http://schemas.openxmlformats.org/drawingml/2006/main" flipV="1">
            <a:off x="8810244" y="3928080"/>
            <a:ext cx="86868" cy="5833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2" name="Shape 70">
            <a:extLst xmlns:a="http://schemas.openxmlformats.org/drawingml/2006/main">
              <a:ext uri="{FF2B5EF4-FFF2-40B4-BE49-F238E27FC236}">
                <a16:creationId xmlns:a16="http://schemas.microsoft.com/office/drawing/2014/main" id="{E28BC78D-CD91-75A5-A774-7DF5E3C3A32A}"/>
              </a:ext>
            </a:extLst>
          </p:cNvPr>
          <p:cNvSpPr>
            <a:spLocks xmlns:a="http://schemas.openxmlformats.org/drawingml/2006/main" noGrp="1"/>
          </p:cNvSpPr>
          <p:nvPr/>
        </p:nvSpPr>
        <p:spPr>
          <a:xfrm xmlns:a="http://schemas.openxmlformats.org/drawingml/2006/main" flipV="1">
            <a:off x="8897112" y="3836822"/>
            <a:ext cx="86868" cy="91257"/>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3" name="Shape 71">
            <a:extLst xmlns:a="http://schemas.openxmlformats.org/drawingml/2006/main">
              <a:ext uri="{FF2B5EF4-FFF2-40B4-BE49-F238E27FC236}">
                <a16:creationId xmlns:a16="http://schemas.microsoft.com/office/drawing/2014/main" id="{BA396522-F4A0-8B2F-05E9-E3AC48E51F3B}"/>
              </a:ext>
            </a:extLst>
          </p:cNvPr>
          <p:cNvSpPr>
            <a:spLocks xmlns:a="http://schemas.openxmlformats.org/drawingml/2006/main" noGrp="1"/>
          </p:cNvSpPr>
          <p:nvPr/>
        </p:nvSpPr>
        <p:spPr>
          <a:xfrm xmlns:a="http://schemas.openxmlformats.org/drawingml/2006/main" flipV="1">
            <a:off x="8983980" y="3712647"/>
            <a:ext cx="86868" cy="1241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4" name="Shape 72">
            <a:extLst xmlns:a="http://schemas.openxmlformats.org/drawingml/2006/main">
              <a:ext uri="{FF2B5EF4-FFF2-40B4-BE49-F238E27FC236}">
                <a16:creationId xmlns:a16="http://schemas.microsoft.com/office/drawing/2014/main" id="{27F6E166-6CFB-E498-E862-CDBFC5AFD78F}"/>
              </a:ext>
            </a:extLst>
          </p:cNvPr>
          <p:cNvSpPr>
            <a:spLocks xmlns:a="http://schemas.openxmlformats.org/drawingml/2006/main" noGrp="1"/>
          </p:cNvSpPr>
          <p:nvPr/>
        </p:nvSpPr>
        <p:spPr>
          <a:xfrm xmlns:a="http://schemas.openxmlformats.org/drawingml/2006/main" flipV="1">
            <a:off x="9070848" y="3555553"/>
            <a:ext cx="86868" cy="15709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5" name="Shape 73">
            <a:extLst xmlns:a="http://schemas.openxmlformats.org/drawingml/2006/main">
              <a:ext uri="{FF2B5EF4-FFF2-40B4-BE49-F238E27FC236}">
                <a16:creationId xmlns:a16="http://schemas.microsoft.com/office/drawing/2014/main" id="{28296FFE-79CB-3CBE-079E-CBFD5B3A94EE}"/>
              </a:ext>
            </a:extLst>
          </p:cNvPr>
          <p:cNvSpPr>
            <a:spLocks xmlns:a="http://schemas.openxmlformats.org/drawingml/2006/main" noGrp="1"/>
          </p:cNvSpPr>
          <p:nvPr/>
        </p:nvSpPr>
        <p:spPr>
          <a:xfrm xmlns:a="http://schemas.openxmlformats.org/drawingml/2006/main" flipV="1">
            <a:off x="9157716" y="3365541"/>
            <a:ext cx="86868" cy="19001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6" name="Shape 74">
            <a:extLst xmlns:a="http://schemas.openxmlformats.org/drawingml/2006/main">
              <a:ext uri="{FF2B5EF4-FFF2-40B4-BE49-F238E27FC236}">
                <a16:creationId xmlns:a16="http://schemas.microsoft.com/office/drawing/2014/main" id="{51699BF9-BACF-D2E2-C8BB-F877A71E020A}"/>
              </a:ext>
            </a:extLst>
          </p:cNvPr>
          <p:cNvSpPr>
            <a:spLocks xmlns:a="http://schemas.openxmlformats.org/drawingml/2006/main" noGrp="1"/>
          </p:cNvSpPr>
          <p:nvPr/>
        </p:nvSpPr>
        <p:spPr>
          <a:xfrm xmlns:a="http://schemas.openxmlformats.org/drawingml/2006/main" flipV="1">
            <a:off x="9244584" y="3142610"/>
            <a:ext cx="86868" cy="222931"/>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7" name="Shape 75">
            <a:extLst xmlns:a="http://schemas.openxmlformats.org/drawingml/2006/main">
              <a:ext uri="{FF2B5EF4-FFF2-40B4-BE49-F238E27FC236}">
                <a16:creationId xmlns:a16="http://schemas.microsoft.com/office/drawing/2014/main" id="{F117090E-FBC8-3ACB-3F99-A972D6611123}"/>
              </a:ext>
            </a:extLst>
          </p:cNvPr>
          <p:cNvSpPr>
            <a:spLocks xmlns:a="http://schemas.openxmlformats.org/drawingml/2006/main" noGrp="1"/>
          </p:cNvSpPr>
          <p:nvPr/>
        </p:nvSpPr>
        <p:spPr>
          <a:xfrm xmlns:a="http://schemas.openxmlformats.org/drawingml/2006/main" flipV="1">
            <a:off x="9331452" y="2886761"/>
            <a:ext cx="86868" cy="255849"/>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8" name="Shape 76">
            <a:extLst xmlns:a="http://schemas.openxmlformats.org/drawingml/2006/main">
              <a:ext uri="{FF2B5EF4-FFF2-40B4-BE49-F238E27FC236}">
                <a16:creationId xmlns:a16="http://schemas.microsoft.com/office/drawing/2014/main" id="{F608F327-1455-77E0-FB4E-3C1B14DA6602}"/>
              </a:ext>
            </a:extLst>
          </p:cNvPr>
          <p:cNvSpPr>
            <a:spLocks xmlns:a="http://schemas.openxmlformats.org/drawingml/2006/main" noGrp="1"/>
          </p:cNvSpPr>
          <p:nvPr/>
        </p:nvSpPr>
        <p:spPr>
          <a:xfrm xmlns:a="http://schemas.openxmlformats.org/drawingml/2006/main" flipV="1">
            <a:off x="7045452" y="3963924"/>
            <a:ext cx="41148" cy="12801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79" name="Shape 77">
            <a:extLst xmlns:a="http://schemas.openxmlformats.org/drawingml/2006/main">
              <a:ext uri="{FF2B5EF4-FFF2-40B4-BE49-F238E27FC236}">
                <a16:creationId xmlns:a16="http://schemas.microsoft.com/office/drawing/2014/main" id="{5F2F9B7F-FD3D-4E1A-959B-E1B441A91B4F}"/>
              </a:ext>
            </a:extLst>
          </p:cNvPr>
          <p:cNvSpPr>
            <a:spLocks xmlns:a="http://schemas.openxmlformats.org/drawingml/2006/main" noGrp="1"/>
          </p:cNvSpPr>
          <p:nvPr/>
        </p:nvSpPr>
        <p:spPr>
          <a:xfrm xmlns:a="http://schemas.openxmlformats.org/drawingml/2006/main" flipV="1">
            <a:off x="7004304" y="4091940"/>
            <a:ext cx="41148" cy="10972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0" name="Shape 78">
            <a:extLst xmlns:a="http://schemas.openxmlformats.org/drawingml/2006/main">
              <a:ext uri="{FF2B5EF4-FFF2-40B4-BE49-F238E27FC236}">
                <a16:creationId xmlns:a16="http://schemas.microsoft.com/office/drawing/2014/main" id="{9E8A7A8F-CDBD-593B-765C-11E6F348DB21}"/>
              </a:ext>
            </a:extLst>
          </p:cNvPr>
          <p:cNvSpPr>
            <a:spLocks xmlns:a="http://schemas.openxmlformats.org/drawingml/2006/main" noGrp="1"/>
          </p:cNvSpPr>
          <p:nvPr/>
        </p:nvSpPr>
        <p:spPr>
          <a:xfrm xmlns:a="http://schemas.openxmlformats.org/drawingml/2006/main" flipV="1">
            <a:off x="6963156" y="4201668"/>
            <a:ext cx="41148" cy="9144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1" name="Shape 79">
            <a:extLst xmlns:a="http://schemas.openxmlformats.org/drawingml/2006/main">
              <a:ext uri="{FF2B5EF4-FFF2-40B4-BE49-F238E27FC236}">
                <a16:creationId xmlns:a16="http://schemas.microsoft.com/office/drawing/2014/main" id="{8B303E9C-DE6A-8C29-7C73-B6E003D685A8}"/>
              </a:ext>
            </a:extLst>
          </p:cNvPr>
          <p:cNvSpPr>
            <a:spLocks xmlns:a="http://schemas.openxmlformats.org/drawingml/2006/main" noGrp="1"/>
          </p:cNvSpPr>
          <p:nvPr/>
        </p:nvSpPr>
        <p:spPr>
          <a:xfrm xmlns:a="http://schemas.openxmlformats.org/drawingml/2006/main" flipV="1">
            <a:off x="6922008" y="4293108"/>
            <a:ext cx="41148" cy="73152"/>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2" name="Shape 80">
            <a:extLst xmlns:a="http://schemas.openxmlformats.org/drawingml/2006/main">
              <a:ext uri="{FF2B5EF4-FFF2-40B4-BE49-F238E27FC236}">
                <a16:creationId xmlns:a16="http://schemas.microsoft.com/office/drawing/2014/main" id="{52F5E8A4-6056-52AE-5AF1-6185AEA8E533}"/>
              </a:ext>
            </a:extLst>
          </p:cNvPr>
          <p:cNvSpPr>
            <a:spLocks xmlns:a="http://schemas.openxmlformats.org/drawingml/2006/main" noGrp="1"/>
          </p:cNvSpPr>
          <p:nvPr/>
        </p:nvSpPr>
        <p:spPr>
          <a:xfrm xmlns:a="http://schemas.openxmlformats.org/drawingml/2006/main" flipV="1">
            <a:off x="6880860" y="4366260"/>
            <a:ext cx="41148" cy="54864"/>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3" name="Shape 81">
            <a:extLst xmlns:a="http://schemas.openxmlformats.org/drawingml/2006/main">
              <a:ext uri="{FF2B5EF4-FFF2-40B4-BE49-F238E27FC236}">
                <a16:creationId xmlns:a16="http://schemas.microsoft.com/office/drawing/2014/main" id="{DF618E37-1AFD-2166-FEE3-6AF4E50BCBDB}"/>
              </a:ext>
            </a:extLst>
          </p:cNvPr>
          <p:cNvSpPr>
            <a:spLocks xmlns:a="http://schemas.openxmlformats.org/drawingml/2006/main" noGrp="1"/>
          </p:cNvSpPr>
          <p:nvPr/>
        </p:nvSpPr>
        <p:spPr>
          <a:xfrm xmlns:a="http://schemas.openxmlformats.org/drawingml/2006/main" flipV="1">
            <a:off x="6839712"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4" name="Shape 82">
            <a:extLst xmlns:a="http://schemas.openxmlformats.org/drawingml/2006/main">
              <a:ext uri="{FF2B5EF4-FFF2-40B4-BE49-F238E27FC236}">
                <a16:creationId xmlns:a16="http://schemas.microsoft.com/office/drawing/2014/main" id="{BF0C2F40-5435-8264-3D32-90587DC19163}"/>
              </a:ext>
            </a:extLst>
          </p:cNvPr>
          <p:cNvSpPr>
            <a:spLocks xmlns:a="http://schemas.openxmlformats.org/drawingml/2006/main" noGrp="1"/>
          </p:cNvSpPr>
          <p:nvPr/>
        </p:nvSpPr>
        <p:spPr>
          <a:xfrm xmlns:a="http://schemas.openxmlformats.org/drawingml/2006/main" flipV="1">
            <a:off x="6798564"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5" name="Shape 83">
            <a:extLst xmlns:a="http://schemas.openxmlformats.org/drawingml/2006/main">
              <a:ext uri="{FF2B5EF4-FFF2-40B4-BE49-F238E27FC236}">
                <a16:creationId xmlns:a16="http://schemas.microsoft.com/office/drawing/2014/main" id="{1174C162-ADA3-1402-F0B1-15930517F9E8}"/>
              </a:ext>
            </a:extLst>
          </p:cNvPr>
          <p:cNvSpPr>
            <a:spLocks xmlns:a="http://schemas.openxmlformats.org/drawingml/2006/main" noGrp="1"/>
          </p:cNvSpPr>
          <p:nvPr/>
        </p:nvSpPr>
        <p:spPr>
          <a:xfrm xmlns:a="http://schemas.openxmlformats.org/drawingml/2006/main" flipV="1">
            <a:off x="6757416" y="4475988"/>
            <a:ext cx="41148" cy="0"/>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6" name="Shape 84">
            <a:extLst xmlns:a="http://schemas.openxmlformats.org/drawingml/2006/main">
              <a:ext uri="{FF2B5EF4-FFF2-40B4-BE49-F238E27FC236}">
                <a16:creationId xmlns:a16="http://schemas.microsoft.com/office/drawing/2014/main" id="{16933040-6259-7406-8605-2F66F0B9450E}"/>
              </a:ext>
            </a:extLst>
          </p:cNvPr>
          <p:cNvSpPr>
            <a:spLocks xmlns:a="http://schemas.openxmlformats.org/drawingml/2006/main" noGrp="1"/>
          </p:cNvSpPr>
          <p:nvPr/>
        </p:nvSpPr>
        <p:spPr>
          <a:xfrm xmlns:a="http://schemas.openxmlformats.org/drawingml/2006/main">
            <a:off x="6716268" y="4457700"/>
            <a:ext cx="41148" cy="18288"/>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7" name="Shape 85">
            <a:extLst xmlns:a="http://schemas.openxmlformats.org/drawingml/2006/main">
              <a:ext uri="{FF2B5EF4-FFF2-40B4-BE49-F238E27FC236}">
                <a16:creationId xmlns:a16="http://schemas.microsoft.com/office/drawing/2014/main" id="{323C1F4E-94CD-CFD2-A30D-8CFC74EAD040}"/>
              </a:ext>
            </a:extLst>
          </p:cNvPr>
          <p:cNvSpPr>
            <a:spLocks xmlns:a="http://schemas.openxmlformats.org/drawingml/2006/main" noGrp="1"/>
          </p:cNvSpPr>
          <p:nvPr/>
        </p:nvSpPr>
        <p:spPr>
          <a:xfrm xmlns:a="http://schemas.openxmlformats.org/drawingml/2006/main">
            <a:off x="6675120" y="4421124"/>
            <a:ext cx="41148" cy="36576"/>
          </a:xfrm>
          <a:prstGeom xmlns:a="http://schemas.openxmlformats.org/drawingml/2006/main" prst="line">
            <a:avLst/>
          </a:prstGeom>
          <a:noFill xmlns:a="http://schemas.openxmlformats.org/drawingml/2006/main"/>
          <a:ln xmlns:a="http://schemas.openxmlformats.org/drawingml/2006/main" w="12700">
            <a:solidFill>
              <a:srgbClr val="C2C2C2"/>
            </a:solidFill>
            <a:prstDash val="solid"/>
          </a:ln>
        </p:spPr>
      </p:sp>
      <p:sp>
        <p:nvSpPr>
          <p:cNvPr id="88" name="Sensor node 1">
            <a:extLst xmlns:a="http://schemas.openxmlformats.org/drawingml/2006/main">
              <a:ext uri="{FF2B5EF4-FFF2-40B4-BE49-F238E27FC236}">
                <a16:creationId xmlns:a16="http://schemas.microsoft.com/office/drawing/2014/main" id="{3DBCFF52-290C-52AC-8F5B-B15A830626F3}"/>
              </a:ext>
            </a:extLst>
          </p:cNvPr>
          <p:cNvSpPr>
            <a:spLocks xmlns:a="http://schemas.openxmlformats.org/drawingml/2006/main" noGrp="1"/>
          </p:cNvSpPr>
          <p:nvPr/>
        </p:nvSpPr>
        <p:spPr>
          <a:xfrm xmlns:a="http://schemas.openxmlformats.org/drawingml/2006/main">
            <a:off x="8947404" y="2679192"/>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sp>
        <p:nvSpPr>
          <p:cNvPr id="89" name="Sensor node 2">
            <a:extLst xmlns:a="http://schemas.openxmlformats.org/drawingml/2006/main">
              <a:ext uri="{FF2B5EF4-FFF2-40B4-BE49-F238E27FC236}">
                <a16:creationId xmlns:a16="http://schemas.microsoft.com/office/drawing/2014/main" id="{EEC2312D-43E6-29A5-E887-79FC7EB6E1EC}"/>
              </a:ext>
            </a:extLst>
          </p:cNvPr>
          <p:cNvSpPr>
            <a:spLocks xmlns:a="http://schemas.openxmlformats.org/drawingml/2006/main" noGrp="1"/>
          </p:cNvSpPr>
          <p:nvPr/>
        </p:nvSpPr>
        <p:spPr>
          <a:xfrm xmlns:a="http://schemas.openxmlformats.org/drawingml/2006/main">
            <a:off x="8901684" y="3754526"/>
            <a:ext cx="164592" cy="164592"/>
          </a:xfrm>
          <a:prstGeom xmlns:a="http://schemas.openxmlformats.org/drawingml/2006/main" prst="ellipse">
            <a:avLst/>
          </a:prstGeom>
          <a:solidFill xmlns:a="http://schemas.openxmlformats.org/drawingml/2006/main">
            <a:srgbClr val="D46A12"/>
          </a:solidFill>
          <a:ln xmlns:a="http://schemas.openxmlformats.org/drawingml/2006/main" w="19050">
            <a:solidFill>
              <a:srgbClr val="E6E6E6"/>
            </a:solidFill>
            <a:prstDash val="solid"/>
          </a:ln>
        </p:spPr>
      </p:sp>
      <p:pic>
        <p:nvPicPr>
          <p:cNvPr id="3" name="Picture 2">
            <a:extLst xmlns:a="http://schemas.openxmlformats.org/drawingml/2006/main">
              <a:ext uri="{FF2B5EF4-FFF2-40B4-BE49-F238E27FC236}">
                <a16:creationId xmlns:a16="http://schemas.microsoft.com/office/drawing/2014/main" id="{C6040746-340A-460B-8142-4B6F09C5889D}"/>
              </a:ext>
            </a:extLst>
          </p:cNvPr>
          <p:cNvPicPr>
            <a:picLocks xmlns:a="http://schemas.openxmlformats.org/drawingml/2006/main" noChangeAspect="1"/>
          </p:cNvPicPr>
          <p:nvPr/>
        </p:nvPicPr>
        <p:blipFill>
          <a:blip xmlns:r="http://schemas.openxmlformats.org/officeDocument/2006/relationships" xmlns:a="http://schemas.openxmlformats.org/drawingml/2006/main" r:embed="Re9f98c5b445e4229"/>
          <a:stretch xmlns:a="http://schemas.openxmlformats.org/drawingml/2006/main">
            <a:fillRect l="0" t="0" r="0" b="0"/>
          </a:stretch>
        </p:blipFill>
        <p:spPr>
          <a:xfrm xmlns:a="http://schemas.openxmlformats.org/drawingml/2006/main">
            <a:off x="104020" y="6110934"/>
            <a:ext cx="10962085" cy="615585"/>
          </a:xfrm>
          <a:prstGeom xmlns:a="http://schemas.openxmlformats.org/drawingml/2006/main" prst="rect">
            <a:avLst/>
          </a:prstGeom>
        </p:spPr>
      </p:pic>
      <p:sp>
        <p:nvSpPr>
          <p:cNvPr id="90" name="Title">
            <a:extLst xmlns:a="http://schemas.openxmlformats.org/drawingml/2006/main">
              <a:ext uri="{FF2B5EF4-FFF2-40B4-BE49-F238E27FC236}">
                <a16:creationId xmlns:a16="http://schemas.microsoft.com/office/drawing/2014/main" id="{01960F89-7312-4466-AE89-22CF22B66593}"/>
              </a:ext>
            </a:extLst>
          </p:cNvPr>
          <p:cNvSpPr>
            <a:spLocks xmlns:a="http://schemas.openxmlformats.org/drawingml/2006/main" noGrp="1"/>
          </p:cNvSpPr>
          <p:nvPr/>
        </p:nvSpPr>
        <p:spPr>
          <a:xfrm xmlns:a="http://schemas.openxmlformats.org/drawingml/2006/main">
            <a:off x="1051560" y="429768"/>
            <a:ext cx="103327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2800" b="1">
                <a:solidFill>
                  <a:srgbClr val="1E1E1E"/>
                </a:solidFill>
                <a:latin typeface="Arial"/>
                <a:ea typeface="Arial"/>
                <a:cs typeface="Arial"/>
              </a:rPr>
              <a:t>Field validation and the open-source release</a:t>
            </a:r>
          </a:p>
        </p:txBody>
      </p:sp>
      <p:sp>
        <p:nvSpPr>
          <p:cNvPr id="91" name="Subtitle">
            <a:extLst xmlns:a="http://schemas.openxmlformats.org/drawingml/2006/main">
              <a:ext uri="{FF2B5EF4-FFF2-40B4-BE49-F238E27FC236}">
                <a16:creationId xmlns:a16="http://schemas.microsoft.com/office/drawing/2014/main" id="{8DFCCBD5-91EF-48E0-86F2-361F56C25924}"/>
              </a:ext>
            </a:extLst>
          </p:cNvPr>
          <p:cNvSpPr>
            <a:spLocks xmlns:a="http://schemas.openxmlformats.org/drawingml/2006/main" noGrp="1"/>
          </p:cNvSpPr>
          <p:nvPr/>
        </p:nvSpPr>
        <p:spPr>
          <a:xfrm xmlns:a="http://schemas.openxmlformats.org/drawingml/2006/main">
            <a:off x="548640" y="1024128"/>
            <a:ext cx="1106424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400" b="0">
                <a:solidFill>
                  <a:srgbClr val="555555"/>
                </a:solidFill>
                <a:latin typeface="Arial"/>
                <a:ea typeface="Arial"/>
                <a:cs typeface="Arial"/>
              </a:rPr>
              <a:t>The current release is reproducible for local inference. Real asset evidence is the next validation step.</a:t>
            </a:r>
          </a:p>
        </p:txBody>
      </p:sp>
      <p:sp>
        <p:nvSpPr>
          <p:cNvPr id="92" name="Connector 91">
            <a:extLst xmlns:a="http://schemas.openxmlformats.org/drawingml/2006/main">
              <a:ext uri="{FF2B5EF4-FFF2-40B4-BE49-F238E27FC236}">
                <a16:creationId xmlns:a16="http://schemas.microsoft.com/office/drawing/2014/main" id="{8630E36C-446A-4151-A19C-6C090A40A0EF}"/>
              </a:ext>
            </a:extLst>
          </p:cNvPr>
          <p:cNvSpPr>
            <a:spLocks xmlns:a="http://schemas.openxmlformats.org/drawingml/2006/main" noGrp="1"/>
          </p:cNvSpPr>
          <p:nvPr/>
        </p:nvSpPr>
        <p:spPr>
          <a:xfrm xmlns:a="http://schemas.openxmlformats.org/drawingml/2006/main">
            <a:off x="548640" y="6117336"/>
            <a:ext cx="11155680" cy="0"/>
          </a:xfrm>
          <a:prstGeom xmlns:a="http://schemas.openxmlformats.org/drawingml/2006/main" prst="line">
            <a:avLst/>
          </a:prstGeom>
          <a:ln xmlns:a="http://schemas.openxmlformats.org/drawingml/2006/main" w="9525">
            <a:solidFill>
              <a:srgbClr val="BDBD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3" name="Footer">
            <a:extLst xmlns:a="http://schemas.openxmlformats.org/drawingml/2006/main">
              <a:ext uri="{FF2B5EF4-FFF2-40B4-BE49-F238E27FC236}">
                <a16:creationId xmlns:a16="http://schemas.microsoft.com/office/drawing/2014/main" id="{2A52D3B1-B374-4E12-822C-237E91A1F58B}"/>
              </a:ext>
            </a:extLst>
          </p:cNvPr>
          <p:cNvSpPr>
            <a:spLocks xmlns:a="http://schemas.openxmlformats.org/drawingml/2006/main" noGrp="1"/>
          </p:cNvSpPr>
          <p:nvPr/>
        </p:nvSpPr>
        <p:spPr>
          <a:xfrm xmlns:a="http://schemas.openxmlformats.org/drawingml/2006/main">
            <a:off x="548640" y="6291072"/>
            <a:ext cx="868680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1">
                <a:solidFill>
                  <a:srgbClr val="555555"/>
                </a:solidFill>
                <a:latin typeface="Arial"/>
                <a:ea typeface="Arial"/>
                <a:cs typeface="Arial"/>
              </a:rPr>
              <a:t>VOLTMIND   DISTRIBUTION TRANSFORMER DIGITAL TWIN   SYNTHETIC RESEARCH PROTOTYPE</a:t>
            </a:r>
          </a:p>
        </p:txBody>
      </p:sp>
      <p:sp>
        <p:nvSpPr>
          <p:cNvPr id="94" name="Page">
            <a:extLst xmlns:a="http://schemas.openxmlformats.org/drawingml/2006/main">
              <a:ext uri="{FF2B5EF4-FFF2-40B4-BE49-F238E27FC236}">
                <a16:creationId xmlns:a16="http://schemas.microsoft.com/office/drawing/2014/main" id="{A452476C-0C72-4AC2-A852-A9F1E7228174}"/>
              </a:ext>
            </a:extLst>
          </p:cNvPr>
          <p:cNvSpPr>
            <a:spLocks xmlns:a="http://schemas.openxmlformats.org/drawingml/2006/main" noGrp="1"/>
          </p:cNvSpPr>
          <p:nvPr/>
        </p:nvSpPr>
        <p:spPr>
          <a:xfrm xmlns:a="http://schemas.openxmlformats.org/drawingml/2006/main">
            <a:off x="10332720" y="62910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000" b="1">
                <a:solidFill>
                  <a:srgbClr val="D46A12"/>
                </a:solidFill>
                <a:latin typeface="Arial"/>
                <a:ea typeface="Arial"/>
                <a:cs typeface="Arial"/>
              </a:rPr>
              <a:t>10 / 10</a:t>
            </a:r>
          </a:p>
        </p:txBody>
      </p:sp>
      <p:sp>
        <p:nvSpPr>
          <p:cNvPr id="95" name="Rectangle 94">
            <a:extLst xmlns:a="http://schemas.openxmlformats.org/drawingml/2006/main">
              <a:ext uri="{FF2B5EF4-FFF2-40B4-BE49-F238E27FC236}">
                <a16:creationId xmlns:a16="http://schemas.microsoft.com/office/drawing/2014/main" id="{06C03BE6-C763-4945-80BF-CC11ED95F3BB}"/>
              </a:ext>
            </a:extLst>
          </p:cNvPr>
          <p:cNvSpPr>
            <a:spLocks xmlns:a="http://schemas.openxmlformats.org/drawingml/2006/main" noGrp="1"/>
          </p:cNvSpPr>
          <p:nvPr/>
        </p:nvSpPr>
        <p:spPr>
          <a:xfrm xmlns:a="http://schemas.openxmlformats.org/drawingml/2006/main">
            <a:off x="548640" y="1508760"/>
            <a:ext cx="2606040" cy="24231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TextBox 95">
            <a:extLst xmlns:a="http://schemas.openxmlformats.org/drawingml/2006/main">
              <a:ext uri="{FF2B5EF4-FFF2-40B4-BE49-F238E27FC236}">
                <a16:creationId xmlns:a16="http://schemas.microsoft.com/office/drawing/2014/main" id="{2825F701-BF97-4609-96C0-801A37D61460}"/>
              </a:ext>
            </a:extLst>
          </p:cNvPr>
          <p:cNvSpPr>
            <a:spLocks xmlns:a="http://schemas.openxmlformats.org/drawingml/2006/main" noGrp="1"/>
          </p:cNvSpPr>
          <p:nvPr/>
        </p:nvSpPr>
        <p:spPr>
          <a:xfrm xmlns:a="http://schemas.openxmlformats.org/drawingml/2006/main">
            <a:off x="713232" y="1627632"/>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TODAY</a:t>
            </a:r>
          </a:p>
        </p:txBody>
      </p:sp>
      <p:sp>
        <p:nvSpPr>
          <p:cNvPr id="97" name="TextBox 96">
            <a:extLst xmlns:a="http://schemas.openxmlformats.org/drawingml/2006/main">
              <a:ext uri="{FF2B5EF4-FFF2-40B4-BE49-F238E27FC236}">
                <a16:creationId xmlns:a16="http://schemas.microsoft.com/office/drawing/2014/main" id="{7F79237A-EABB-44DC-925D-5BB7508DE5C4}"/>
              </a:ext>
            </a:extLst>
          </p:cNvPr>
          <p:cNvSpPr>
            <a:spLocks xmlns:a="http://schemas.openxmlformats.org/drawingml/2006/main" noGrp="1"/>
          </p:cNvSpPr>
          <p:nvPr/>
        </p:nvSpPr>
        <p:spPr>
          <a:xfrm xmlns:a="http://schemas.openxmlformats.org/drawingml/2006/main">
            <a:off x="713232" y="1920240"/>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500" b="1">
                <a:solidFill>
                  <a:srgbClr val="1E1E1E"/>
                </a:solidFill>
                <a:latin typeface="Arial"/>
                <a:ea typeface="Arial"/>
                <a:cs typeface="Arial"/>
              </a:rPr>
              <a:t>Working prototype</a:t>
            </a:r>
          </a:p>
        </p:txBody>
      </p:sp>
      <p:sp>
        <p:nvSpPr>
          <p:cNvPr id="98" name="TextBox 97">
            <a:extLst xmlns:a="http://schemas.openxmlformats.org/drawingml/2006/main">
              <a:ext uri="{FF2B5EF4-FFF2-40B4-BE49-F238E27FC236}">
                <a16:creationId xmlns:a16="http://schemas.microsoft.com/office/drawing/2014/main" id="{174C4122-A5BF-4926-8F74-ECCAAC9AA823}"/>
              </a:ext>
            </a:extLst>
          </p:cNvPr>
          <p:cNvSpPr>
            <a:spLocks xmlns:a="http://schemas.openxmlformats.org/drawingml/2006/main" noGrp="1"/>
          </p:cNvSpPr>
          <p:nvPr/>
        </p:nvSpPr>
        <p:spPr>
          <a:xfrm xmlns:a="http://schemas.openxmlformats.org/drawingml/2006/main">
            <a:off x="713232" y="2395728"/>
            <a:ext cx="22860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250" b="0">
                <a:solidFill>
                  <a:srgbClr val="1E1E1E"/>
                </a:solidFill>
                <a:latin typeface="Arial"/>
                <a:ea typeface="Arial"/>
                <a:cs typeface="Arial"/>
              </a:rPr>
              <a:t>Local synthetic replay / upload</a:t>
            </a:r>
          </a:p>
          <a:p xmlns:a="http://schemas.openxmlformats.org/drawingml/2006/main">
            <a:pPr algn="l">
              <a:spcBef>
                <a:spcPts val="600"/>
              </a:spcBef>
              <a:buNone/>
            </a:pPr>
            <a:r>
              <a:rPr sz="1250" b="0">
                <a:solidFill>
                  <a:srgbClr val="1E1E1E"/>
                </a:solidFill>
                <a:latin typeface="Arial"/>
                <a:ea typeface="Arial"/>
                <a:cs typeface="Arial"/>
              </a:rPr>
              <a:t>Three rating-specific runtimes</a:t>
            </a:r>
          </a:p>
          <a:p xmlns:a="http://schemas.openxmlformats.org/drawingml/2006/main">
            <a:pPr algn="l">
              <a:spcBef>
                <a:spcPts val="600"/>
              </a:spcBef>
              <a:buNone/>
            </a:pPr>
            <a:r>
              <a:rPr sz="1250" b="0">
                <a:solidFill>
                  <a:srgbClr val="1E1E1E"/>
                </a:solidFill>
                <a:latin typeface="Arial"/>
                <a:ea typeface="Arial"/>
                <a:cs typeface="Arial"/>
              </a:rPr>
              <a:t>Five 100-kVA investigation tools</a:t>
            </a:r>
          </a:p>
        </p:txBody>
      </p:sp>
      <p:sp>
        <p:nvSpPr>
          <p:cNvPr id="99" name="Connector 98">
            <a:extLst xmlns:a="http://schemas.openxmlformats.org/drawingml/2006/main">
              <a:ext uri="{FF2B5EF4-FFF2-40B4-BE49-F238E27FC236}">
                <a16:creationId xmlns:a16="http://schemas.microsoft.com/office/drawing/2014/main" id="{90EC997E-549E-41AE-BE9F-B3CB0FF6B9C7}"/>
              </a:ext>
            </a:extLst>
          </p:cNvPr>
          <p:cNvSpPr>
            <a:spLocks xmlns:a="http://schemas.openxmlformats.org/drawingml/2006/main" noGrp="1"/>
          </p:cNvSpPr>
          <p:nvPr/>
        </p:nvSpPr>
        <p:spPr>
          <a:xfrm xmlns:a="http://schemas.openxmlformats.org/drawingml/2006/main">
            <a:off x="3163824" y="2743200"/>
            <a:ext cx="225856" cy="0"/>
          </a:xfrm>
          <a:prstGeom xmlns:a="http://schemas.openxmlformats.org/drawingml/2006/main" prst="line">
            <a:avLst/>
          </a:prstGeom>
          <a:ln xmlns:a="http://schemas.openxmlformats.org/drawingml/2006/main" w="19050">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0" name="Rectangle 99">
            <a:extLst xmlns:a="http://schemas.openxmlformats.org/drawingml/2006/main">
              <a:ext uri="{FF2B5EF4-FFF2-40B4-BE49-F238E27FC236}">
                <a16:creationId xmlns:a16="http://schemas.microsoft.com/office/drawing/2014/main" id="{B04BA6E4-3CB8-41D6-A707-FE81382D11E8}"/>
              </a:ext>
            </a:extLst>
          </p:cNvPr>
          <p:cNvSpPr>
            <a:spLocks xmlns:a="http://schemas.openxmlformats.org/drawingml/2006/main" noGrp="1"/>
          </p:cNvSpPr>
          <p:nvPr/>
        </p:nvSpPr>
        <p:spPr>
          <a:xfrm xmlns:a="http://schemas.openxmlformats.org/drawingml/2006/main">
            <a:off x="3398824" y="1508760"/>
            <a:ext cx="2606040" cy="242316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TextBox 100">
            <a:extLst xmlns:a="http://schemas.openxmlformats.org/drawingml/2006/main">
              <a:ext uri="{FF2B5EF4-FFF2-40B4-BE49-F238E27FC236}">
                <a16:creationId xmlns:a16="http://schemas.microsoft.com/office/drawing/2014/main" id="{E6287722-4877-41B9-8677-79BE730E5ACB}"/>
              </a:ext>
            </a:extLst>
          </p:cNvPr>
          <p:cNvSpPr>
            <a:spLocks xmlns:a="http://schemas.openxmlformats.org/drawingml/2006/main" noGrp="1"/>
          </p:cNvSpPr>
          <p:nvPr/>
        </p:nvSpPr>
        <p:spPr>
          <a:xfrm xmlns:a="http://schemas.openxmlformats.org/drawingml/2006/main">
            <a:off x="3563416" y="1627632"/>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NEXT</a:t>
            </a:r>
          </a:p>
        </p:txBody>
      </p:sp>
      <p:sp>
        <p:nvSpPr>
          <p:cNvPr id="102" name="TextBox 101">
            <a:extLst xmlns:a="http://schemas.openxmlformats.org/drawingml/2006/main">
              <a:ext uri="{FF2B5EF4-FFF2-40B4-BE49-F238E27FC236}">
                <a16:creationId xmlns:a16="http://schemas.microsoft.com/office/drawing/2014/main" id="{C6F663C9-44C8-418F-9F18-2541128F8AFD}"/>
              </a:ext>
            </a:extLst>
          </p:cNvPr>
          <p:cNvSpPr>
            <a:spLocks xmlns:a="http://schemas.openxmlformats.org/drawingml/2006/main" noGrp="1"/>
          </p:cNvSpPr>
          <p:nvPr/>
        </p:nvSpPr>
        <p:spPr>
          <a:xfrm xmlns:a="http://schemas.openxmlformats.org/drawingml/2006/main">
            <a:off x="3563416" y="1920240"/>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500" b="1">
                <a:solidFill>
                  <a:srgbClr val="1E1E1E"/>
                </a:solidFill>
                <a:latin typeface="Arial"/>
                <a:ea typeface="Arial"/>
                <a:cs typeface="Arial"/>
              </a:rPr>
              <a:t>Prove it on real assets</a:t>
            </a:r>
          </a:p>
        </p:txBody>
      </p:sp>
      <p:sp>
        <p:nvSpPr>
          <p:cNvPr id="103" name="TextBox 102">
            <a:extLst xmlns:a="http://schemas.openxmlformats.org/drawingml/2006/main">
              <a:ext uri="{FF2B5EF4-FFF2-40B4-BE49-F238E27FC236}">
                <a16:creationId xmlns:a16="http://schemas.microsoft.com/office/drawing/2014/main" id="{7C610D6E-ED39-4AE1-9946-4D2E9B304C67}"/>
              </a:ext>
            </a:extLst>
          </p:cNvPr>
          <p:cNvSpPr>
            <a:spLocks xmlns:a="http://schemas.openxmlformats.org/drawingml/2006/main" noGrp="1"/>
          </p:cNvSpPr>
          <p:nvPr/>
        </p:nvSpPr>
        <p:spPr>
          <a:xfrm xmlns:a="http://schemas.openxmlformats.org/drawingml/2006/main">
            <a:off x="3563416" y="2395728"/>
            <a:ext cx="2286000" cy="11049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250" b="0">
                <a:solidFill>
                  <a:srgbClr val="1E1E1E"/>
                </a:solidFill>
                <a:latin typeface="Arial"/>
                <a:ea typeface="Arial"/>
                <a:cs typeface="Arial"/>
              </a:rPr>
              <a:t>Check real sensor units / cadence</a:t>
            </a:r>
          </a:p>
          <a:p xmlns:a="http://schemas.openxmlformats.org/drawingml/2006/main">
            <a:pPr algn="l">
              <a:spcBef>
                <a:spcPts val="600"/>
              </a:spcBef>
              <a:buNone/>
            </a:pPr>
            <a:r>
              <a:rPr sz="1250" b="0">
                <a:solidFill>
                  <a:srgbClr val="1E1E1E"/>
                </a:solidFill>
                <a:latin typeface="Arial"/>
                <a:ea typeface="Arial"/>
                <a:cs typeface="Arial"/>
              </a:rPr>
              <a:t>Independent asset commissioning</a:t>
            </a:r>
          </a:p>
          <a:p xmlns:a="http://schemas.openxmlformats.org/drawingml/2006/main">
            <a:pPr algn="l">
              <a:spcBef>
                <a:spcPts val="600"/>
              </a:spcBef>
              <a:buNone/>
            </a:pPr>
            <a:r>
              <a:rPr sz="1250" b="0">
                <a:solidFill>
                  <a:srgbClr val="1E1E1E"/>
                </a:solidFill>
                <a:latin typeface="Arial"/>
                <a:ea typeface="Arial"/>
                <a:cs typeface="Arial"/>
              </a:rPr>
              <a:t>Test unseen measured histories</a:t>
            </a:r>
          </a:p>
        </p:txBody>
      </p:sp>
      <p:sp>
        <p:nvSpPr>
          <p:cNvPr id="104" name="Connector 103">
            <a:extLst xmlns:a="http://schemas.openxmlformats.org/drawingml/2006/main">
              <a:ext uri="{FF2B5EF4-FFF2-40B4-BE49-F238E27FC236}">
                <a16:creationId xmlns:a16="http://schemas.microsoft.com/office/drawing/2014/main" id="{4DF8BE65-466E-4AE6-B5C9-F6E1AD1062EE}"/>
              </a:ext>
            </a:extLst>
          </p:cNvPr>
          <p:cNvSpPr>
            <a:spLocks xmlns:a="http://schemas.openxmlformats.org/drawingml/2006/main" noGrp="1"/>
          </p:cNvSpPr>
          <p:nvPr/>
        </p:nvSpPr>
        <p:spPr>
          <a:xfrm xmlns:a="http://schemas.openxmlformats.org/drawingml/2006/main">
            <a:off x="6014008" y="2743200"/>
            <a:ext cx="225857" cy="0"/>
          </a:xfrm>
          <a:prstGeom xmlns:a="http://schemas.openxmlformats.org/drawingml/2006/main" prst="line">
            <a:avLst/>
          </a:prstGeom>
          <a:ln xmlns:a="http://schemas.openxmlformats.org/drawingml/2006/main" w="19050">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5" name="Rectangle 104">
            <a:extLst xmlns:a="http://schemas.openxmlformats.org/drawingml/2006/main">
              <a:ext uri="{FF2B5EF4-FFF2-40B4-BE49-F238E27FC236}">
                <a16:creationId xmlns:a16="http://schemas.microsoft.com/office/drawing/2014/main" id="{DEF98C20-DC65-4D04-AD4D-D52D80F485B8}"/>
              </a:ext>
            </a:extLst>
          </p:cNvPr>
          <p:cNvSpPr>
            <a:spLocks xmlns:a="http://schemas.openxmlformats.org/drawingml/2006/main" noGrp="1"/>
          </p:cNvSpPr>
          <p:nvPr/>
        </p:nvSpPr>
        <p:spPr>
          <a:xfrm xmlns:a="http://schemas.openxmlformats.org/drawingml/2006/main">
            <a:off x="6249009" y="1508760"/>
            <a:ext cx="2606040" cy="24231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TextBox 105">
            <a:extLst xmlns:a="http://schemas.openxmlformats.org/drawingml/2006/main">
              <a:ext uri="{FF2B5EF4-FFF2-40B4-BE49-F238E27FC236}">
                <a16:creationId xmlns:a16="http://schemas.microsoft.com/office/drawing/2014/main" id="{ECEA60E2-8700-4C3B-8B23-08A89AF8BE2C}"/>
              </a:ext>
            </a:extLst>
          </p:cNvPr>
          <p:cNvSpPr>
            <a:spLocks xmlns:a="http://schemas.openxmlformats.org/drawingml/2006/main" noGrp="1"/>
          </p:cNvSpPr>
          <p:nvPr/>
        </p:nvSpPr>
        <p:spPr>
          <a:xfrm xmlns:a="http://schemas.openxmlformats.org/drawingml/2006/main">
            <a:off x="6413601" y="1627632"/>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THEN</a:t>
            </a:r>
          </a:p>
        </p:txBody>
      </p:sp>
      <p:sp>
        <p:nvSpPr>
          <p:cNvPr id="107" name="TextBox 106">
            <a:extLst xmlns:a="http://schemas.openxmlformats.org/drawingml/2006/main">
              <a:ext uri="{FF2B5EF4-FFF2-40B4-BE49-F238E27FC236}">
                <a16:creationId xmlns:a16="http://schemas.microsoft.com/office/drawing/2014/main" id="{063A55D2-C2B1-4395-A368-F53E59B4EEA6}"/>
              </a:ext>
            </a:extLst>
          </p:cNvPr>
          <p:cNvSpPr>
            <a:spLocks xmlns:a="http://schemas.openxmlformats.org/drawingml/2006/main" noGrp="1"/>
          </p:cNvSpPr>
          <p:nvPr/>
        </p:nvSpPr>
        <p:spPr>
          <a:xfrm xmlns:a="http://schemas.openxmlformats.org/drawingml/2006/main">
            <a:off x="6413601" y="1920240"/>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500" b="1">
                <a:solidFill>
                  <a:srgbClr val="1E1E1E"/>
                </a:solidFill>
                <a:latin typeface="Arial"/>
                <a:ea typeface="Arial"/>
                <a:cs typeface="Arial"/>
              </a:rPr>
              <a:t>Broaden</a:t>
            </a:r>
          </a:p>
        </p:txBody>
      </p:sp>
      <p:sp>
        <p:nvSpPr>
          <p:cNvPr id="108" name="TextBox 107">
            <a:extLst xmlns:a="http://schemas.openxmlformats.org/drawingml/2006/main">
              <a:ext uri="{FF2B5EF4-FFF2-40B4-BE49-F238E27FC236}">
                <a16:creationId xmlns:a16="http://schemas.microsoft.com/office/drawing/2014/main" id="{7A20B7F9-FCF4-477A-A45B-DAE5F66D8DA6}"/>
              </a:ext>
            </a:extLst>
          </p:cNvPr>
          <p:cNvSpPr>
            <a:spLocks xmlns:a="http://schemas.openxmlformats.org/drawingml/2006/main" noGrp="1"/>
          </p:cNvSpPr>
          <p:nvPr/>
        </p:nvSpPr>
        <p:spPr>
          <a:xfrm xmlns:a="http://schemas.openxmlformats.org/drawingml/2006/main">
            <a:off x="6413601" y="2395728"/>
            <a:ext cx="2286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250" b="0">
                <a:solidFill>
                  <a:srgbClr val="1E1E1E"/>
                </a:solidFill>
                <a:latin typeface="Arial"/>
                <a:ea typeface="Arial"/>
                <a:cs typeface="Arial"/>
              </a:rPr>
              <a:t>Reduce false alerts / abstentions</a:t>
            </a:r>
          </a:p>
          <a:p xmlns:a="http://schemas.openxmlformats.org/drawingml/2006/main">
            <a:pPr algn="l">
              <a:spcBef>
                <a:spcPts val="600"/>
              </a:spcBef>
              <a:buNone/>
            </a:pPr>
            <a:r>
              <a:rPr sz="1250" b="0">
                <a:solidFill>
                  <a:srgbClr val="1E1E1E"/>
                </a:solidFill>
                <a:latin typeface="Arial"/>
                <a:ea typeface="Arial"/>
                <a:cs typeface="Arial"/>
              </a:rPr>
              <a:t>Investigations for 250 / 630 kVA</a:t>
            </a:r>
          </a:p>
          <a:p xmlns:a="http://schemas.openxmlformats.org/drawingml/2006/main">
            <a:pPr algn="l">
              <a:spcBef>
                <a:spcPts val="600"/>
              </a:spcBef>
              <a:buNone/>
            </a:pPr>
            <a:r>
              <a:rPr sz="1250" b="0">
                <a:solidFill>
                  <a:srgbClr val="1E1E1E"/>
                </a:solidFill>
                <a:latin typeface="Arial"/>
                <a:ea typeface="Arial"/>
                <a:cs typeface="Arial"/>
              </a:rPr>
              <a:t>Sensor-gateway integration</a:t>
            </a:r>
          </a:p>
        </p:txBody>
      </p:sp>
      <p:sp>
        <p:nvSpPr>
          <p:cNvPr id="109" name="Connector 108">
            <a:extLst xmlns:a="http://schemas.openxmlformats.org/drawingml/2006/main">
              <a:ext uri="{FF2B5EF4-FFF2-40B4-BE49-F238E27FC236}">
                <a16:creationId xmlns:a16="http://schemas.microsoft.com/office/drawing/2014/main" id="{4ADA6A04-0C17-468E-A6BC-AB46D115277E}"/>
              </a:ext>
            </a:extLst>
          </p:cNvPr>
          <p:cNvSpPr>
            <a:spLocks xmlns:a="http://schemas.openxmlformats.org/drawingml/2006/main" noGrp="1"/>
          </p:cNvSpPr>
          <p:nvPr/>
        </p:nvSpPr>
        <p:spPr>
          <a:xfrm xmlns:a="http://schemas.openxmlformats.org/drawingml/2006/main">
            <a:off x="8864193" y="2743200"/>
            <a:ext cx="225857" cy="0"/>
          </a:xfrm>
          <a:prstGeom xmlns:a="http://schemas.openxmlformats.org/drawingml/2006/main" prst="line">
            <a:avLst/>
          </a:prstGeom>
          <a:ln xmlns:a="http://schemas.openxmlformats.org/drawingml/2006/main" w="19050">
            <a:solidFill>
              <a:srgbClr val="D46A12"/>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0" name="Rectangle 109">
            <a:extLst xmlns:a="http://schemas.openxmlformats.org/drawingml/2006/main">
              <a:ext uri="{FF2B5EF4-FFF2-40B4-BE49-F238E27FC236}">
                <a16:creationId xmlns:a16="http://schemas.microsoft.com/office/drawing/2014/main" id="{71C849D6-F3F7-4196-891D-5B3F9364E17B}"/>
              </a:ext>
            </a:extLst>
          </p:cNvPr>
          <p:cNvSpPr>
            <a:spLocks xmlns:a="http://schemas.openxmlformats.org/drawingml/2006/main" noGrp="1"/>
          </p:cNvSpPr>
          <p:nvPr/>
        </p:nvSpPr>
        <p:spPr>
          <a:xfrm xmlns:a="http://schemas.openxmlformats.org/drawingml/2006/main">
            <a:off x="9099194" y="1508760"/>
            <a:ext cx="2606040" cy="242316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TextBox 110">
            <a:extLst xmlns:a="http://schemas.openxmlformats.org/drawingml/2006/main">
              <a:ext uri="{FF2B5EF4-FFF2-40B4-BE49-F238E27FC236}">
                <a16:creationId xmlns:a16="http://schemas.microsoft.com/office/drawing/2014/main" id="{11943F38-7E5B-4AED-9073-6FED2E550B3C}"/>
              </a:ext>
            </a:extLst>
          </p:cNvPr>
          <p:cNvSpPr>
            <a:spLocks xmlns:a="http://schemas.openxmlformats.org/drawingml/2006/main" noGrp="1"/>
          </p:cNvSpPr>
          <p:nvPr/>
        </p:nvSpPr>
        <p:spPr>
          <a:xfrm xmlns:a="http://schemas.openxmlformats.org/drawingml/2006/main">
            <a:off x="9263786" y="1627632"/>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LATER</a:t>
            </a:r>
          </a:p>
        </p:txBody>
      </p:sp>
      <p:sp>
        <p:nvSpPr>
          <p:cNvPr id="112" name="TextBox 111">
            <a:extLst xmlns:a="http://schemas.openxmlformats.org/drawingml/2006/main">
              <a:ext uri="{FF2B5EF4-FFF2-40B4-BE49-F238E27FC236}">
                <a16:creationId xmlns:a16="http://schemas.microsoft.com/office/drawing/2014/main" id="{CA0A6CB2-430B-48E8-9FB7-338FC76CB02D}"/>
              </a:ext>
            </a:extLst>
          </p:cNvPr>
          <p:cNvSpPr>
            <a:spLocks xmlns:a="http://schemas.openxmlformats.org/drawingml/2006/main" noGrp="1"/>
          </p:cNvSpPr>
          <p:nvPr/>
        </p:nvSpPr>
        <p:spPr>
          <a:xfrm xmlns:a="http://schemas.openxmlformats.org/drawingml/2006/main">
            <a:off x="9263786" y="1920240"/>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500" b="1">
                <a:solidFill>
                  <a:srgbClr val="1E1E1E"/>
                </a:solidFill>
                <a:latin typeface="Arial"/>
                <a:ea typeface="Arial"/>
                <a:cs typeface="Arial"/>
              </a:rPr>
              <a:t>Plan ahead</a:t>
            </a:r>
          </a:p>
        </p:txBody>
      </p:sp>
      <p:sp>
        <p:nvSpPr>
          <p:cNvPr id="113" name="TextBox 112">
            <a:extLst xmlns:a="http://schemas.openxmlformats.org/drawingml/2006/main">
              <a:ext uri="{FF2B5EF4-FFF2-40B4-BE49-F238E27FC236}">
                <a16:creationId xmlns:a16="http://schemas.microsoft.com/office/drawing/2014/main" id="{52943286-AA2D-498E-97AC-53338488B4A1}"/>
              </a:ext>
            </a:extLst>
          </p:cNvPr>
          <p:cNvSpPr>
            <a:spLocks xmlns:a="http://schemas.openxmlformats.org/drawingml/2006/main" noGrp="1"/>
          </p:cNvSpPr>
          <p:nvPr/>
        </p:nvSpPr>
        <p:spPr>
          <a:xfrm xmlns:a="http://schemas.openxmlformats.org/drawingml/2006/main">
            <a:off x="9263786" y="2395728"/>
            <a:ext cx="22860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250" b="0">
                <a:solidFill>
                  <a:srgbClr val="1E1E1E"/>
                </a:solidFill>
                <a:latin typeface="Arial"/>
                <a:ea typeface="Arial"/>
                <a:cs typeface="Arial"/>
              </a:rPr>
              <a:t>Ageing and remaining-life studies</a:t>
            </a:r>
          </a:p>
          <a:p xmlns:a="http://schemas.openxmlformats.org/drawingml/2006/main">
            <a:pPr algn="l">
              <a:spcBef>
                <a:spcPts val="600"/>
              </a:spcBef>
              <a:buNone/>
            </a:pPr>
            <a:r>
              <a:rPr sz="1250" b="0">
                <a:solidFill>
                  <a:srgbClr val="1E1E1E"/>
                </a:solidFill>
                <a:latin typeface="Arial"/>
                <a:ea typeface="Arial"/>
                <a:cs typeface="Arial"/>
              </a:rPr>
              <a:t>Fleet-level view across many transformers</a:t>
            </a:r>
          </a:p>
          <a:p xmlns:a="http://schemas.openxmlformats.org/drawingml/2006/main">
            <a:pPr algn="l">
              <a:spcBef>
                <a:spcPts val="600"/>
              </a:spcBef>
              <a:buNone/>
            </a:pPr>
            <a:r>
              <a:rPr sz="1250" b="0">
                <a:solidFill>
                  <a:srgbClr val="1E1E1E"/>
                </a:solidFill>
                <a:latin typeface="Arial"/>
                <a:ea typeface="Arial"/>
                <a:cs typeface="Arial"/>
              </a:rPr>
              <a:t>Needs long-term field data</a:t>
            </a:r>
          </a:p>
        </p:txBody>
      </p:sp>
      <p:sp>
        <p:nvSpPr>
          <p:cNvPr id="114" name="Rectangle 113">
            <a:extLst xmlns:a="http://schemas.openxmlformats.org/drawingml/2006/main">
              <a:ext uri="{FF2B5EF4-FFF2-40B4-BE49-F238E27FC236}">
                <a16:creationId xmlns:a16="http://schemas.microsoft.com/office/drawing/2014/main" id="{D4E88A1E-22D9-4D58-B261-FF75648B9DBF}"/>
              </a:ext>
            </a:extLst>
          </p:cNvPr>
          <p:cNvSpPr>
            <a:spLocks xmlns:a="http://schemas.openxmlformats.org/drawingml/2006/main" noGrp="1"/>
          </p:cNvSpPr>
          <p:nvPr/>
        </p:nvSpPr>
        <p:spPr>
          <a:xfrm xmlns:a="http://schemas.openxmlformats.org/drawingml/2006/main">
            <a:off x="548640" y="4069080"/>
            <a:ext cx="3611880" cy="109728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TextBox 114">
            <a:extLst xmlns:a="http://schemas.openxmlformats.org/drawingml/2006/main">
              <a:ext uri="{FF2B5EF4-FFF2-40B4-BE49-F238E27FC236}">
                <a16:creationId xmlns:a16="http://schemas.microsoft.com/office/drawing/2014/main" id="{2691A934-B90F-4540-93AB-353D49C98C15}"/>
              </a:ext>
            </a:extLst>
          </p:cNvPr>
          <p:cNvSpPr>
            <a:spLocks xmlns:a="http://schemas.openxmlformats.org/drawingml/2006/main" noGrp="1"/>
          </p:cNvSpPr>
          <p:nvPr/>
        </p:nvSpPr>
        <p:spPr>
          <a:xfrm xmlns:a="http://schemas.openxmlformats.org/drawingml/2006/main">
            <a:off x="685800" y="4178808"/>
            <a:ext cx="3337560" cy="7899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MAINTENANCE REVIEW</a:t>
            </a:r>
          </a:p>
          <a:p xmlns:a="http://schemas.openxmlformats.org/drawingml/2006/main">
            <a:pPr algn="l">
              <a:spcBef>
                <a:spcPts val="400"/>
              </a:spcBef>
              <a:buNone/>
            </a:pPr>
            <a:r>
              <a:rPr sz="1250" b="0">
                <a:solidFill>
                  <a:srgbClr val="1E1E1E"/>
                </a:solidFill>
                <a:latin typeface="Arial"/>
                <a:ea typeface="Arial"/>
                <a:cs typeface="Arial"/>
              </a:rPr>
              <a:t>Inspect persistent deviations and compare matched observations around engineer-entered maintenance.</a:t>
            </a:r>
          </a:p>
        </p:txBody>
      </p:sp>
      <p:sp>
        <p:nvSpPr>
          <p:cNvPr id="116" name="Rectangle 115">
            <a:extLst xmlns:a="http://schemas.openxmlformats.org/drawingml/2006/main">
              <a:ext uri="{FF2B5EF4-FFF2-40B4-BE49-F238E27FC236}">
                <a16:creationId xmlns:a16="http://schemas.microsoft.com/office/drawing/2014/main" id="{362F3CE7-6C3F-4594-BCC2-705ACF3C1F9A}"/>
              </a:ext>
            </a:extLst>
          </p:cNvPr>
          <p:cNvSpPr>
            <a:spLocks xmlns:a="http://schemas.openxmlformats.org/drawingml/2006/main" noGrp="1"/>
          </p:cNvSpPr>
          <p:nvPr/>
        </p:nvSpPr>
        <p:spPr>
          <a:xfrm xmlns:a="http://schemas.openxmlformats.org/drawingml/2006/main">
            <a:off x="4320540" y="4069080"/>
            <a:ext cx="3611880" cy="109728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TextBox 116">
            <a:extLst xmlns:a="http://schemas.openxmlformats.org/drawingml/2006/main">
              <a:ext uri="{FF2B5EF4-FFF2-40B4-BE49-F238E27FC236}">
                <a16:creationId xmlns:a16="http://schemas.microsoft.com/office/drawing/2014/main" id="{70377326-3FA5-42EE-B15F-9F458DA641B5}"/>
              </a:ext>
            </a:extLst>
          </p:cNvPr>
          <p:cNvSpPr>
            <a:spLocks xmlns:a="http://schemas.openxmlformats.org/drawingml/2006/main" noGrp="1"/>
          </p:cNvSpPr>
          <p:nvPr/>
        </p:nvSpPr>
        <p:spPr>
          <a:xfrm xmlns:a="http://schemas.openxmlformats.org/drawingml/2006/main">
            <a:off x="4457700" y="4178808"/>
            <a:ext cx="3337560" cy="7899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OPEN-SOURCE PACKAGE</a:t>
            </a:r>
          </a:p>
          <a:p xmlns:a="http://schemas.openxmlformats.org/drawingml/2006/main">
            <a:pPr algn="l">
              <a:spcBef>
                <a:spcPts val="400"/>
              </a:spcBef>
              <a:buNone/>
            </a:pPr>
            <a:r>
              <a:rPr sz="1250" b="0">
                <a:solidFill>
                  <a:srgbClr val="1E1E1E"/>
                </a:solidFill>
                <a:latin typeface="Arial"/>
                <a:ea typeface="Arial"/>
                <a:cs typeface="Arial"/>
              </a:rPr>
              <a:t>Frontend, backend, Python code, model artifacts, synthetic datasets and tests. MIT terms with retained third-party rights.</a:t>
            </a:r>
          </a:p>
        </p:txBody>
      </p:sp>
      <p:sp>
        <p:nvSpPr>
          <p:cNvPr id="118" name="Rectangle 117">
            <a:extLst xmlns:a="http://schemas.openxmlformats.org/drawingml/2006/main">
              <a:ext uri="{FF2B5EF4-FFF2-40B4-BE49-F238E27FC236}">
                <a16:creationId xmlns:a16="http://schemas.microsoft.com/office/drawing/2014/main" id="{F275D544-52D3-4F7C-BB64-CDC4AB3A3D72}"/>
              </a:ext>
            </a:extLst>
          </p:cNvPr>
          <p:cNvSpPr>
            <a:spLocks xmlns:a="http://schemas.openxmlformats.org/drawingml/2006/main" noGrp="1"/>
          </p:cNvSpPr>
          <p:nvPr/>
        </p:nvSpPr>
        <p:spPr>
          <a:xfrm xmlns:a="http://schemas.openxmlformats.org/drawingml/2006/main">
            <a:off x="8092440" y="4069080"/>
            <a:ext cx="3611880" cy="1097280"/>
          </a:xfrm>
          <a:prstGeom xmlns:a="http://schemas.openxmlformats.org/drawingml/2006/main" prst="rect">
            <a:avLst/>
          </a:prstGeom>
          <a:solidFill xmlns:a="http://schemas.openxmlformats.org/drawingml/2006/main">
            <a:srgbClr val="F5F5F5"/>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TextBox 118">
            <a:extLst xmlns:a="http://schemas.openxmlformats.org/drawingml/2006/main">
              <a:ext uri="{FF2B5EF4-FFF2-40B4-BE49-F238E27FC236}">
                <a16:creationId xmlns:a16="http://schemas.microsoft.com/office/drawing/2014/main" id="{86373EAC-7DCF-46C3-B840-0CF1123BC4EE}"/>
              </a:ext>
            </a:extLst>
          </p:cNvPr>
          <p:cNvSpPr>
            <a:spLocks xmlns:a="http://schemas.openxmlformats.org/drawingml/2006/main" noGrp="1"/>
          </p:cNvSpPr>
          <p:nvPr/>
        </p:nvSpPr>
        <p:spPr>
          <a:xfrm xmlns:a="http://schemas.openxmlformats.org/drawingml/2006/main">
            <a:off x="8229600" y="4178808"/>
            <a:ext cx="3337560" cy="7899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D46A12"/>
                </a:solidFill>
                <a:latin typeface="Arial"/>
                <a:ea typeface="Arial"/>
                <a:cs typeface="Arial"/>
              </a:rPr>
              <a:t>ENGINEER OVERSIGHT</a:t>
            </a:r>
          </a:p>
          <a:p xmlns:a="http://schemas.openxmlformats.org/drawingml/2006/main">
            <a:pPr algn="l">
              <a:spcBef>
                <a:spcPts val="400"/>
              </a:spcBef>
              <a:buNone/>
            </a:pPr>
            <a:r>
              <a:rPr sz="1250" b="0">
                <a:solidFill>
                  <a:srgbClr val="1E1E1E"/>
                </a:solidFill>
                <a:latin typeface="Arial"/>
                <a:ea typeface="Arial"/>
                <a:cs typeface="Arial"/>
              </a:rPr>
              <a:t>Warnings support investigation. Protection, diagnosis and maintenance decisions remain with qualified engineers.</a:t>
            </a:r>
          </a:p>
        </p:txBody>
      </p:sp>
      <p:sp>
        <p:nvSpPr>
          <p:cNvPr id="120" name="Rectangle 119">
            <a:extLst xmlns:a="http://schemas.openxmlformats.org/drawingml/2006/main">
              <a:ext uri="{FF2B5EF4-FFF2-40B4-BE49-F238E27FC236}">
                <a16:creationId xmlns:a16="http://schemas.microsoft.com/office/drawing/2014/main" id="{CE87DC68-1F03-4D45-9857-60D7C11528B8}"/>
              </a:ext>
            </a:extLst>
          </p:cNvPr>
          <p:cNvSpPr>
            <a:spLocks xmlns:a="http://schemas.openxmlformats.org/drawingml/2006/main" noGrp="1"/>
          </p:cNvSpPr>
          <p:nvPr/>
        </p:nvSpPr>
        <p:spPr>
          <a:xfrm xmlns:a="http://schemas.openxmlformats.org/drawingml/2006/main">
            <a:off x="548640" y="5349240"/>
            <a:ext cx="11155680" cy="457200"/>
          </a:xfrm>
          <a:prstGeom xmlns:a="http://schemas.openxmlformats.org/drawingml/2006/main" prst="rect">
            <a:avLst/>
          </a:prstGeom>
          <a:solidFill xmlns:a="http://schemas.openxmlformats.org/drawingml/2006/main">
            <a:srgbClr val="F6DEC8"/>
          </a:solidFill>
          <a:ln xmlns:a="http://schemas.openxmlformats.org/drawingml/2006/main" w="9525">
            <a:solidFill>
              <a:srgbClr val="C4C4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TextBox 120">
            <a:extLst xmlns:a="http://schemas.openxmlformats.org/drawingml/2006/main">
              <a:ext uri="{FF2B5EF4-FFF2-40B4-BE49-F238E27FC236}">
                <a16:creationId xmlns:a16="http://schemas.microsoft.com/office/drawing/2014/main" id="{CF3BB016-3C97-4BB9-A6D8-1B86AB77597D}"/>
              </a:ext>
            </a:extLst>
          </p:cNvPr>
          <p:cNvSpPr>
            <a:spLocks xmlns:a="http://schemas.openxmlformats.org/drawingml/2006/main" noGrp="1"/>
          </p:cNvSpPr>
          <p:nvPr/>
        </p:nvSpPr>
        <p:spPr>
          <a:xfrm xmlns:a="http://schemas.openxmlformats.org/drawingml/2006/main">
            <a:off x="713232" y="5349240"/>
            <a:ext cx="10881360" cy="21336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400" b="1">
                <a:solidFill>
                  <a:srgbClr val="D46A12"/>
                </a:solidFill>
                <a:latin typeface="Arial"/>
                <a:ea typeface="Arial"/>
                <a:cs typeface="Arial"/>
              </a:rPr>
              <a:t>Source: github.com/jereshrirangdotexe/Digital-Twin   Next evidence needed: measured SCADA with verified operating context.</a:t>
            </a:r>
          </a:p>
        </p:txBody>
      </p:sp>
      <p:sp>
        <p:nvSpPr>
          <p:cNvPr id="122" name="TextBox 121">
            <a:extLst xmlns:a="http://schemas.openxmlformats.org/drawingml/2006/main">
              <a:ext uri="{FF2B5EF4-FFF2-40B4-BE49-F238E27FC236}">
                <a16:creationId xmlns:a16="http://schemas.microsoft.com/office/drawing/2014/main" id="{6AE284F8-E56E-48C2-B7EB-16958BC80F5E}"/>
              </a:ext>
            </a:extLst>
          </p:cNvPr>
          <p:cNvSpPr>
            <a:spLocks xmlns:a="http://schemas.openxmlformats.org/drawingml/2006/main" noGrp="1"/>
          </p:cNvSpPr>
          <p:nvPr/>
        </p:nvSpPr>
        <p:spPr>
          <a:xfrm xmlns:a="http://schemas.openxmlformats.org/drawingml/2006/main">
            <a:off x="548640" y="5870448"/>
            <a:ext cx="11155680" cy="1600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50" b="0">
                <a:solidFill>
                  <a:srgbClr val="555555"/>
                </a:solidFill>
                <a:latin typeface="Arial"/>
                <a:ea typeface="Arial"/>
                <a:cs typeface="Arial"/>
              </a:rPr>
              <a:t>Expected benefits remain research goals. Field savings, failure prevention and remaining-life prediction are unvalidated.</a:t>
            </a:r>
          </a:p>
        </p:txBody>
      </p:sp>
    </p:spTree>
    <p:extLst>
      <p:ext uri="{BB962C8B-B14F-4D97-AF65-F5344CB8AC3E}">
        <p14:creationId xmlns:p14="http://schemas.microsoft.com/office/powerpoint/2010/main" val="2861663685"/>
      </p:ext>
    </p:extLst>
  </p:cSld>
</p:sld>
</file>

<file path=ppt/theme/theme1.xml><?xml version="1.0" encoding="utf-8"?>
<a:theme xmlns:a="http://schemas.openxmlformats.org/drawingml/2006/main" name="CPRI Grid Grey">
  <a:themeElements>
    <a:clrScheme name="CPRI Grid Grey">
      <a:dk1>
        <a:srgbClr val="1E1E1E"/>
      </a:dk1>
      <a:lt1>
        <a:srgbClr val="F5F5F5"/>
      </a:lt1>
      <a:dk2>
        <a:srgbClr val="555555"/>
      </a:dk2>
      <a:lt2>
        <a:srgbClr val="E6E6E6"/>
      </a:lt2>
      <a:accent1>
        <a:srgbClr val="D46A12"/>
      </a:accent1>
      <a:accent2>
        <a:srgbClr val="BDBDBD"/>
      </a:accent2>
      <a:accent3>
        <a:srgbClr val="F1D9C3"/>
      </a:accent3>
      <a:accent4>
        <a:srgbClr val="8A8A8A"/>
      </a:accent4>
      <a:accent5>
        <a:srgbClr val="6F6F6F"/>
      </a:accent5>
      <a:accent6>
        <a:srgbClr val="B0541A"/>
      </a:accent6>
      <a:hlink>
        <a:srgbClr val="D46A12"/>
      </a:hlink>
      <a:folHlink>
        <a:srgbClr val="8A8A8A"/>
      </a:folHlink>
    </a:clrScheme>
    <a:fontScheme name="CPRI Grid Gre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PRI Grid Gre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2026-10-11T07:28:14.3170000Z</dcterms:created>
  <dcterms:modified xsi:type="dcterms:W3CDTF">2026-10-11T07:28:14.3170000Z</dcterms:modified>
</coreProperties>
</file>