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6" r:id="rId3"/>
    <p:sldId id="267" r:id="rId4"/>
    <p:sldId id="268" r:id="rId5"/>
    <p:sldId id="269" r:id="rId6"/>
    <p:sldId id="270" r:id="rId7"/>
    <p:sldId id="271" r:id="rId8"/>
    <p:sldId id="272" r:id="rId9"/>
    <p:sldId id="273" r:id="rId10"/>
    <p:sldId id="27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al Presentation" id="{49CC3C46-4D1F-531E-093B-322EABEC1411}">
          <p14:sldIdLst>
            <p14:sldId id="256"/>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Actual top-oil</c:v>
                </c:pt>
              </c:strCache>
            </c:strRef>
          </c:tx>
          <c:spPr>
            <a:ln w="25400">
              <a:solidFill>
                <a:srgbClr val="1E1E1E"/>
              </a:solidFill>
            </a:ln>
          </c:spPr>
          <c:marker>
            <c:symbol val="none"/>
          </c:marker>
          <c:cat>
            <c:strRef>
              <c:f>Sheet1!$A$2:$A$289</c:f>
              <c:strCache>
                <c:ptCount val="288"/>
                <c:pt idx="0">
                  <c:v>00:00</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 </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04:00</c:v>
                </c:pt>
                <c:pt idx="49">
                  <c:v> </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 </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08:00</c:v>
                </c:pt>
                <c:pt idx="97">
                  <c:v> </c:v>
                </c:pt>
                <c:pt idx="98">
                  <c:v> </c:v>
                </c:pt>
                <c:pt idx="99">
                  <c:v> </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 </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12:00</c:v>
                </c:pt>
                <c:pt idx="145">
                  <c:v> </c:v>
                </c:pt>
                <c:pt idx="146">
                  <c:v> </c:v>
                </c:pt>
                <c:pt idx="147">
                  <c:v> </c:v>
                </c:pt>
                <c:pt idx="148">
                  <c:v> </c:v>
                </c:pt>
                <c:pt idx="149">
                  <c:v> </c:v>
                </c:pt>
                <c:pt idx="150">
                  <c:v> </c:v>
                </c:pt>
                <c:pt idx="151">
                  <c:v> </c:v>
                </c:pt>
                <c:pt idx="152">
                  <c:v> </c:v>
                </c:pt>
                <c:pt idx="153">
                  <c:v> </c:v>
                </c:pt>
                <c:pt idx="154">
                  <c:v> </c:v>
                </c:pt>
                <c:pt idx="155">
                  <c:v> </c:v>
                </c:pt>
                <c:pt idx="156">
                  <c:v> </c:v>
                </c:pt>
                <c:pt idx="157">
                  <c:v> </c:v>
                </c:pt>
                <c:pt idx="158">
                  <c:v> </c:v>
                </c:pt>
                <c:pt idx="159">
                  <c:v> </c:v>
                </c:pt>
                <c:pt idx="160">
                  <c:v> </c:v>
                </c:pt>
                <c:pt idx="161">
                  <c:v> </c:v>
                </c:pt>
                <c:pt idx="162">
                  <c:v> </c:v>
                </c:pt>
                <c:pt idx="163">
                  <c:v> </c:v>
                </c:pt>
                <c:pt idx="164">
                  <c:v> </c:v>
                </c:pt>
                <c:pt idx="165">
                  <c:v> </c:v>
                </c:pt>
                <c:pt idx="166">
                  <c:v> </c:v>
                </c:pt>
                <c:pt idx="167">
                  <c:v> </c:v>
                </c:pt>
                <c:pt idx="168">
                  <c:v> </c:v>
                </c:pt>
                <c:pt idx="169">
                  <c:v> </c:v>
                </c:pt>
                <c:pt idx="170">
                  <c:v> </c:v>
                </c:pt>
                <c:pt idx="171">
                  <c:v> </c:v>
                </c:pt>
                <c:pt idx="172">
                  <c:v> </c:v>
                </c:pt>
                <c:pt idx="173">
                  <c:v> </c:v>
                </c:pt>
                <c:pt idx="174">
                  <c:v> </c:v>
                </c:pt>
                <c:pt idx="175">
                  <c:v> </c:v>
                </c:pt>
                <c:pt idx="176">
                  <c:v> </c:v>
                </c:pt>
                <c:pt idx="177">
                  <c:v> </c:v>
                </c:pt>
                <c:pt idx="178">
                  <c:v> </c:v>
                </c:pt>
                <c:pt idx="179">
                  <c:v> </c:v>
                </c:pt>
                <c:pt idx="180">
                  <c:v> </c:v>
                </c:pt>
                <c:pt idx="181">
                  <c:v> </c:v>
                </c:pt>
                <c:pt idx="182">
                  <c:v> </c:v>
                </c:pt>
                <c:pt idx="183">
                  <c:v> </c:v>
                </c:pt>
                <c:pt idx="184">
                  <c:v> </c:v>
                </c:pt>
                <c:pt idx="185">
                  <c:v> </c:v>
                </c:pt>
                <c:pt idx="186">
                  <c:v> </c:v>
                </c:pt>
                <c:pt idx="187">
                  <c:v> </c:v>
                </c:pt>
                <c:pt idx="188">
                  <c:v> </c:v>
                </c:pt>
                <c:pt idx="189">
                  <c:v> </c:v>
                </c:pt>
                <c:pt idx="190">
                  <c:v> </c:v>
                </c:pt>
                <c:pt idx="191">
                  <c:v> </c:v>
                </c:pt>
                <c:pt idx="192">
                  <c:v>16:00</c:v>
                </c:pt>
                <c:pt idx="193">
                  <c:v> </c:v>
                </c:pt>
                <c:pt idx="194">
                  <c:v> </c:v>
                </c:pt>
                <c:pt idx="195">
                  <c:v> </c:v>
                </c:pt>
                <c:pt idx="196">
                  <c:v> </c:v>
                </c:pt>
                <c:pt idx="197">
                  <c:v> </c:v>
                </c:pt>
                <c:pt idx="198">
                  <c:v> </c:v>
                </c:pt>
                <c:pt idx="199">
                  <c:v> </c:v>
                </c:pt>
                <c:pt idx="200">
                  <c:v> </c:v>
                </c:pt>
                <c:pt idx="201">
                  <c:v> </c:v>
                </c:pt>
                <c:pt idx="202">
                  <c:v> </c:v>
                </c:pt>
                <c:pt idx="203">
                  <c:v> </c:v>
                </c:pt>
                <c:pt idx="204">
                  <c:v> </c:v>
                </c:pt>
                <c:pt idx="205">
                  <c:v> </c:v>
                </c:pt>
                <c:pt idx="206">
                  <c:v> </c:v>
                </c:pt>
                <c:pt idx="207">
                  <c:v> </c:v>
                </c:pt>
                <c:pt idx="208">
                  <c:v> </c:v>
                </c:pt>
                <c:pt idx="209">
                  <c:v> </c:v>
                </c:pt>
                <c:pt idx="210">
                  <c:v> </c:v>
                </c:pt>
                <c:pt idx="211">
                  <c:v> </c:v>
                </c:pt>
                <c:pt idx="212">
                  <c:v> </c:v>
                </c:pt>
                <c:pt idx="213">
                  <c:v> </c:v>
                </c:pt>
                <c:pt idx="214">
                  <c:v> </c:v>
                </c:pt>
                <c:pt idx="215">
                  <c:v> </c:v>
                </c:pt>
                <c:pt idx="216">
                  <c:v> </c:v>
                </c:pt>
                <c:pt idx="217">
                  <c:v> </c:v>
                </c:pt>
                <c:pt idx="218">
                  <c:v> </c:v>
                </c:pt>
                <c:pt idx="219">
                  <c:v> </c:v>
                </c:pt>
                <c:pt idx="220">
                  <c:v> </c:v>
                </c:pt>
                <c:pt idx="221">
                  <c:v> </c:v>
                </c:pt>
                <c:pt idx="222">
                  <c:v> </c:v>
                </c:pt>
                <c:pt idx="223">
                  <c:v> </c:v>
                </c:pt>
                <c:pt idx="224">
                  <c:v> </c:v>
                </c:pt>
                <c:pt idx="225">
                  <c:v> </c:v>
                </c:pt>
                <c:pt idx="226">
                  <c:v> </c:v>
                </c:pt>
                <c:pt idx="227">
                  <c:v> </c:v>
                </c:pt>
                <c:pt idx="228">
                  <c:v> </c:v>
                </c:pt>
                <c:pt idx="229">
                  <c:v> </c:v>
                </c:pt>
                <c:pt idx="230">
                  <c:v> </c:v>
                </c:pt>
                <c:pt idx="231">
                  <c:v> </c:v>
                </c:pt>
                <c:pt idx="232">
                  <c:v> </c:v>
                </c:pt>
                <c:pt idx="233">
                  <c:v> </c:v>
                </c:pt>
                <c:pt idx="234">
                  <c:v> </c:v>
                </c:pt>
                <c:pt idx="235">
                  <c:v> </c:v>
                </c:pt>
                <c:pt idx="236">
                  <c:v> </c:v>
                </c:pt>
                <c:pt idx="237">
                  <c:v> </c:v>
                </c:pt>
                <c:pt idx="238">
                  <c:v> </c:v>
                </c:pt>
                <c:pt idx="239">
                  <c:v> </c:v>
                </c:pt>
                <c:pt idx="240">
                  <c:v>20:00</c:v>
                </c:pt>
                <c:pt idx="241">
                  <c:v> </c:v>
                </c:pt>
                <c:pt idx="242">
                  <c:v> </c:v>
                </c:pt>
                <c:pt idx="243">
                  <c:v> </c:v>
                </c:pt>
                <c:pt idx="244">
                  <c:v> </c:v>
                </c:pt>
                <c:pt idx="245">
                  <c:v> </c:v>
                </c:pt>
                <c:pt idx="246">
                  <c:v> </c:v>
                </c:pt>
                <c:pt idx="247">
                  <c:v> </c:v>
                </c:pt>
                <c:pt idx="248">
                  <c:v> </c:v>
                </c:pt>
                <c:pt idx="249">
                  <c:v> </c:v>
                </c:pt>
                <c:pt idx="250">
                  <c:v> </c:v>
                </c:pt>
                <c:pt idx="251">
                  <c:v> </c:v>
                </c:pt>
                <c:pt idx="252">
                  <c:v> </c:v>
                </c:pt>
                <c:pt idx="253">
                  <c:v> </c:v>
                </c:pt>
                <c:pt idx="254">
                  <c:v> </c:v>
                </c:pt>
                <c:pt idx="255">
                  <c:v> </c:v>
                </c:pt>
                <c:pt idx="256">
                  <c:v> </c:v>
                </c:pt>
                <c:pt idx="257">
                  <c:v> </c:v>
                </c:pt>
                <c:pt idx="258">
                  <c:v> </c:v>
                </c:pt>
                <c:pt idx="259">
                  <c:v> </c:v>
                </c:pt>
                <c:pt idx="260">
                  <c:v> </c:v>
                </c:pt>
                <c:pt idx="261">
                  <c:v> </c:v>
                </c:pt>
                <c:pt idx="262">
                  <c:v> </c:v>
                </c:pt>
                <c:pt idx="263">
                  <c:v> </c:v>
                </c:pt>
                <c:pt idx="264">
                  <c:v> </c:v>
                </c:pt>
                <c:pt idx="265">
                  <c:v> </c:v>
                </c:pt>
                <c:pt idx="266">
                  <c:v> </c:v>
                </c:pt>
                <c:pt idx="267">
                  <c:v> </c:v>
                </c:pt>
                <c:pt idx="268">
                  <c:v> </c:v>
                </c:pt>
                <c:pt idx="269">
                  <c:v> </c:v>
                </c:pt>
                <c:pt idx="270">
                  <c:v> </c:v>
                </c:pt>
                <c:pt idx="271">
                  <c:v> </c:v>
                </c:pt>
                <c:pt idx="272">
                  <c:v> </c:v>
                </c:pt>
                <c:pt idx="273">
                  <c:v> </c:v>
                </c:pt>
                <c:pt idx="274">
                  <c:v> </c:v>
                </c:pt>
                <c:pt idx="275">
                  <c:v> </c:v>
                </c:pt>
                <c:pt idx="276">
                  <c:v> </c:v>
                </c:pt>
                <c:pt idx="277">
                  <c:v> </c:v>
                </c:pt>
                <c:pt idx="278">
                  <c:v> </c:v>
                </c:pt>
                <c:pt idx="279">
                  <c:v> </c:v>
                </c:pt>
                <c:pt idx="280">
                  <c:v> </c:v>
                </c:pt>
                <c:pt idx="281">
                  <c:v> </c:v>
                </c:pt>
                <c:pt idx="282">
                  <c:v> </c:v>
                </c:pt>
                <c:pt idx="283">
                  <c:v> </c:v>
                </c:pt>
                <c:pt idx="284">
                  <c:v> </c:v>
                </c:pt>
                <c:pt idx="285">
                  <c:v> </c:v>
                </c:pt>
                <c:pt idx="286">
                  <c:v> </c:v>
                </c:pt>
                <c:pt idx="287">
                  <c:v> </c:v>
                </c:pt>
              </c:strCache>
            </c:strRef>
          </c:cat>
          <c:val>
            <c:numRef>
              <c:f>Sheet1!$B$2:$B$289</c:f>
              <c:numCache>
                <c:formatCode>General</c:formatCode>
                <c:ptCount val="288"/>
                <c:pt idx="0">
                  <c:v>39.0</c:v>
                </c:pt>
                <c:pt idx="1">
                  <c:v>39.3</c:v>
                </c:pt>
                <c:pt idx="2">
                  <c:v>39.0</c:v>
                </c:pt>
                <c:pt idx="3">
                  <c:v>39.1</c:v>
                </c:pt>
                <c:pt idx="4">
                  <c:v>39.0</c:v>
                </c:pt>
                <c:pt idx="5">
                  <c:v>39.2</c:v>
                </c:pt>
                <c:pt idx="6">
                  <c:v>39.3</c:v>
                </c:pt>
                <c:pt idx="7">
                  <c:v>39.3</c:v>
                </c:pt>
                <c:pt idx="8">
                  <c:v>39.0</c:v>
                </c:pt>
                <c:pt idx="9">
                  <c:v>39.2</c:v>
                </c:pt>
                <c:pt idx="10">
                  <c:v>39.1</c:v>
                </c:pt>
                <c:pt idx="11">
                  <c:v>39.1</c:v>
                </c:pt>
                <c:pt idx="12">
                  <c:v>39.0</c:v>
                </c:pt>
                <c:pt idx="13">
                  <c:v>39.0</c:v>
                </c:pt>
                <c:pt idx="14">
                  <c:v>39.0</c:v>
                </c:pt>
                <c:pt idx="15">
                  <c:v>38.9</c:v>
                </c:pt>
                <c:pt idx="16">
                  <c:v>38.9</c:v>
                </c:pt>
                <c:pt idx="17">
                  <c:v>39.0</c:v>
                </c:pt>
                <c:pt idx="18">
                  <c:v>38.9</c:v>
                </c:pt>
                <c:pt idx="19">
                  <c:v>38.9</c:v>
                </c:pt>
                <c:pt idx="20">
                  <c:v>38.9</c:v>
                </c:pt>
                <c:pt idx="21">
                  <c:v>38.6</c:v>
                </c:pt>
                <c:pt idx="22">
                  <c:v>38.5</c:v>
                </c:pt>
                <c:pt idx="23">
                  <c:v>38.7</c:v>
                </c:pt>
                <c:pt idx="24">
                  <c:v>38.9</c:v>
                </c:pt>
                <c:pt idx="25">
                  <c:v>38.6</c:v>
                </c:pt>
                <c:pt idx="26">
                  <c:v>38.6</c:v>
                </c:pt>
                <c:pt idx="27">
                  <c:v>38.7</c:v>
                </c:pt>
                <c:pt idx="28">
                  <c:v>38.5</c:v>
                </c:pt>
                <c:pt idx="29">
                  <c:v>38.6</c:v>
                </c:pt>
                <c:pt idx="30">
                  <c:v>38.6</c:v>
                </c:pt>
                <c:pt idx="31">
                  <c:v>38.4</c:v>
                </c:pt>
                <c:pt idx="32">
                  <c:v>38.5</c:v>
                </c:pt>
                <c:pt idx="33">
                  <c:v>38.3</c:v>
                </c:pt>
                <c:pt idx="34">
                  <c:v>38.5</c:v>
                </c:pt>
                <c:pt idx="35">
                  <c:v>38.4</c:v>
                </c:pt>
                <c:pt idx="36">
                  <c:v>38.5</c:v>
                </c:pt>
                <c:pt idx="37">
                  <c:v>38.7</c:v>
                </c:pt>
                <c:pt idx="38">
                  <c:v>38.1</c:v>
                </c:pt>
                <c:pt idx="39">
                  <c:v>38.4</c:v>
                </c:pt>
                <c:pt idx="40">
                  <c:v>38.3</c:v>
                </c:pt>
                <c:pt idx="41">
                  <c:v>38.3</c:v>
                </c:pt>
                <c:pt idx="42">
                  <c:v>38.3</c:v>
                </c:pt>
                <c:pt idx="43">
                  <c:v>38.4</c:v>
                </c:pt>
                <c:pt idx="44">
                  <c:v>38.2</c:v>
                </c:pt>
                <c:pt idx="45">
                  <c:v>38.4</c:v>
                </c:pt>
                <c:pt idx="46">
                  <c:v>38.0</c:v>
                </c:pt>
                <c:pt idx="47">
                  <c:v>38.2</c:v>
                </c:pt>
                <c:pt idx="48">
                  <c:v>38.3</c:v>
                </c:pt>
                <c:pt idx="49">
                  <c:v>38.0</c:v>
                </c:pt>
                <c:pt idx="50">
                  <c:v>38.2</c:v>
                </c:pt>
                <c:pt idx="51">
                  <c:v>38.2</c:v>
                </c:pt>
                <c:pt idx="52">
                  <c:v>38.2</c:v>
                </c:pt>
                <c:pt idx="53">
                  <c:v>38.3</c:v>
                </c:pt>
                <c:pt idx="54">
                  <c:v>38.1</c:v>
                </c:pt>
                <c:pt idx="55">
                  <c:v>38.4</c:v>
                </c:pt>
                <c:pt idx="56">
                  <c:v>38.2</c:v>
                </c:pt>
                <c:pt idx="57">
                  <c:v>38.1</c:v>
                </c:pt>
                <c:pt idx="58">
                  <c:v>38.3</c:v>
                </c:pt>
                <c:pt idx="59">
                  <c:v>38.3</c:v>
                </c:pt>
                <c:pt idx="60">
                  <c:v>38.5</c:v>
                </c:pt>
                <c:pt idx="61">
                  <c:v>38.4</c:v>
                </c:pt>
                <c:pt idx="62">
                  <c:v>38.5</c:v>
                </c:pt>
                <c:pt idx="63">
                  <c:v>38.3</c:v>
                </c:pt>
                <c:pt idx="64">
                  <c:v>38.4</c:v>
                </c:pt>
                <c:pt idx="65">
                  <c:v>38.5</c:v>
                </c:pt>
                <c:pt idx="66">
                  <c:v>38.4</c:v>
                </c:pt>
                <c:pt idx="67">
                  <c:v>38.7</c:v>
                </c:pt>
                <c:pt idx="68">
                  <c:v>38.7</c:v>
                </c:pt>
                <c:pt idx="69">
                  <c:v>38.6</c:v>
                </c:pt>
                <c:pt idx="70">
                  <c:v>38.5</c:v>
                </c:pt>
                <c:pt idx="71">
                  <c:v>38.8</c:v>
                </c:pt>
                <c:pt idx="72">
                  <c:v>38.5</c:v>
                </c:pt>
                <c:pt idx="73">
                  <c:v>39.0</c:v>
                </c:pt>
                <c:pt idx="74">
                  <c:v>38.9</c:v>
                </c:pt>
                <c:pt idx="75">
                  <c:v>38.9</c:v>
                </c:pt>
                <c:pt idx="76">
                  <c:v>38.8</c:v>
                </c:pt>
                <c:pt idx="77">
                  <c:v>39.0</c:v>
                </c:pt>
                <c:pt idx="78">
                  <c:v>39.0</c:v>
                </c:pt>
                <c:pt idx="79">
                  <c:v>39.2</c:v>
                </c:pt>
                <c:pt idx="80">
                  <c:v>39.4</c:v>
                </c:pt>
                <c:pt idx="81">
                  <c:v>39.1</c:v>
                </c:pt>
                <c:pt idx="82">
                  <c:v>39.3</c:v>
                </c:pt>
                <c:pt idx="83">
                  <c:v>39.3</c:v>
                </c:pt>
                <c:pt idx="84">
                  <c:v>39.5</c:v>
                </c:pt>
                <c:pt idx="85">
                  <c:v>39.4</c:v>
                </c:pt>
                <c:pt idx="86">
                  <c:v>39.6</c:v>
                </c:pt>
                <c:pt idx="87">
                  <c:v>39.6</c:v>
                </c:pt>
                <c:pt idx="88">
                  <c:v>39.8</c:v>
                </c:pt>
                <c:pt idx="89">
                  <c:v>39.6</c:v>
                </c:pt>
                <c:pt idx="90">
                  <c:v>40.1</c:v>
                </c:pt>
                <c:pt idx="91">
                  <c:v>40.1</c:v>
                </c:pt>
                <c:pt idx="92">
                  <c:v>40.1</c:v>
                </c:pt>
                <c:pt idx="93">
                  <c:v>40.1</c:v>
                </c:pt>
                <c:pt idx="94">
                  <c:v>40.2</c:v>
                </c:pt>
                <c:pt idx="95">
                  <c:v>40.5</c:v>
                </c:pt>
                <c:pt idx="96">
                  <c:v>40.5</c:v>
                </c:pt>
                <c:pt idx="97">
                  <c:v>40.8</c:v>
                </c:pt>
                <c:pt idx="98">
                  <c:v>40.7</c:v>
                </c:pt>
                <c:pt idx="99">
                  <c:v>40.8</c:v>
                </c:pt>
                <c:pt idx="100">
                  <c:v>41.1</c:v>
                </c:pt>
                <c:pt idx="101">
                  <c:v>40.9</c:v>
                </c:pt>
                <c:pt idx="102">
                  <c:v>41.2</c:v>
                </c:pt>
                <c:pt idx="103">
                  <c:v>41.6</c:v>
                </c:pt>
                <c:pt idx="104">
                  <c:v>41.5</c:v>
                </c:pt>
                <c:pt idx="105">
                  <c:v>41.5</c:v>
                </c:pt>
                <c:pt idx="106">
                  <c:v>41.8</c:v>
                </c:pt>
                <c:pt idx="107">
                  <c:v>41.7</c:v>
                </c:pt>
                <c:pt idx="108">
                  <c:v>41.8</c:v>
                </c:pt>
                <c:pt idx="109">
                  <c:v>42.0</c:v>
                </c:pt>
                <c:pt idx="110">
                  <c:v>42.3</c:v>
                </c:pt>
                <c:pt idx="111">
                  <c:v>42.3</c:v>
                </c:pt>
                <c:pt idx="112">
                  <c:v>42.7</c:v>
                </c:pt>
                <c:pt idx="113">
                  <c:v>42.7</c:v>
                </c:pt>
                <c:pt idx="114">
                  <c:v>42.7</c:v>
                </c:pt>
                <c:pt idx="115">
                  <c:v>42.7</c:v>
                </c:pt>
                <c:pt idx="116">
                  <c:v>42.8</c:v>
                </c:pt>
                <c:pt idx="117">
                  <c:v>43.0</c:v>
                </c:pt>
                <c:pt idx="118">
                  <c:v>43.3</c:v>
                </c:pt>
                <c:pt idx="119">
                  <c:v>43.3</c:v>
                </c:pt>
                <c:pt idx="120">
                  <c:v>43.6</c:v>
                </c:pt>
                <c:pt idx="121">
                  <c:v>43.9</c:v>
                </c:pt>
                <c:pt idx="122">
                  <c:v>43.8</c:v>
                </c:pt>
                <c:pt idx="123">
                  <c:v>44.1</c:v>
                </c:pt>
                <c:pt idx="124">
                  <c:v>44.4</c:v>
                </c:pt>
                <c:pt idx="125">
                  <c:v>44.3</c:v>
                </c:pt>
                <c:pt idx="126">
                  <c:v>44.6</c:v>
                </c:pt>
                <c:pt idx="127">
                  <c:v>44.9</c:v>
                </c:pt>
                <c:pt idx="128">
                  <c:v>44.8</c:v>
                </c:pt>
                <c:pt idx="129">
                  <c:v>44.8</c:v>
                </c:pt>
                <c:pt idx="130">
                  <c:v>44.9</c:v>
                </c:pt>
                <c:pt idx="131">
                  <c:v>45.4</c:v>
                </c:pt>
                <c:pt idx="132">
                  <c:v>45.4</c:v>
                </c:pt>
                <c:pt idx="133">
                  <c:v>45.5</c:v>
                </c:pt>
                <c:pt idx="134">
                  <c:v>45.7</c:v>
                </c:pt>
                <c:pt idx="135">
                  <c:v>46.1</c:v>
                </c:pt>
                <c:pt idx="136">
                  <c:v>46.1</c:v>
                </c:pt>
                <c:pt idx="137">
                  <c:v>46.0</c:v>
                </c:pt>
                <c:pt idx="138">
                  <c:v>46.5</c:v>
                </c:pt>
                <c:pt idx="139">
                  <c:v>46.7</c:v>
                </c:pt>
                <c:pt idx="140">
                  <c:v>47.0</c:v>
                </c:pt>
                <c:pt idx="141">
                  <c:v>47.3</c:v>
                </c:pt>
                <c:pt idx="142">
                  <c:v>47.7</c:v>
                </c:pt>
                <c:pt idx="143">
                  <c:v>48.1</c:v>
                </c:pt>
                <c:pt idx="144">
                  <c:v>48.3</c:v>
                </c:pt>
                <c:pt idx="145">
                  <c:v>48.5</c:v>
                </c:pt>
                <c:pt idx="146">
                  <c:v>49.0</c:v>
                </c:pt>
                <c:pt idx="147">
                  <c:v>49.2</c:v>
                </c:pt>
                <c:pt idx="148">
                  <c:v>49.5</c:v>
                </c:pt>
                <c:pt idx="149">
                  <c:v>49.8</c:v>
                </c:pt>
                <c:pt idx="150">
                  <c:v>50.1</c:v>
                </c:pt>
                <c:pt idx="151">
                  <c:v>50.6</c:v>
                </c:pt>
                <c:pt idx="152">
                  <c:v>51.0</c:v>
                </c:pt>
                <c:pt idx="153">
                  <c:v>51.2</c:v>
                </c:pt>
                <c:pt idx="154">
                  <c:v>51.5</c:v>
                </c:pt>
                <c:pt idx="155">
                  <c:v>51.8</c:v>
                </c:pt>
                <c:pt idx="156">
                  <c:v>52.0</c:v>
                </c:pt>
                <c:pt idx="157">
                  <c:v>52.3</c:v>
                </c:pt>
                <c:pt idx="158">
                  <c:v>52.4</c:v>
                </c:pt>
                <c:pt idx="159">
                  <c:v>53.0</c:v>
                </c:pt>
                <c:pt idx="160">
                  <c:v>53.3</c:v>
                </c:pt>
                <c:pt idx="161">
                  <c:v>53.6</c:v>
                </c:pt>
                <c:pt idx="162">
                  <c:v>53.8</c:v>
                </c:pt>
                <c:pt idx="163">
                  <c:v>53.8</c:v>
                </c:pt>
                <c:pt idx="164">
                  <c:v>54.0</c:v>
                </c:pt>
                <c:pt idx="165">
                  <c:v>54.3</c:v>
                </c:pt>
                <c:pt idx="166">
                  <c:v>54.5</c:v>
                </c:pt>
                <c:pt idx="167">
                  <c:v>54.7</c:v>
                </c:pt>
                <c:pt idx="168">
                  <c:v>55.0</c:v>
                </c:pt>
                <c:pt idx="169">
                  <c:v>55.4</c:v>
                </c:pt>
                <c:pt idx="170">
                  <c:v>55.4</c:v>
                </c:pt>
                <c:pt idx="171">
                  <c:v>55.8</c:v>
                </c:pt>
                <c:pt idx="172">
                  <c:v>55.8</c:v>
                </c:pt>
                <c:pt idx="173">
                  <c:v>56.3</c:v>
                </c:pt>
                <c:pt idx="174">
                  <c:v>56.3</c:v>
                </c:pt>
                <c:pt idx="175">
                  <c:v>56.6</c:v>
                </c:pt>
                <c:pt idx="176">
                  <c:v>56.8</c:v>
                </c:pt>
                <c:pt idx="177">
                  <c:v>56.7</c:v>
                </c:pt>
                <c:pt idx="178">
                  <c:v>57.0</c:v>
                </c:pt>
                <c:pt idx="179">
                  <c:v>57.0</c:v>
                </c:pt>
                <c:pt idx="180">
                  <c:v>57.5</c:v>
                </c:pt>
                <c:pt idx="181">
                  <c:v>57.7</c:v>
                </c:pt>
                <c:pt idx="182">
                  <c:v>57.9</c:v>
                </c:pt>
                <c:pt idx="183">
                  <c:v>57.8</c:v>
                </c:pt>
                <c:pt idx="184">
                  <c:v>58.1</c:v>
                </c:pt>
                <c:pt idx="185">
                  <c:v>58.1</c:v>
                </c:pt>
                <c:pt idx="186">
                  <c:v>58.3</c:v>
                </c:pt>
                <c:pt idx="187">
                  <c:v>58.4</c:v>
                </c:pt>
                <c:pt idx="188">
                  <c:v>58.5</c:v>
                </c:pt>
                <c:pt idx="189">
                  <c:v>58.8</c:v>
                </c:pt>
                <c:pt idx="190">
                  <c:v>58.9</c:v>
                </c:pt>
                <c:pt idx="191">
                  <c:v>59.1</c:v>
                </c:pt>
                <c:pt idx="192">
                  <c:v>59.3</c:v>
                </c:pt>
                <c:pt idx="193">
                  <c:v>59.2</c:v>
                </c:pt>
                <c:pt idx="194">
                  <c:v>59.5</c:v>
                </c:pt>
                <c:pt idx="195">
                  <c:v>59.7</c:v>
                </c:pt>
                <c:pt idx="196">
                  <c:v>59.8</c:v>
                </c:pt>
                <c:pt idx="197">
                  <c:v>60.1</c:v>
                </c:pt>
                <c:pt idx="198">
                  <c:v>60.0</c:v>
                </c:pt>
                <c:pt idx="199">
                  <c:v>60.2</c:v>
                </c:pt>
                <c:pt idx="200">
                  <c:v>60.5</c:v>
                </c:pt>
                <c:pt idx="201">
                  <c:v>60.8</c:v>
                </c:pt>
                <c:pt idx="202">
                  <c:v>60.5</c:v>
                </c:pt>
                <c:pt idx="203">
                  <c:v>60.8</c:v>
                </c:pt>
                <c:pt idx="204">
                  <c:v>60.9</c:v>
                </c:pt>
                <c:pt idx="205">
                  <c:v>61.2</c:v>
                </c:pt>
                <c:pt idx="206">
                  <c:v>61.3</c:v>
                </c:pt>
                <c:pt idx="207">
                  <c:v>61.5</c:v>
                </c:pt>
                <c:pt idx="208">
                  <c:v>61.6</c:v>
                </c:pt>
                <c:pt idx="209">
                  <c:v>61.5</c:v>
                </c:pt>
                <c:pt idx="210">
                  <c:v>62.0</c:v>
                </c:pt>
                <c:pt idx="211">
                  <c:v>62.1</c:v>
                </c:pt>
                <c:pt idx="212">
                  <c:v>62.0</c:v>
                </c:pt>
                <c:pt idx="213">
                  <c:v>62.4</c:v>
                </c:pt>
                <c:pt idx="214">
                  <c:v>62.5</c:v>
                </c:pt>
                <c:pt idx="215">
                  <c:v>62.7</c:v>
                </c:pt>
                <c:pt idx="216">
                  <c:v>62.9</c:v>
                </c:pt>
                <c:pt idx="217">
                  <c:v>63.2</c:v>
                </c:pt>
                <c:pt idx="218">
                  <c:v>63.1</c:v>
                </c:pt>
                <c:pt idx="219">
                  <c:v>63.4</c:v>
                </c:pt>
                <c:pt idx="220">
                  <c:v>63.4</c:v>
                </c:pt>
                <c:pt idx="221">
                  <c:v>63.5</c:v>
                </c:pt>
                <c:pt idx="222">
                  <c:v>63.7</c:v>
                </c:pt>
                <c:pt idx="223">
                  <c:v>63.8</c:v>
                </c:pt>
                <c:pt idx="224">
                  <c:v>64.3</c:v>
                </c:pt>
                <c:pt idx="225">
                  <c:v>64.4</c:v>
                </c:pt>
                <c:pt idx="226">
                  <c:v>64.3</c:v>
                </c:pt>
                <c:pt idx="227">
                  <c:v>64.7</c:v>
                </c:pt>
                <c:pt idx="228">
                  <c:v>64.7</c:v>
                </c:pt>
                <c:pt idx="229">
                  <c:v>65.1</c:v>
                </c:pt>
                <c:pt idx="230">
                  <c:v>65.0</c:v>
                </c:pt>
                <c:pt idx="231">
                  <c:v>65.2</c:v>
                </c:pt>
                <c:pt idx="232">
                  <c:v>65.4</c:v>
                </c:pt>
                <c:pt idx="233">
                  <c:v>65.6</c:v>
                </c:pt>
                <c:pt idx="234">
                  <c:v>65.8</c:v>
                </c:pt>
                <c:pt idx="235">
                  <c:v>65.9</c:v>
                </c:pt>
                <c:pt idx="236">
                  <c:v>65.8</c:v>
                </c:pt>
                <c:pt idx="237">
                  <c:v>66.2</c:v>
                </c:pt>
                <c:pt idx="238">
                  <c:v>66.1</c:v>
                </c:pt>
                <c:pt idx="239">
                  <c:v>66.5</c:v>
                </c:pt>
                <c:pt idx="240">
                  <c:v>66.6</c:v>
                </c:pt>
                <c:pt idx="241">
                  <c:v>66.5</c:v>
                </c:pt>
                <c:pt idx="242">
                  <c:v>66.5</c:v>
                </c:pt>
                <c:pt idx="243">
                  <c:v>66.7</c:v>
                </c:pt>
                <c:pt idx="244">
                  <c:v>66.6</c:v>
                </c:pt>
                <c:pt idx="245">
                  <c:v>66.5</c:v>
                </c:pt>
                <c:pt idx="246">
                  <c:v>66.7</c:v>
                </c:pt>
                <c:pt idx="247">
                  <c:v>66.7</c:v>
                </c:pt>
                <c:pt idx="248">
                  <c:v>66.7</c:v>
                </c:pt>
                <c:pt idx="249">
                  <c:v>66.6</c:v>
                </c:pt>
                <c:pt idx="250">
                  <c:v>66.7</c:v>
                </c:pt>
                <c:pt idx="251">
                  <c:v>66.8</c:v>
                </c:pt>
                <c:pt idx="252">
                  <c:v>66.7</c:v>
                </c:pt>
                <c:pt idx="253">
                  <c:v>66.5</c:v>
                </c:pt>
                <c:pt idx="254">
                  <c:v>66.4</c:v>
                </c:pt>
                <c:pt idx="255">
                  <c:v>66.3</c:v>
                </c:pt>
                <c:pt idx="256">
                  <c:v>66.4</c:v>
                </c:pt>
                <c:pt idx="257">
                  <c:v>66.2</c:v>
                </c:pt>
                <c:pt idx="258">
                  <c:v>66.0</c:v>
                </c:pt>
                <c:pt idx="259">
                  <c:v>65.9</c:v>
                </c:pt>
                <c:pt idx="260">
                  <c:v>65.7</c:v>
                </c:pt>
                <c:pt idx="261">
                  <c:v>65.9</c:v>
                </c:pt>
                <c:pt idx="262">
                  <c:v>65.5</c:v>
                </c:pt>
                <c:pt idx="263">
                  <c:v>65.2</c:v>
                </c:pt>
                <c:pt idx="264">
                  <c:v>65.1</c:v>
                </c:pt>
                <c:pt idx="265">
                  <c:v>64.7</c:v>
                </c:pt>
                <c:pt idx="266">
                  <c:v>64.6</c:v>
                </c:pt>
                <c:pt idx="267">
                  <c:v>64.5</c:v>
                </c:pt>
                <c:pt idx="268">
                  <c:v>64.2</c:v>
                </c:pt>
                <c:pt idx="269">
                  <c:v>64.0</c:v>
                </c:pt>
                <c:pt idx="270">
                  <c:v>63.8</c:v>
                </c:pt>
                <c:pt idx="271">
                  <c:v>63.3</c:v>
                </c:pt>
                <c:pt idx="272">
                  <c:v>63.3</c:v>
                </c:pt>
                <c:pt idx="273">
                  <c:v>63.0</c:v>
                </c:pt>
                <c:pt idx="274">
                  <c:v>62.9</c:v>
                </c:pt>
                <c:pt idx="275">
                  <c:v>62.3</c:v>
                </c:pt>
                <c:pt idx="276">
                  <c:v>62.3</c:v>
                </c:pt>
                <c:pt idx="277">
                  <c:v>61.8</c:v>
                </c:pt>
                <c:pt idx="278">
                  <c:v>61.7</c:v>
                </c:pt>
                <c:pt idx="279">
                  <c:v>61.3</c:v>
                </c:pt>
                <c:pt idx="280">
                  <c:v>61.0</c:v>
                </c:pt>
                <c:pt idx="281">
                  <c:v>60.7</c:v>
                </c:pt>
                <c:pt idx="282">
                  <c:v>60.5</c:v>
                </c:pt>
                <c:pt idx="283">
                  <c:v>60.3</c:v>
                </c:pt>
                <c:pt idx="284">
                  <c:v>60.0</c:v>
                </c:pt>
                <c:pt idx="285">
                  <c:v>59.6</c:v>
                </c:pt>
                <c:pt idx="286">
                  <c:v>59.4</c:v>
                </c:pt>
                <c:pt idx="287">
                  <c:v>59.1</c:v>
                </c:pt>
              </c:numCache>
            </c:numRef>
          </c:val>
          <c:smooth val="0"/>
        </c:ser>
        <c:ser>
          <c:idx val="1"/>
          <c:order val="1"/>
          <c:tx>
            <c:strRef>
              <c:f>Sheet1!$C$1</c:f>
              <c:strCache>
                <c:ptCount val="1"/>
                <c:pt idx="0">
                  <c:v>Expected top-oil</c:v>
                </c:pt>
              </c:strCache>
            </c:strRef>
          </c:tx>
          <c:spPr>
            <a:ln w="22225">
              <a:solidFill>
                <a:srgbClr val="D46A12"/>
              </a:solidFill>
              <a:prstDash val="dash"/>
            </a:ln>
          </c:spPr>
          <c:marker>
            <c:symbol val="none"/>
          </c:marker>
          <c:cat>
            <c:strRef>
              <c:f>Sheet1!$A$2:$A$289</c:f>
              <c:strCache>
                <c:ptCount val="288"/>
                <c:pt idx="0">
                  <c:v>00:00</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 </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04:00</c:v>
                </c:pt>
                <c:pt idx="49">
                  <c:v> </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 </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08:00</c:v>
                </c:pt>
                <c:pt idx="97">
                  <c:v> </c:v>
                </c:pt>
                <c:pt idx="98">
                  <c:v> </c:v>
                </c:pt>
                <c:pt idx="99">
                  <c:v> </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 </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12:00</c:v>
                </c:pt>
                <c:pt idx="145">
                  <c:v> </c:v>
                </c:pt>
                <c:pt idx="146">
                  <c:v> </c:v>
                </c:pt>
                <c:pt idx="147">
                  <c:v> </c:v>
                </c:pt>
                <c:pt idx="148">
                  <c:v> </c:v>
                </c:pt>
                <c:pt idx="149">
                  <c:v> </c:v>
                </c:pt>
                <c:pt idx="150">
                  <c:v> </c:v>
                </c:pt>
                <c:pt idx="151">
                  <c:v> </c:v>
                </c:pt>
                <c:pt idx="152">
                  <c:v> </c:v>
                </c:pt>
                <c:pt idx="153">
                  <c:v> </c:v>
                </c:pt>
                <c:pt idx="154">
                  <c:v> </c:v>
                </c:pt>
                <c:pt idx="155">
                  <c:v> </c:v>
                </c:pt>
                <c:pt idx="156">
                  <c:v> </c:v>
                </c:pt>
                <c:pt idx="157">
                  <c:v> </c:v>
                </c:pt>
                <c:pt idx="158">
                  <c:v> </c:v>
                </c:pt>
                <c:pt idx="159">
                  <c:v> </c:v>
                </c:pt>
                <c:pt idx="160">
                  <c:v> </c:v>
                </c:pt>
                <c:pt idx="161">
                  <c:v> </c:v>
                </c:pt>
                <c:pt idx="162">
                  <c:v> </c:v>
                </c:pt>
                <c:pt idx="163">
                  <c:v> </c:v>
                </c:pt>
                <c:pt idx="164">
                  <c:v> </c:v>
                </c:pt>
                <c:pt idx="165">
                  <c:v> </c:v>
                </c:pt>
                <c:pt idx="166">
                  <c:v> </c:v>
                </c:pt>
                <c:pt idx="167">
                  <c:v> </c:v>
                </c:pt>
                <c:pt idx="168">
                  <c:v> </c:v>
                </c:pt>
                <c:pt idx="169">
                  <c:v> </c:v>
                </c:pt>
                <c:pt idx="170">
                  <c:v> </c:v>
                </c:pt>
                <c:pt idx="171">
                  <c:v> </c:v>
                </c:pt>
                <c:pt idx="172">
                  <c:v> </c:v>
                </c:pt>
                <c:pt idx="173">
                  <c:v> </c:v>
                </c:pt>
                <c:pt idx="174">
                  <c:v> </c:v>
                </c:pt>
                <c:pt idx="175">
                  <c:v> </c:v>
                </c:pt>
                <c:pt idx="176">
                  <c:v> </c:v>
                </c:pt>
                <c:pt idx="177">
                  <c:v> </c:v>
                </c:pt>
                <c:pt idx="178">
                  <c:v> </c:v>
                </c:pt>
                <c:pt idx="179">
                  <c:v> </c:v>
                </c:pt>
                <c:pt idx="180">
                  <c:v> </c:v>
                </c:pt>
                <c:pt idx="181">
                  <c:v> </c:v>
                </c:pt>
                <c:pt idx="182">
                  <c:v> </c:v>
                </c:pt>
                <c:pt idx="183">
                  <c:v> </c:v>
                </c:pt>
                <c:pt idx="184">
                  <c:v> </c:v>
                </c:pt>
                <c:pt idx="185">
                  <c:v> </c:v>
                </c:pt>
                <c:pt idx="186">
                  <c:v> </c:v>
                </c:pt>
                <c:pt idx="187">
                  <c:v> </c:v>
                </c:pt>
                <c:pt idx="188">
                  <c:v> </c:v>
                </c:pt>
                <c:pt idx="189">
                  <c:v> </c:v>
                </c:pt>
                <c:pt idx="190">
                  <c:v> </c:v>
                </c:pt>
                <c:pt idx="191">
                  <c:v> </c:v>
                </c:pt>
                <c:pt idx="192">
                  <c:v>16:00</c:v>
                </c:pt>
                <c:pt idx="193">
                  <c:v> </c:v>
                </c:pt>
                <c:pt idx="194">
                  <c:v> </c:v>
                </c:pt>
                <c:pt idx="195">
                  <c:v> </c:v>
                </c:pt>
                <c:pt idx="196">
                  <c:v> </c:v>
                </c:pt>
                <c:pt idx="197">
                  <c:v> </c:v>
                </c:pt>
                <c:pt idx="198">
                  <c:v> </c:v>
                </c:pt>
                <c:pt idx="199">
                  <c:v> </c:v>
                </c:pt>
                <c:pt idx="200">
                  <c:v> </c:v>
                </c:pt>
                <c:pt idx="201">
                  <c:v> </c:v>
                </c:pt>
                <c:pt idx="202">
                  <c:v> </c:v>
                </c:pt>
                <c:pt idx="203">
                  <c:v> </c:v>
                </c:pt>
                <c:pt idx="204">
                  <c:v> </c:v>
                </c:pt>
                <c:pt idx="205">
                  <c:v> </c:v>
                </c:pt>
                <c:pt idx="206">
                  <c:v> </c:v>
                </c:pt>
                <c:pt idx="207">
                  <c:v> </c:v>
                </c:pt>
                <c:pt idx="208">
                  <c:v> </c:v>
                </c:pt>
                <c:pt idx="209">
                  <c:v> </c:v>
                </c:pt>
                <c:pt idx="210">
                  <c:v> </c:v>
                </c:pt>
                <c:pt idx="211">
                  <c:v> </c:v>
                </c:pt>
                <c:pt idx="212">
                  <c:v> </c:v>
                </c:pt>
                <c:pt idx="213">
                  <c:v> </c:v>
                </c:pt>
                <c:pt idx="214">
                  <c:v> </c:v>
                </c:pt>
                <c:pt idx="215">
                  <c:v> </c:v>
                </c:pt>
                <c:pt idx="216">
                  <c:v> </c:v>
                </c:pt>
                <c:pt idx="217">
                  <c:v> </c:v>
                </c:pt>
                <c:pt idx="218">
                  <c:v> </c:v>
                </c:pt>
                <c:pt idx="219">
                  <c:v> </c:v>
                </c:pt>
                <c:pt idx="220">
                  <c:v> </c:v>
                </c:pt>
                <c:pt idx="221">
                  <c:v> </c:v>
                </c:pt>
                <c:pt idx="222">
                  <c:v> </c:v>
                </c:pt>
                <c:pt idx="223">
                  <c:v> </c:v>
                </c:pt>
                <c:pt idx="224">
                  <c:v> </c:v>
                </c:pt>
                <c:pt idx="225">
                  <c:v> </c:v>
                </c:pt>
                <c:pt idx="226">
                  <c:v> </c:v>
                </c:pt>
                <c:pt idx="227">
                  <c:v> </c:v>
                </c:pt>
                <c:pt idx="228">
                  <c:v> </c:v>
                </c:pt>
                <c:pt idx="229">
                  <c:v> </c:v>
                </c:pt>
                <c:pt idx="230">
                  <c:v> </c:v>
                </c:pt>
                <c:pt idx="231">
                  <c:v> </c:v>
                </c:pt>
                <c:pt idx="232">
                  <c:v> </c:v>
                </c:pt>
                <c:pt idx="233">
                  <c:v> </c:v>
                </c:pt>
                <c:pt idx="234">
                  <c:v> </c:v>
                </c:pt>
                <c:pt idx="235">
                  <c:v> </c:v>
                </c:pt>
                <c:pt idx="236">
                  <c:v> </c:v>
                </c:pt>
                <c:pt idx="237">
                  <c:v> </c:v>
                </c:pt>
                <c:pt idx="238">
                  <c:v> </c:v>
                </c:pt>
                <c:pt idx="239">
                  <c:v> </c:v>
                </c:pt>
                <c:pt idx="240">
                  <c:v>20:00</c:v>
                </c:pt>
                <c:pt idx="241">
                  <c:v> </c:v>
                </c:pt>
                <c:pt idx="242">
                  <c:v> </c:v>
                </c:pt>
                <c:pt idx="243">
                  <c:v> </c:v>
                </c:pt>
                <c:pt idx="244">
                  <c:v> </c:v>
                </c:pt>
                <c:pt idx="245">
                  <c:v> </c:v>
                </c:pt>
                <c:pt idx="246">
                  <c:v> </c:v>
                </c:pt>
                <c:pt idx="247">
                  <c:v> </c:v>
                </c:pt>
                <c:pt idx="248">
                  <c:v> </c:v>
                </c:pt>
                <c:pt idx="249">
                  <c:v> </c:v>
                </c:pt>
                <c:pt idx="250">
                  <c:v> </c:v>
                </c:pt>
                <c:pt idx="251">
                  <c:v> </c:v>
                </c:pt>
                <c:pt idx="252">
                  <c:v> </c:v>
                </c:pt>
                <c:pt idx="253">
                  <c:v> </c:v>
                </c:pt>
                <c:pt idx="254">
                  <c:v> </c:v>
                </c:pt>
                <c:pt idx="255">
                  <c:v> </c:v>
                </c:pt>
                <c:pt idx="256">
                  <c:v> </c:v>
                </c:pt>
                <c:pt idx="257">
                  <c:v> </c:v>
                </c:pt>
                <c:pt idx="258">
                  <c:v> </c:v>
                </c:pt>
                <c:pt idx="259">
                  <c:v> </c:v>
                </c:pt>
                <c:pt idx="260">
                  <c:v> </c:v>
                </c:pt>
                <c:pt idx="261">
                  <c:v> </c:v>
                </c:pt>
                <c:pt idx="262">
                  <c:v> </c:v>
                </c:pt>
                <c:pt idx="263">
                  <c:v> </c:v>
                </c:pt>
                <c:pt idx="264">
                  <c:v> </c:v>
                </c:pt>
                <c:pt idx="265">
                  <c:v> </c:v>
                </c:pt>
                <c:pt idx="266">
                  <c:v> </c:v>
                </c:pt>
                <c:pt idx="267">
                  <c:v> </c:v>
                </c:pt>
                <c:pt idx="268">
                  <c:v> </c:v>
                </c:pt>
                <c:pt idx="269">
                  <c:v> </c:v>
                </c:pt>
                <c:pt idx="270">
                  <c:v> </c:v>
                </c:pt>
                <c:pt idx="271">
                  <c:v> </c:v>
                </c:pt>
                <c:pt idx="272">
                  <c:v> </c:v>
                </c:pt>
                <c:pt idx="273">
                  <c:v> </c:v>
                </c:pt>
                <c:pt idx="274">
                  <c:v> </c:v>
                </c:pt>
                <c:pt idx="275">
                  <c:v> </c:v>
                </c:pt>
                <c:pt idx="276">
                  <c:v> </c:v>
                </c:pt>
                <c:pt idx="277">
                  <c:v> </c:v>
                </c:pt>
                <c:pt idx="278">
                  <c:v> </c:v>
                </c:pt>
                <c:pt idx="279">
                  <c:v> </c:v>
                </c:pt>
                <c:pt idx="280">
                  <c:v> </c:v>
                </c:pt>
                <c:pt idx="281">
                  <c:v> </c:v>
                </c:pt>
                <c:pt idx="282">
                  <c:v> </c:v>
                </c:pt>
                <c:pt idx="283">
                  <c:v> </c:v>
                </c:pt>
                <c:pt idx="284">
                  <c:v> </c:v>
                </c:pt>
                <c:pt idx="285">
                  <c:v> </c:v>
                </c:pt>
                <c:pt idx="286">
                  <c:v> </c:v>
                </c:pt>
                <c:pt idx="287">
                  <c:v> </c:v>
                </c:pt>
              </c:strCache>
            </c:strRef>
          </c:cat>
          <c:val>
            <c:numRef>
              <c:f>Sheet1!$C$2:$C$289</c:f>
              <c:numCache>
                <c:formatCode>General</c:formatCode>
                <c:ptCount val="288"/>
                <c:pt idx="0">
                  <c:v>39.0</c:v>
                </c:pt>
                <c:pt idx="1">
                  <c:v>39.007117</c:v>
                </c:pt>
                <c:pt idx="2">
                  <c:v>39.011566</c:v>
                </c:pt>
                <c:pt idx="3">
                  <c:v>39.018365</c:v>
                </c:pt>
                <c:pt idx="4">
                  <c:v>39.02146</c:v>
                </c:pt>
                <c:pt idx="5">
                  <c:v>39.014363</c:v>
                </c:pt>
                <c:pt idx="6">
                  <c:v>39.004255</c:v>
                </c:pt>
                <c:pt idx="7">
                  <c:v>39.003576</c:v>
                </c:pt>
                <c:pt idx="8">
                  <c:v>38.995415</c:v>
                </c:pt>
                <c:pt idx="9">
                  <c:v>38.986311</c:v>
                </c:pt>
                <c:pt idx="10">
                  <c:v>38.972371</c:v>
                </c:pt>
                <c:pt idx="11">
                  <c:v>38.9583</c:v>
                </c:pt>
                <c:pt idx="12">
                  <c:v>38.942882</c:v>
                </c:pt>
                <c:pt idx="13">
                  <c:v>38.926554</c:v>
                </c:pt>
                <c:pt idx="14">
                  <c:v>38.909849</c:v>
                </c:pt>
                <c:pt idx="15">
                  <c:v>38.8908</c:v>
                </c:pt>
                <c:pt idx="16">
                  <c:v>38.875185</c:v>
                </c:pt>
                <c:pt idx="17">
                  <c:v>38.853378</c:v>
                </c:pt>
                <c:pt idx="18">
                  <c:v>38.831772</c:v>
                </c:pt>
                <c:pt idx="19">
                  <c:v>38.813848</c:v>
                </c:pt>
                <c:pt idx="20">
                  <c:v>38.801674</c:v>
                </c:pt>
                <c:pt idx="21">
                  <c:v>38.770023</c:v>
                </c:pt>
                <c:pt idx="22">
                  <c:v>38.751532</c:v>
                </c:pt>
                <c:pt idx="23">
                  <c:v>38.727633</c:v>
                </c:pt>
                <c:pt idx="24">
                  <c:v>38.696981</c:v>
                </c:pt>
                <c:pt idx="25">
                  <c:v>38.667414</c:v>
                </c:pt>
                <c:pt idx="26">
                  <c:v>38.636705</c:v>
                </c:pt>
                <c:pt idx="27">
                  <c:v>38.607594</c:v>
                </c:pt>
                <c:pt idx="28">
                  <c:v>38.580116</c:v>
                </c:pt>
                <c:pt idx="29">
                  <c:v>38.553052</c:v>
                </c:pt>
                <c:pt idx="30">
                  <c:v>38.532081</c:v>
                </c:pt>
                <c:pt idx="31">
                  <c:v>38.502059</c:v>
                </c:pt>
                <c:pt idx="32">
                  <c:v>38.476692</c:v>
                </c:pt>
                <c:pt idx="33">
                  <c:v>38.448234</c:v>
                </c:pt>
                <c:pt idx="34">
                  <c:v>38.426017</c:v>
                </c:pt>
                <c:pt idx="35">
                  <c:v>38.404228</c:v>
                </c:pt>
                <c:pt idx="36">
                  <c:v>38.383851</c:v>
                </c:pt>
                <c:pt idx="37">
                  <c:v>38.358511</c:v>
                </c:pt>
                <c:pt idx="38">
                  <c:v>38.338033</c:v>
                </c:pt>
                <c:pt idx="39">
                  <c:v>38.316217</c:v>
                </c:pt>
                <c:pt idx="40">
                  <c:v>38.295394</c:v>
                </c:pt>
                <c:pt idx="41">
                  <c:v>38.274656</c:v>
                </c:pt>
                <c:pt idx="42">
                  <c:v>38.255397</c:v>
                </c:pt>
                <c:pt idx="43">
                  <c:v>38.243005</c:v>
                </c:pt>
                <c:pt idx="44">
                  <c:v>38.2284</c:v>
                </c:pt>
                <c:pt idx="45">
                  <c:v>38.219699</c:v>
                </c:pt>
                <c:pt idx="46">
                  <c:v>38.220108</c:v>
                </c:pt>
                <c:pt idx="47">
                  <c:v>38.221538</c:v>
                </c:pt>
                <c:pt idx="48">
                  <c:v>38.227954</c:v>
                </c:pt>
                <c:pt idx="49">
                  <c:v>38.230091</c:v>
                </c:pt>
                <c:pt idx="50">
                  <c:v>38.233301</c:v>
                </c:pt>
                <c:pt idx="51">
                  <c:v>38.235986</c:v>
                </c:pt>
                <c:pt idx="52">
                  <c:v>38.2441</c:v>
                </c:pt>
                <c:pt idx="53">
                  <c:v>38.248785</c:v>
                </c:pt>
                <c:pt idx="54">
                  <c:v>38.262719</c:v>
                </c:pt>
                <c:pt idx="55">
                  <c:v>38.274783</c:v>
                </c:pt>
                <c:pt idx="56">
                  <c:v>38.281137</c:v>
                </c:pt>
                <c:pt idx="57">
                  <c:v>38.294807</c:v>
                </c:pt>
                <c:pt idx="58">
                  <c:v>38.307286</c:v>
                </c:pt>
                <c:pt idx="59">
                  <c:v>38.326475</c:v>
                </c:pt>
                <c:pt idx="60">
                  <c:v>38.352056</c:v>
                </c:pt>
                <c:pt idx="61">
                  <c:v>38.380829</c:v>
                </c:pt>
                <c:pt idx="62">
                  <c:v>38.409245</c:v>
                </c:pt>
                <c:pt idx="63">
                  <c:v>38.438714</c:v>
                </c:pt>
                <c:pt idx="64">
                  <c:v>38.473322</c:v>
                </c:pt>
                <c:pt idx="65">
                  <c:v>38.504729</c:v>
                </c:pt>
                <c:pt idx="66">
                  <c:v>38.533279</c:v>
                </c:pt>
                <c:pt idx="67">
                  <c:v>38.573257</c:v>
                </c:pt>
                <c:pt idx="68">
                  <c:v>38.61101</c:v>
                </c:pt>
                <c:pt idx="69">
                  <c:v>38.645482</c:v>
                </c:pt>
                <c:pt idx="70">
                  <c:v>38.682168</c:v>
                </c:pt>
                <c:pt idx="71">
                  <c:v>38.717545</c:v>
                </c:pt>
                <c:pt idx="72">
                  <c:v>38.759115</c:v>
                </c:pt>
                <c:pt idx="73">
                  <c:v>38.798048</c:v>
                </c:pt>
                <c:pt idx="74">
                  <c:v>38.850006</c:v>
                </c:pt>
                <c:pt idx="75">
                  <c:v>38.899876</c:v>
                </c:pt>
                <c:pt idx="76">
                  <c:v>38.946167</c:v>
                </c:pt>
                <c:pt idx="77">
                  <c:v>39.002978</c:v>
                </c:pt>
                <c:pt idx="78">
                  <c:v>39.062954</c:v>
                </c:pt>
                <c:pt idx="79">
                  <c:v>39.12601</c:v>
                </c:pt>
                <c:pt idx="80">
                  <c:v>39.188435</c:v>
                </c:pt>
                <c:pt idx="81">
                  <c:v>39.254852</c:v>
                </c:pt>
                <c:pt idx="82">
                  <c:v>39.32506</c:v>
                </c:pt>
                <c:pt idx="83">
                  <c:v>39.39743</c:v>
                </c:pt>
                <c:pt idx="84">
                  <c:v>39.470499</c:v>
                </c:pt>
                <c:pt idx="85">
                  <c:v>39.541731</c:v>
                </c:pt>
                <c:pt idx="86">
                  <c:v>39.618553</c:v>
                </c:pt>
                <c:pt idx="87">
                  <c:v>39.698511</c:v>
                </c:pt>
                <c:pt idx="88">
                  <c:v>39.781601</c:v>
                </c:pt>
                <c:pt idx="89">
                  <c:v>39.864296</c:v>
                </c:pt>
                <c:pt idx="90">
                  <c:v>39.951188</c:v>
                </c:pt>
                <c:pt idx="91">
                  <c:v>40.043685</c:v>
                </c:pt>
                <c:pt idx="92">
                  <c:v>40.137013</c:v>
                </c:pt>
                <c:pt idx="93">
                  <c:v>40.227496</c:v>
                </c:pt>
                <c:pt idx="94">
                  <c:v>40.32356</c:v>
                </c:pt>
                <c:pt idx="95">
                  <c:v>40.423452</c:v>
                </c:pt>
                <c:pt idx="96">
                  <c:v>40.522657</c:v>
                </c:pt>
                <c:pt idx="97">
                  <c:v>40.632726</c:v>
                </c:pt>
                <c:pt idx="98">
                  <c:v>40.729275</c:v>
                </c:pt>
                <c:pt idx="99">
                  <c:v>40.83671</c:v>
                </c:pt>
                <c:pt idx="100">
                  <c:v>40.951287</c:v>
                </c:pt>
                <c:pt idx="101">
                  <c:v>41.068417</c:v>
                </c:pt>
                <c:pt idx="102">
                  <c:v>41.185302</c:v>
                </c:pt>
                <c:pt idx="103">
                  <c:v>41.306053</c:v>
                </c:pt>
                <c:pt idx="104">
                  <c:v>41.41247</c:v>
                </c:pt>
                <c:pt idx="105">
                  <c:v>41.531184</c:v>
                </c:pt>
                <c:pt idx="106">
                  <c:v>41.648905</c:v>
                </c:pt>
                <c:pt idx="107">
                  <c:v>41.76752</c:v>
                </c:pt>
                <c:pt idx="108">
                  <c:v>41.89233</c:v>
                </c:pt>
                <c:pt idx="109">
                  <c:v>42.022495</c:v>
                </c:pt>
                <c:pt idx="110">
                  <c:v>42.15842</c:v>
                </c:pt>
                <c:pt idx="111">
                  <c:v>42.29549</c:v>
                </c:pt>
                <c:pt idx="112">
                  <c:v>42.428388</c:v>
                </c:pt>
                <c:pt idx="113">
                  <c:v>42.560969</c:v>
                </c:pt>
                <c:pt idx="114">
                  <c:v>42.698927</c:v>
                </c:pt>
                <c:pt idx="115">
                  <c:v>42.843304</c:v>
                </c:pt>
                <c:pt idx="116">
                  <c:v>42.990276</c:v>
                </c:pt>
                <c:pt idx="117">
                  <c:v>43.134979</c:v>
                </c:pt>
                <c:pt idx="118">
                  <c:v>43.280753</c:v>
                </c:pt>
                <c:pt idx="119">
                  <c:v>43.417572</c:v>
                </c:pt>
                <c:pt idx="120">
                  <c:v>43.560886</c:v>
                </c:pt>
                <c:pt idx="121">
                  <c:v>43.704568</c:v>
                </c:pt>
                <c:pt idx="122">
                  <c:v>43.850043</c:v>
                </c:pt>
                <c:pt idx="123">
                  <c:v>43.999775</c:v>
                </c:pt>
                <c:pt idx="124">
                  <c:v>44.154916</c:v>
                </c:pt>
                <c:pt idx="125">
                  <c:v>44.312956</c:v>
                </c:pt>
                <c:pt idx="126">
                  <c:v>44.467729</c:v>
                </c:pt>
                <c:pt idx="127">
                  <c:v>44.6274</c:v>
                </c:pt>
                <c:pt idx="128">
                  <c:v>44.788558</c:v>
                </c:pt>
                <c:pt idx="129">
                  <c:v>44.946852</c:v>
                </c:pt>
                <c:pt idx="130">
                  <c:v>45.110203</c:v>
                </c:pt>
                <c:pt idx="131">
                  <c:v>45.274845</c:v>
                </c:pt>
                <c:pt idx="132">
                  <c:v>45.432355</c:v>
                </c:pt>
                <c:pt idx="133">
                  <c:v>45.603851</c:v>
                </c:pt>
                <c:pt idx="134">
                  <c:v>45.764096</c:v>
                </c:pt>
                <c:pt idx="135">
                  <c:v>45.932501</c:v>
                </c:pt>
                <c:pt idx="136">
                  <c:v>46.095496</c:v>
                </c:pt>
                <c:pt idx="137">
                  <c:v>46.254825</c:v>
                </c:pt>
                <c:pt idx="138">
                  <c:v>46.408716</c:v>
                </c:pt>
                <c:pt idx="139">
                  <c:v>46.559223</c:v>
                </c:pt>
                <c:pt idx="140">
                  <c:v>46.714088</c:v>
                </c:pt>
                <c:pt idx="141">
                  <c:v>46.871808</c:v>
                </c:pt>
                <c:pt idx="142">
                  <c:v>47.030452</c:v>
                </c:pt>
                <c:pt idx="143">
                  <c:v>47.188337</c:v>
                </c:pt>
                <c:pt idx="144">
                  <c:v>47.343999</c:v>
                </c:pt>
                <c:pt idx="145">
                  <c:v>47.499151</c:v>
                </c:pt>
                <c:pt idx="146">
                  <c:v>47.6579</c:v>
                </c:pt>
                <c:pt idx="147">
                  <c:v>47.80432</c:v>
                </c:pt>
                <c:pt idx="148">
                  <c:v>47.958172</c:v>
                </c:pt>
                <c:pt idx="149">
                  <c:v>48.109581</c:v>
                </c:pt>
                <c:pt idx="150">
                  <c:v>48.26535</c:v>
                </c:pt>
                <c:pt idx="151">
                  <c:v>48.426125</c:v>
                </c:pt>
                <c:pt idx="152">
                  <c:v>48.576218</c:v>
                </c:pt>
                <c:pt idx="153">
                  <c:v>48.730382</c:v>
                </c:pt>
                <c:pt idx="154">
                  <c:v>48.879477</c:v>
                </c:pt>
                <c:pt idx="155">
                  <c:v>49.025487</c:v>
                </c:pt>
                <c:pt idx="156">
                  <c:v>49.171905</c:v>
                </c:pt>
                <c:pt idx="157">
                  <c:v>49.317537</c:v>
                </c:pt>
                <c:pt idx="158">
                  <c:v>49.462027</c:v>
                </c:pt>
                <c:pt idx="159">
                  <c:v>49.60772</c:v>
                </c:pt>
                <c:pt idx="160">
                  <c:v>49.743131</c:v>
                </c:pt>
                <c:pt idx="161">
                  <c:v>49.890218</c:v>
                </c:pt>
                <c:pt idx="162">
                  <c:v>50.022815</c:v>
                </c:pt>
                <c:pt idx="163">
                  <c:v>50.154495</c:v>
                </c:pt>
                <c:pt idx="164">
                  <c:v>50.291864</c:v>
                </c:pt>
                <c:pt idx="165">
                  <c:v>50.419726</c:v>
                </c:pt>
                <c:pt idx="166">
                  <c:v>50.549829</c:v>
                </c:pt>
                <c:pt idx="167">
                  <c:v>50.676308</c:v>
                </c:pt>
                <c:pt idx="168">
                  <c:v>50.796775</c:v>
                </c:pt>
                <c:pt idx="169">
                  <c:v>50.920828</c:v>
                </c:pt>
                <c:pt idx="170">
                  <c:v>51.045561</c:v>
                </c:pt>
                <c:pt idx="171">
                  <c:v>51.165146</c:v>
                </c:pt>
                <c:pt idx="172">
                  <c:v>51.273949</c:v>
                </c:pt>
                <c:pt idx="173">
                  <c:v>51.387062</c:v>
                </c:pt>
                <c:pt idx="174">
                  <c:v>51.493132</c:v>
                </c:pt>
                <c:pt idx="175">
                  <c:v>51.603944</c:v>
                </c:pt>
                <c:pt idx="176">
                  <c:v>51.709187</c:v>
                </c:pt>
                <c:pt idx="177">
                  <c:v>51.803248</c:v>
                </c:pt>
                <c:pt idx="178">
                  <c:v>51.901713</c:v>
                </c:pt>
                <c:pt idx="179">
                  <c:v>51.993891</c:v>
                </c:pt>
                <c:pt idx="180">
                  <c:v>52.086547</c:v>
                </c:pt>
                <c:pt idx="181">
                  <c:v>52.173523</c:v>
                </c:pt>
                <c:pt idx="182">
                  <c:v>52.261338</c:v>
                </c:pt>
                <c:pt idx="183">
                  <c:v>52.341387</c:v>
                </c:pt>
                <c:pt idx="184">
                  <c:v>52.420003</c:v>
                </c:pt>
                <c:pt idx="185">
                  <c:v>52.505656</c:v>
                </c:pt>
                <c:pt idx="186">
                  <c:v>52.591927</c:v>
                </c:pt>
                <c:pt idx="187">
                  <c:v>52.67859</c:v>
                </c:pt>
                <c:pt idx="188">
                  <c:v>52.754782</c:v>
                </c:pt>
                <c:pt idx="189">
                  <c:v>52.830395</c:v>
                </c:pt>
                <c:pt idx="190">
                  <c:v>52.917359</c:v>
                </c:pt>
                <c:pt idx="191">
                  <c:v>53.00066</c:v>
                </c:pt>
                <c:pt idx="192">
                  <c:v>53.07697</c:v>
                </c:pt>
                <c:pt idx="193">
                  <c:v>53.156226</c:v>
                </c:pt>
                <c:pt idx="194">
                  <c:v>53.235409</c:v>
                </c:pt>
                <c:pt idx="195">
                  <c:v>53.31039</c:v>
                </c:pt>
                <c:pt idx="196">
                  <c:v>53.386801</c:v>
                </c:pt>
                <c:pt idx="197">
                  <c:v>53.46901</c:v>
                </c:pt>
                <c:pt idx="198">
                  <c:v>53.545813</c:v>
                </c:pt>
                <c:pt idx="199">
                  <c:v>53.615321</c:v>
                </c:pt>
                <c:pt idx="200">
                  <c:v>53.694369</c:v>
                </c:pt>
                <c:pt idx="201">
                  <c:v>53.779963</c:v>
                </c:pt>
                <c:pt idx="202">
                  <c:v>53.853772</c:v>
                </c:pt>
                <c:pt idx="203">
                  <c:v>53.934776</c:v>
                </c:pt>
                <c:pt idx="204">
                  <c:v>54.014169</c:v>
                </c:pt>
                <c:pt idx="205">
                  <c:v>54.097835</c:v>
                </c:pt>
                <c:pt idx="206">
                  <c:v>54.175723</c:v>
                </c:pt>
                <c:pt idx="207">
                  <c:v>54.255672</c:v>
                </c:pt>
                <c:pt idx="208">
                  <c:v>54.334199</c:v>
                </c:pt>
                <c:pt idx="209">
                  <c:v>54.422343</c:v>
                </c:pt>
                <c:pt idx="210">
                  <c:v>54.508644</c:v>
                </c:pt>
                <c:pt idx="211">
                  <c:v>54.588472</c:v>
                </c:pt>
                <c:pt idx="212">
                  <c:v>54.680283</c:v>
                </c:pt>
                <c:pt idx="213">
                  <c:v>54.766368</c:v>
                </c:pt>
                <c:pt idx="214">
                  <c:v>54.866955</c:v>
                </c:pt>
                <c:pt idx="215">
                  <c:v>54.957099</c:v>
                </c:pt>
                <c:pt idx="216">
                  <c:v>55.049856</c:v>
                </c:pt>
                <c:pt idx="217">
                  <c:v>55.135247</c:v>
                </c:pt>
                <c:pt idx="218">
                  <c:v>55.225297</c:v>
                </c:pt>
                <c:pt idx="219">
                  <c:v>55.328058</c:v>
                </c:pt>
                <c:pt idx="220">
                  <c:v>55.420855</c:v>
                </c:pt>
                <c:pt idx="221">
                  <c:v>55.508198</c:v>
                </c:pt>
                <c:pt idx="222">
                  <c:v>55.594089</c:v>
                </c:pt>
                <c:pt idx="223">
                  <c:v>55.688844</c:v>
                </c:pt>
                <c:pt idx="224">
                  <c:v>55.771789</c:v>
                </c:pt>
                <c:pt idx="225">
                  <c:v>55.858469</c:v>
                </c:pt>
                <c:pt idx="226">
                  <c:v>55.949717</c:v>
                </c:pt>
                <c:pt idx="227">
                  <c:v>56.033815</c:v>
                </c:pt>
                <c:pt idx="228">
                  <c:v>56.117534</c:v>
                </c:pt>
                <c:pt idx="229">
                  <c:v>56.204411</c:v>
                </c:pt>
                <c:pt idx="230">
                  <c:v>56.283127</c:v>
                </c:pt>
                <c:pt idx="231">
                  <c:v>56.365295</c:v>
                </c:pt>
                <c:pt idx="232">
                  <c:v>56.438533</c:v>
                </c:pt>
                <c:pt idx="233">
                  <c:v>56.524764</c:v>
                </c:pt>
                <c:pt idx="234">
                  <c:v>56.604456</c:v>
                </c:pt>
                <c:pt idx="235">
                  <c:v>56.670838</c:v>
                </c:pt>
                <c:pt idx="236">
                  <c:v>56.734402</c:v>
                </c:pt>
                <c:pt idx="237">
                  <c:v>56.79374</c:v>
                </c:pt>
                <c:pt idx="238">
                  <c:v>56.865553</c:v>
                </c:pt>
                <c:pt idx="239">
                  <c:v>56.911618</c:v>
                </c:pt>
                <c:pt idx="240">
                  <c:v>56.955656</c:v>
                </c:pt>
                <c:pt idx="241">
                  <c:v>56.985216</c:v>
                </c:pt>
                <c:pt idx="242">
                  <c:v>57.005307</c:v>
                </c:pt>
                <c:pt idx="243">
                  <c:v>57.013651</c:v>
                </c:pt>
                <c:pt idx="244">
                  <c:v>57.019221</c:v>
                </c:pt>
                <c:pt idx="245">
                  <c:v>57.027514</c:v>
                </c:pt>
                <c:pt idx="246">
                  <c:v>57.018732</c:v>
                </c:pt>
                <c:pt idx="247">
                  <c:v>57.000614</c:v>
                </c:pt>
                <c:pt idx="248">
                  <c:v>56.976574</c:v>
                </c:pt>
                <c:pt idx="249">
                  <c:v>56.945105</c:v>
                </c:pt>
                <c:pt idx="250">
                  <c:v>56.897944</c:v>
                </c:pt>
                <c:pt idx="251">
                  <c:v>56.842923</c:v>
                </c:pt>
                <c:pt idx="252">
                  <c:v>56.792876</c:v>
                </c:pt>
                <c:pt idx="253">
                  <c:v>56.721694</c:v>
                </c:pt>
                <c:pt idx="254">
                  <c:v>56.64237</c:v>
                </c:pt>
                <c:pt idx="255">
                  <c:v>56.555317</c:v>
                </c:pt>
                <c:pt idx="256">
                  <c:v>56.460769</c:v>
                </c:pt>
                <c:pt idx="257">
                  <c:v>56.355127</c:v>
                </c:pt>
                <c:pt idx="258">
                  <c:v>56.238362</c:v>
                </c:pt>
                <c:pt idx="259">
                  <c:v>56.122379</c:v>
                </c:pt>
                <c:pt idx="260">
                  <c:v>55.995148</c:v>
                </c:pt>
                <c:pt idx="261">
                  <c:v>55.854567</c:v>
                </c:pt>
                <c:pt idx="262">
                  <c:v>55.701582</c:v>
                </c:pt>
                <c:pt idx="263">
                  <c:v>55.540053</c:v>
                </c:pt>
                <c:pt idx="264">
                  <c:v>55.365925</c:v>
                </c:pt>
                <c:pt idx="265">
                  <c:v>55.189264</c:v>
                </c:pt>
                <c:pt idx="266">
                  <c:v>55.00996</c:v>
                </c:pt>
                <c:pt idx="267">
                  <c:v>54.825725</c:v>
                </c:pt>
                <c:pt idx="268">
                  <c:v>54.639188</c:v>
                </c:pt>
                <c:pt idx="269">
                  <c:v>54.448945</c:v>
                </c:pt>
                <c:pt idx="270">
                  <c:v>54.254782</c:v>
                </c:pt>
                <c:pt idx="271">
                  <c:v>54.056281</c:v>
                </c:pt>
                <c:pt idx="272">
                  <c:v>53.853819</c:v>
                </c:pt>
                <c:pt idx="273">
                  <c:v>53.652391</c:v>
                </c:pt>
                <c:pt idx="274">
                  <c:v>53.442407</c:v>
                </c:pt>
                <c:pt idx="275">
                  <c:v>53.228919</c:v>
                </c:pt>
                <c:pt idx="276">
                  <c:v>53.018371</c:v>
                </c:pt>
                <c:pt idx="277">
                  <c:v>52.799972</c:v>
                </c:pt>
                <c:pt idx="278">
                  <c:v>52.581197</c:v>
                </c:pt>
                <c:pt idx="279">
                  <c:v>52.358041</c:v>
                </c:pt>
                <c:pt idx="280">
                  <c:v>52.134915</c:v>
                </c:pt>
                <c:pt idx="281">
                  <c:v>51.910909</c:v>
                </c:pt>
                <c:pt idx="282">
                  <c:v>51.67603</c:v>
                </c:pt>
                <c:pt idx="283">
                  <c:v>51.438252</c:v>
                </c:pt>
                <c:pt idx="284">
                  <c:v>51.20619</c:v>
                </c:pt>
                <c:pt idx="285">
                  <c:v>50.975199</c:v>
                </c:pt>
                <c:pt idx="286">
                  <c:v>50.749567</c:v>
                </c:pt>
                <c:pt idx="287">
                  <c:v>50.523896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99999"/>
            </a:solidFill>
          </a:ln>
        </c:spPr>
        <c:txPr>
          <a:bodyPr/>
          <a:lstStyle/>
          <a:p>
            <a:pPr>
              <a:defRPr sz="1000">
                <a:latin typeface="Arial"/>
              </a:defRPr>
            </a:pPr>
          </a:p>
        </c:txPr>
        <c:crossAx val="2140495176"/>
        <c:crosses val="autoZero"/>
        <c:auto val="1"/>
        <c:lblAlgn val="ctr"/>
        <c:lblOffset val="100"/>
        <c:tickLblSkip val="48"/>
        <c:tickMarkSkip val="48"/>
        <c:noMultiLvlLbl val="0"/>
      </c:catAx>
      <c:valAx>
        <c:axId val="2140495176"/>
        <c:scaling>
          <c:max val="80.0"/>
          <c:min val="30.0"/>
        </c:scaling>
        <c:delete val="0"/>
        <c:axPos val="l"/>
        <c:majorGridlines>
          <c:spPr>
            <a:ln>
              <a:solidFill>
                <a:srgbClr val="DDDDDD"/>
              </a:solidFill>
            </a:ln>
          </c:spPr>
        </c:majorGridlines>
        <c:title>
          <c:tx>
            <c:rich>
              <a:bodyPr/>
              <a:lstStyle/>
              <a:p>
                <a:r>
                  <a:rPr sz="1000" b="0">
                    <a:latin typeface="Arial"/>
                  </a:rPr>
                  <a:t>Top-oil (°C)</a:t>
                </a:r>
              </a:p>
            </c:rich>
          </c:tx>
          <c:layout/>
          <c:overlay val="0"/>
        </c:title>
        <c:majorTickMark val="out"/>
        <c:minorTickMark val="none"/>
        <c:tickLblPos val="nextTo"/>
        <c:spPr>
          <a:ln>
            <a:noFill/>
          </a:ln>
        </c:spPr>
        <c:txPr>
          <a:bodyPr/>
          <a:lstStyle/>
          <a:p>
            <a:pPr>
              <a:defRPr sz="1000">
                <a:latin typeface="Arial"/>
              </a:defRPr>
            </a:pPr>
          </a:p>
        </c:txPr>
        <c:crossAx val="2118791784"/>
        <c:crosses val="autoZero"/>
        <c:majorUnit val="10.0"/>
      </c:valAx>
    </c:plotArea>
    <c:legend>
      <c:legendPos val="b"/>
      <c:layout/>
      <c:overlay val="0"/>
      <c:txPr>
        <a:bodyPr/>
        <a:lstStyle/>
        <a:p>
          <a:pPr>
            <a:defRPr sz="105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435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transformer is the physical equipment that supplies electricity. Its digital twin is a software copy that is kept up to date with measurements from the real unit. VoltMind compares what actually happened with what the physics says should have happened, then shows the evidence so an engineer can investigate.</a:t>
            </a:r>
          </a:p>
          <a:p>
            <a:r>
              <a:t>If a judge asks why this is a twin and not a dashboard: a dashboard only shows values. The twin keeps a model in step with the asset, predicts the expected response, and turns the gap into evidence for a decision.</a:t>
            </a:r>
          </a:p>
          <a:p>
            <a:r>
              <a:t>Be clear about scope: today the twin runs on recorded (synthetic) SCADA data replayed in time order. It is decision support. It does not switch or control anything.</a:t>
            </a:r>
          </a:p>
          <a:p>
            <a:r>
              <a:t>SCADA = Supervisory Control and Data Acquisition. Fill in the team line at the bottom before presenting.</a:t>
            </a:r>
          </a:p>
          <a:p>
            <a:r>
              <a:t>Transition: why is a temperature reading on its own not enough?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FF93A-0A9D-D024-ADCE-36EF905AB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16A94-F2E6-1D04-A60A-12AB404D4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AB4A8-4028-1BE4-12D6-2BB53772B42B}"/>
              </a:ext>
            </a:extLst>
          </p:cNvPr>
          <p:cNvSpPr>
            <a:spLocks noGrp="1"/>
          </p:cNvSpPr>
          <p:nvPr>
            <p:ph type="body" idx="1"/>
          </p:nvPr>
        </p:nvSpPr>
        <p:spPr/>
        <p:txBody>
          <a:bodyPr/>
          <a:lstStyle/>
          <a:p>
            <a:r>
              <a:t>Take the 75 °C example and ask what produced it. Heavy load and a hot afternoon could make it normal. The same number on a light-load winter night could be a problem. Oil temperature also reacts slowly, so the recent past matters, and a faulty sensor can imitate an overheating transformer.</a:t>
            </a:r>
          </a:p>
          <a:p>
            <a:r>
              <a:t>Why small gaps matter: IEC 60076-7 describes insulation ageing roughly doubling for every 6 °C of sustained extra hot-spot temperature. We measure top-oil, not hot-spot, so use this as motivation only.</a:t>
            </a:r>
          </a:p>
          <a:p>
            <a:r>
              <a:t>The 1.3 million figure comes from a Mercom India report (28 Nov 2025) on Central Electricity Authority measures. Check the wording against the source before presenting.</a:t>
            </a:r>
          </a:p>
          <a:p>
            <a:r>
              <a:t>Context does not replace protection equipment and does not prove which component failed.</a:t>
            </a:r>
          </a:p>
          <a:p>
            <a:r>
              <a:t>Transition: show how the whole system turns data into evidence.</a:t>
            </a:r>
          </a:p>
        </p:txBody>
      </p:sp>
      <p:sp>
        <p:nvSpPr>
          <p:cNvPr id="4" name="Slide Number Placeholder 3">
            <a:extLst>
              <a:ext uri="{FF2B5EF4-FFF2-40B4-BE49-F238E27FC236}">
                <a16:creationId xmlns:a16="http://schemas.microsoft.com/office/drawing/2014/main" id="{76A13A34-3C34-51B5-AD6A-BD1277EE47D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36913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F7130-0023-493E-7334-B2B1C27BE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87DD0-73E2-E6C4-B2EE-04B7667CA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9B3CE-EEA9-7D69-554F-C19B806E8B76}"/>
              </a:ext>
            </a:extLst>
          </p:cNvPr>
          <p:cNvSpPr>
            <a:spLocks noGrp="1"/>
          </p:cNvSpPr>
          <p:nvPr>
            <p:ph type="body" idx="1"/>
          </p:nvPr>
        </p:nvSpPr>
        <p:spPr/>
        <p:txBody>
          <a:bodyPr/>
          <a:lstStyle/>
          <a:p>
            <a:r>
              <a:t>Follow one file through the system. It enters through the backend. Spring Boot manages the session and proxies a persistent Python service. Python normalises the measurements, runs the thermal physics and the model, and produces the intelligence. React asks for evidence over REST and receives the replay as server-sent events.</a:t>
            </a:r>
          </a:p>
          <a:p>
            <a:r>
              <a:t>SQLite keeps de-duplicated incidents and any maintenance records the engineer types in. Ports: frontend 5173, backend 8080, ML service 8765.</a:t>
            </a:r>
          </a:p>
          <a:p>
            <a:r>
              <a:t>The diagram shows who owns what. It is not an independent live IoT gateway. Live utility ingestion is future work. The assistant is a deterministic local evidence interface, not a general-purpose LLM.</a:t>
            </a:r>
          </a:p>
          <a:p>
            <a:r>
              <a:t>Transition: zoom into the intelligence inside the Python service.</a:t>
            </a:r>
          </a:p>
        </p:txBody>
      </p:sp>
      <p:sp>
        <p:nvSpPr>
          <p:cNvPr id="4" name="Slide Number Placeholder 3">
            <a:extLst>
              <a:ext uri="{FF2B5EF4-FFF2-40B4-BE49-F238E27FC236}">
                <a16:creationId xmlns:a16="http://schemas.microsoft.com/office/drawing/2014/main" id="{D7A55EA8-98FF-FFB9-59F7-B1EE2981B9F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54139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4CF1C-621D-02E3-9C1C-1FAA1A8BE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CE6E7-1625-0F2E-B645-4A6AD9FD36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4E464-12EC-FE64-E134-4D964D0AE34E}"/>
              </a:ext>
            </a:extLst>
          </p:cNvPr>
          <p:cNvSpPr>
            <a:spLocks noGrp="1"/>
          </p:cNvSpPr>
          <p:nvPr>
            <p:ph type="body" idx="1"/>
          </p:nvPr>
        </p:nvSpPr>
        <p:spPr/>
        <p:txBody>
          <a:bodyPr/>
          <a:lstStyle/>
          <a:p>
            <a:r>
              <a:t>Read the top row left to right. Measurements drive a calibrated first-order thermal model that says what top-oil temperature to expect. Actual minus expected is the residual, turned into four features for the 100 kVA Logistic Regression classifier. In parallel, electrical and data-quality checks run on the same data. Their results are kept separate from the classifier so each one can be questioned on its own.</a:t>
            </a:r>
          </a:p>
          <a:p>
            <a:r>
              <a:t>The chart is one synthetic day (288 five-minute readings, no interpolation). From about 12:35 the measured oil runs above the physics expectation and the gap peaks at 10.0 °C at 21:45. Say what it is: a persistent gap that deserves investigation, not a named failure.</a:t>
            </a:r>
          </a:p>
          <a:p>
            <a:r>
              <a:t>Technical detail: next state = alpha x previous state + (1 - alpha) x previous equilibrium, alpha = exp(-5/tau). The Health Index publishes every 24 processed readings. Where data are insufficient the system abstains instead of guessing.</a:t>
            </a:r>
          </a:p>
          <a:p>
            <a:r>
              <a:t>The thermal model uses the same exponential top-oil form as loading guides such as IEC 60076-7 and IEEE C57.91 (loss-ratio load term, exponent 0.8); it is calibrated per asset and is not a certified implementation of either standard. Confirm this wording with the team before presenting.</a:t>
            </a:r>
          </a:p>
          <a:p>
            <a:r>
              <a:t>The Health Index is an engineering observation index. It is not a failure probability, insulation health or remaining useful life.</a:t>
            </a:r>
          </a:p>
          <a:p>
            <a:r>
              <a:t>Transition: what data did we build and test this on?</a:t>
            </a:r>
          </a:p>
        </p:txBody>
      </p:sp>
      <p:sp>
        <p:nvSpPr>
          <p:cNvPr id="4" name="Slide Number Placeholder 3">
            <a:extLst>
              <a:ext uri="{FF2B5EF4-FFF2-40B4-BE49-F238E27FC236}">
                <a16:creationId xmlns:a16="http://schemas.microsoft.com/office/drawing/2014/main" id="{060D5140-8237-D380-5CF6-C5BDC44F663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00529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C187-3D4C-AEF3-19DA-9E755FCA0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4C54-9D94-480F-7E3E-7A564B28B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82B30-D74D-5FCB-5233-AFF9A5ABA496}"/>
              </a:ext>
            </a:extLst>
          </p:cNvPr>
          <p:cNvSpPr>
            <a:spLocks noGrp="1"/>
          </p:cNvSpPr>
          <p:nvPr>
            <p:ph type="body" idx="1"/>
          </p:nvPr>
        </p:nvSpPr>
        <p:spPr/>
        <p:txBody>
          <a:bodyPr/>
          <a:lstStyle/>
          <a:p>
            <a:r>
              <a:t>Row counts are plain arithmetic: replays x days x 288 five-minute readings per day. 100 kVA: 60 x 14 x 288 = 241,920. 250 kVA: 24 x 21 x 288 = 145,152. 630 kVA: 24 x 28 x 288 = 193,536. Total 580,608.</a:t>
            </a:r>
          </a:p>
          <a:p>
            <a:r>
              <a:t>Say clearly that these are synthetic SCADA populations, not field measurements. If asked why synthetic: we know the exact start and type of every injected event, which lets us score detection honestly. Real SCADA rarely comes with that ground truth.</a:t>
            </a:r>
          </a:p>
          <a:p>
            <a:r>
              <a:t>The fresh test set (48,384 rows) was generated and held out after the 100 kVA model was locked.</a:t>
            </a:r>
          </a:p>
          <a:p>
            <a:r>
              <a:t>A dataset can hold more columns than a model uses. Scenario labels and offline channels are in the files, but the 100 kVA classifier only receives four residual features computed from past measurements.</a:t>
            </a:r>
          </a:p>
          <a:p>
            <a:r>
              <a:t>Transition: now the three detectors built on these data.</a:t>
            </a:r>
          </a:p>
        </p:txBody>
      </p:sp>
      <p:sp>
        <p:nvSpPr>
          <p:cNvPr id="4" name="Slide Number Placeholder 3">
            <a:extLst>
              <a:ext uri="{FF2B5EF4-FFF2-40B4-BE49-F238E27FC236}">
                <a16:creationId xmlns:a16="http://schemas.microsoft.com/office/drawing/2014/main" id="{9039AEB4-ECBE-CB0E-A01D-E4D348F4FBA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3902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EB0C-BD5D-8E17-C502-10D90E3AE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48F38-45FC-E431-39D0-B174B6AE3D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81CAE-6212-22D1-CC6E-F3E1CF320AE2}"/>
              </a:ext>
            </a:extLst>
          </p:cNvPr>
          <p:cNvSpPr>
            <a:spLocks noGrp="1"/>
          </p:cNvSpPr>
          <p:nvPr>
            <p:ph type="body" idx="1"/>
          </p:nvPr>
        </p:nvSpPr>
        <p:spPr/>
        <p:txBody>
          <a:bodyPr/>
          <a:lstStyle/>
          <a:p>
            <a:r>
              <a:t>Be precise here: we did not train three ML classifiers. We built three rating-specific detection systems. The 100 kVA detector is a Logistic Regression thermal classifier. The 250 kVA detector is a Histogram Gradient Boosting classifier. The 630 kVA detector is a physics-based causal detector, and we label it that way because that is what it is.</a:t>
            </a:r>
          </a:p>
          <a:p>
            <a:r>
              <a:t>Each rating has its own thermal constants, current references and readiness rules, so they are not interchangeable. 100 kVA at 433 V line-to-line gives about 133.3 A rated phase current.</a:t>
            </a:r>
          </a:p>
          <a:p>
            <a:r>
              <a:t>The datasets are different benchmarks, so we do not rank accuracy across ratings. The experimental oil-level and R-terminal heads are separate from the core thermal classifier. We do not claim validated bushing-fault, short-circuit or remaining-life diagnosis.</a:t>
            </a:r>
          </a:p>
          <a:p>
            <a:r>
              <a:t>Transition: show the working 100 kVA application.</a:t>
            </a:r>
          </a:p>
        </p:txBody>
      </p:sp>
      <p:sp>
        <p:nvSpPr>
          <p:cNvPr id="4" name="Slide Number Placeholder 3">
            <a:extLst>
              <a:ext uri="{FF2B5EF4-FFF2-40B4-BE49-F238E27FC236}">
                <a16:creationId xmlns:a16="http://schemas.microsoft.com/office/drawing/2014/main" id="{20E9C3F6-7BC8-682B-D6E4-6DD6A076F17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98618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CAEA-E198-A969-AA41-D310BA124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594F2-76C4-EDBA-3A77-E2D311020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94B6B-F756-E5CB-73FF-ADE3E4E19E18}"/>
              </a:ext>
            </a:extLst>
          </p:cNvPr>
          <p:cNvSpPr>
            <a:spLocks noGrp="1"/>
          </p:cNvSpPr>
          <p:nvPr>
            <p:ph type="body" idx="1"/>
          </p:nvPr>
        </p:nvSpPr>
        <p:spPr/>
        <p:txBody>
          <a:bodyPr/>
          <a:lstStyle/>
          <a:p>
            <a:r>
              <a:t>This is a capture from the running application, not a mock-up. Walk the numbered points: the workspaces across the top, the actual and expected top-oil tiles, the central comparison chart, and the VoltMind Insights panel.</a:t>
            </a:r>
          </a:p>
          <a:p>
            <a:r>
              <a:t>The panel says 4,032 of 4,032 readings processed and 3,830 of 4,032 thermal readings assessable. The remaining readings are explicitly left unassessed. Gaps in the source data are shown as gaps and are never filled in with invented values.</a:t>
            </a:r>
          </a:p>
          <a:p>
            <a:r>
              <a:t>During the live demo: pick a rating, load local or uploaded data, play the replay, pause on a gap between measured and expected oil, open an incident, then ask the assistant 'What faults were detected?' and download the evidence.</a:t>
            </a:r>
          </a:p>
          <a:p>
            <a:r>
              <a:t>The assistant answers supported questions from a local backend summary. It is not a general-purpose LLM.</a:t>
            </a:r>
          </a:p>
          <a:p>
            <a:r>
              <a:t>Keep the live application open in a second window in case the judges want to see another tab.</a:t>
            </a:r>
          </a:p>
        </p:txBody>
      </p:sp>
      <p:sp>
        <p:nvSpPr>
          <p:cNvPr id="4" name="Slide Number Placeholder 3">
            <a:extLst>
              <a:ext uri="{FF2B5EF4-FFF2-40B4-BE49-F238E27FC236}">
                <a16:creationId xmlns:a16="http://schemas.microsoft.com/office/drawing/2014/main" id="{BE110A3A-EB1E-1458-332A-B0639D63F29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77685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9E3F2-E1DC-F2C8-8215-7EB1D0669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68E16-49FA-D5E7-A8C7-D2AD2C26F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522AC-60BE-9FDB-813A-BEC41F5CA358}"/>
              </a:ext>
            </a:extLst>
          </p:cNvPr>
          <p:cNvSpPr>
            <a:spLocks noGrp="1"/>
          </p:cNvSpPr>
          <p:nvPr>
            <p:ph type="body" idx="1"/>
          </p:nvPr>
        </p:nvSpPr>
        <p:spPr/>
        <p:txBody>
          <a:bodyPr/>
          <a:lstStyle/>
          <a:p>
            <a:r>
              <a:t>This is the centrepiece. A normal dashboard tells you something is hot. These five tools help the engineer ask the next question, and each one says what it cannot do.</a:t>
            </a:r>
          </a:p>
          <a:p>
            <a:r>
              <a:t>What-If: simulates a constant-ambient load reduction and compares it with the baseline. It does not predict failure or control equipment.</a:t>
            </a:r>
          </a:p>
          <a:p>
            <a:r>
              <a:t>Sensor Investigator: keeps competing explanations alive instead of picking one. Slow sensor bias may still look like real heating.</a:t>
            </a:r>
          </a:p>
          <a:p>
            <a:r>
              <a:t>Fault Evidence Report: preserves onset, readings, scores, quality and calibration provenance so an alert can be reviewed later.</a:t>
            </a:r>
          </a:p>
          <a:p>
            <a:r>
              <a:t>Falsification Twin: uses recurrence plus logged maintenance. Matching rules: 24-hour windows, load within ten percentage points, ambient within 2 °C, at least 24 matched post-maintenance readings. A repair association is not causal proof.</a:t>
            </a:r>
          </a:p>
          <a:p>
            <a:r>
              <a:t>Thermal DNA: needs at least three clean reference response episodes and three later comparable ones. When the load never excites the transformer enough, it says not ready rather than inventing a reference.</a:t>
            </a:r>
          </a:p>
          <a:p>
            <a:r>
              <a:t>These extend investigation around the frozen classifier. They did not retrain it. Show each on the live app if time allows.</a:t>
            </a:r>
          </a:p>
          <a:p>
            <a:r>
              <a:t>Transition: how do we know the core detector is reliable?</a:t>
            </a:r>
          </a:p>
        </p:txBody>
      </p:sp>
      <p:sp>
        <p:nvSpPr>
          <p:cNvPr id="4" name="Slide Number Placeholder 3">
            <a:extLst>
              <a:ext uri="{FF2B5EF4-FFF2-40B4-BE49-F238E27FC236}">
                <a16:creationId xmlns:a16="http://schemas.microsoft.com/office/drawing/2014/main" id="{A5A87B94-F354-89B9-C220-377DE0B1A90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56915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D2AEC-0B4E-DF77-8BB1-0422848E4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7E805-61D7-CA4A-B251-52B3393FE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DB3231-6A2B-EA1C-B420-03F2DD8F1BD1}"/>
              </a:ext>
            </a:extLst>
          </p:cNvPr>
          <p:cNvSpPr>
            <a:spLocks noGrp="1"/>
          </p:cNvSpPr>
          <p:nvPr>
            <p:ph type="body" idx="1"/>
          </p:nvPr>
        </p:nvSpPr>
        <p:spPr/>
        <p:txBody>
          <a:bodyPr/>
          <a:lstStyle/>
          <a:p>
            <a:r>
              <a:t>Lead with the fresh held-out synthetic test on the 100 kVA flagship: 22 of 23 thermal events detected, 93.1% assessment coverage, and 18 false episodes over 141.8 negative-truth days, which is 0.127 per negative day. A false episode is one continuous run of false alerts. In plain words, on healthy days we expect roughly one false episode every eight days. Label every one of these as a synthetic benchmark result.</a:t>
            </a:r>
          </a:p>
          <a:p>
            <a:r>
              <a:t>The 250 and 630 kVA detectors keep their own locked benchmarks. We do not compare accuracy across ratings.</a:t>
            </a:r>
          </a:p>
          <a:p>
            <a:r>
              <a:t>Be upfront about the trade-off. The original thermal baseline detected 20 of 23 events with 74.8% coverage and 0.0705 false episodes per negative day. VoltMind raises detection and coverage but also the false-alarm burden. Median onset delay is 82.5 minutes and the 90th percentile is 218 minutes.</a:t>
            </a:r>
          </a:p>
          <a:p>
            <a:r>
              <a:t>Kill-First means we attacked our own baseline first, inspected the failures, made only justified improvements, revalidated on fresh data, then locked the artifacts.</a:t>
            </a:r>
          </a:p>
          <a:p>
            <a:r>
              <a:t>The 80 Python and 18 frontend tests are software tests, not evidence of field accuracy. The 209 preserved files cover all ratings and show the locked models were not changed afterwards. The oil head catches 55.2% of oil events when abstentions count, and the terminal head is separate again. We do not claim validated bushing-fault, short-circuit or remaining-useful-life diagnosis, and we have not yet tested on organiser or field data.</a:t>
            </a:r>
          </a:p>
          <a:p>
            <a:r>
              <a:t>Transition: what comes next.</a:t>
            </a:r>
          </a:p>
        </p:txBody>
      </p:sp>
      <p:sp>
        <p:nvSpPr>
          <p:cNvPr id="4" name="Slide Number Placeholder 3">
            <a:extLst>
              <a:ext uri="{FF2B5EF4-FFF2-40B4-BE49-F238E27FC236}">
                <a16:creationId xmlns:a16="http://schemas.microsoft.com/office/drawing/2014/main" id="{298183DE-C5B5-6FC1-DB3F-C9BBE32F238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60710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01A85-A5C4-2BD6-C3F8-A1FC66644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8F772-F683-017C-2A9E-375E382DD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99013-2EF1-ED88-4019-7ECAB7F472A3}"/>
              </a:ext>
            </a:extLst>
          </p:cNvPr>
          <p:cNvSpPr>
            <a:spLocks noGrp="1"/>
          </p:cNvSpPr>
          <p:nvPr>
            <p:ph type="body" idx="1"/>
          </p:nvPr>
        </p:nvSpPr>
        <p:spPr/>
        <p:txBody>
          <a:bodyPr/>
          <a:lstStyle/>
          <a:p>
            <a:r>
              <a:t>Close with what is finished and the next engineering gate: connect independently measured real-asset data, commission the physical transformer, then test the locked models against independent field observations. Only then can operational value be measured.</a:t>
            </a:r>
          </a:p>
          <a:p>
            <a:r>
              <a:t>The ask on the banner is a suggestion. Edit it to match what you actually want from the organisers.</a:t>
            </a:r>
          </a:p>
          <a:p>
            <a:r>
              <a:t>The longer-term aim is a traceable view across many transformers with the engineer in charge. Advanced investigation tools currently exist for 100 kVA only.</a:t>
            </a:r>
          </a:p>
          <a:p>
            <a:r>
              <a:t>We do not claim deployed IoT hardware, physical control, quantified savings, guaranteed failure prediction or validated remaining useful life.</a:t>
            </a:r>
          </a:p>
          <a:p>
            <a:r>
              <a:t>Invite the judges to try the live replay and to ask about input formats, evidence limits or the thermal model.</a:t>
            </a:r>
          </a:p>
        </p:txBody>
      </p:sp>
      <p:sp>
        <p:nvSpPr>
          <p:cNvPr id="4" name="Slide Number Placeholder 3">
            <a:extLst>
              <a:ext uri="{FF2B5EF4-FFF2-40B4-BE49-F238E27FC236}">
                <a16:creationId xmlns:a16="http://schemas.microsoft.com/office/drawing/2014/main" id="{9DE7EC5D-A0E4-AA77-4AD9-19546AC3DA8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50598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6E6E6"/>
        </a:solidFill>
        <a:effectLst/>
      </p:bgPr>
    </p:bg>
    <p:spTree>
      <p:nvGrpSpPr>
        <p:cNvPr id="1" name=""/>
        <p:cNvGrpSpPr/>
        <p:nvPr/>
      </p:nvGrpSpPr>
      <p:grpSpPr>
        <a:xfrm>
          <a:off x="0" y="0"/>
          <a:ext cx="0" cy="0"/>
          <a:chOff x="0" y="0"/>
          <a:chExt cx="0" cy="0"/>
        </a:xfrm>
      </p:grpSpPr>
      <p:sp>
        <p:nvSpPr>
          <p:cNvPr id="2" name="Shape 0"/>
          <p:cNvSpPr/>
          <p:nvPr/>
        </p:nvSpPr>
        <p:spPr>
          <a:xfrm>
            <a:off x="548640" y="566928"/>
            <a:ext cx="274320" cy="274320"/>
          </a:xfrm>
          <a:prstGeom prst="rect">
            <a:avLst/>
          </a:prstGeom>
          <a:solidFill>
            <a:srgbClr val="D46A12"/>
          </a:solidFill>
          <a:ln/>
        </p:spPr>
      </p:sp>
      <p:sp>
        <p:nvSpPr>
          <p:cNvPr id="3" name="Shape 1"/>
          <p:cNvSpPr/>
          <p:nvPr/>
        </p:nvSpPr>
        <p:spPr>
          <a:xfrm>
            <a:off x="704088" y="566928"/>
            <a:ext cx="118872" cy="118872"/>
          </a:xfrm>
          <a:prstGeom prst="rect">
            <a:avLst/>
          </a:prstGeom>
          <a:solidFill>
            <a:srgbClr val="E6E6E6"/>
          </a:solidFill>
          <a:ln/>
        </p:spPr>
      </p:sp>
      <p:sp>
        <p:nvSpPr>
          <p:cNvPr id="4" name="Text 2"/>
          <p:cNvSpPr>
            <a:spLocks noGrp="1"/>
          </p:cNvSpPr>
          <p:nvPr>
            <p:ph type="title" idx="102" hasCustomPrompt="1"/>
          </p:nvPr>
        </p:nvSpPr>
        <p:spPr>
          <a:xfrm>
            <a:off x="1051560" y="365760"/>
            <a:ext cx="10515600" cy="685800"/>
          </a:xfrm>
          <a:prstGeom prst="rect">
            <a:avLst/>
          </a:prstGeom>
          <a:noFill/>
          <a:ln/>
        </p:spPr>
        <p:txBody>
          <a:bodyPr wrap="square" rtlCol="0"/>
          <a:lstStyle>
            <a:lvl1pPr marL="0" indent="0" algn="l">
              <a:buNone/>
              <a:defRPr lang="en-US" sz="3000" b="1" dirty="0">
                <a:solidFill>
                  <a:srgbClr val="1E1E1E"/>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5" name="Shape 2"/>
          <p:cNvSpPr/>
          <p:nvPr/>
        </p:nvSpPr>
        <p:spPr>
          <a:xfrm>
            <a:off x="548640" y="6217920"/>
            <a:ext cx="960120" cy="420624"/>
          </a:xfrm>
          <a:prstGeom prst="rect">
            <a:avLst/>
          </a:prstGeom>
          <a:solidFill>
            <a:srgbClr val="F5F5F5"/>
          </a:solidFill>
          <a:ln w="12700">
            <a:solidFill>
              <a:srgbClr val="9A9A9A"/>
            </a:solidFill>
            <a:prstDash val="dash"/>
          </a:ln>
        </p:spPr>
      </p:sp>
      <p:sp>
        <p:nvSpPr>
          <p:cNvPr id="6" name="Text 3"/>
          <p:cNvSpPr/>
          <p:nvPr/>
        </p:nvSpPr>
        <p:spPr>
          <a:xfrm>
            <a:off x="54864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CPRI logo</a:t>
            </a:r>
            <a:endParaRPr lang="en-US" sz="1000" dirty="0"/>
          </a:p>
        </p:txBody>
      </p:sp>
      <p:sp>
        <p:nvSpPr>
          <p:cNvPr id="7" name="Shape 4"/>
          <p:cNvSpPr/>
          <p:nvPr/>
        </p:nvSpPr>
        <p:spPr>
          <a:xfrm>
            <a:off x="1645920" y="6217920"/>
            <a:ext cx="960120" cy="420624"/>
          </a:xfrm>
          <a:prstGeom prst="rect">
            <a:avLst/>
          </a:prstGeom>
          <a:solidFill>
            <a:srgbClr val="F5F5F5"/>
          </a:solidFill>
          <a:ln w="12700">
            <a:solidFill>
              <a:srgbClr val="9A9A9A"/>
            </a:solidFill>
            <a:prstDash val="dash"/>
          </a:ln>
        </p:spPr>
      </p:sp>
      <p:sp>
        <p:nvSpPr>
          <p:cNvPr id="8" name="Text 5"/>
          <p:cNvSpPr/>
          <p:nvPr/>
        </p:nvSpPr>
        <p:spPr>
          <a:xfrm>
            <a:off x="164592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IEEE logo</a:t>
            </a:r>
            <a:endParaRPr lang="en-US" sz="1000" dirty="0"/>
          </a:p>
        </p:txBody>
      </p:sp>
      <p:sp>
        <p:nvSpPr>
          <p:cNvPr id="9" name="Shape 6"/>
          <p:cNvSpPr/>
          <p:nvPr/>
        </p:nvSpPr>
        <p:spPr>
          <a:xfrm>
            <a:off x="2743200" y="6217920"/>
            <a:ext cx="960120" cy="420624"/>
          </a:xfrm>
          <a:prstGeom prst="rect">
            <a:avLst/>
          </a:prstGeom>
          <a:solidFill>
            <a:srgbClr val="F5F5F5"/>
          </a:solidFill>
          <a:ln w="12700">
            <a:solidFill>
              <a:srgbClr val="9A9A9A"/>
            </a:solidFill>
            <a:prstDash val="dash"/>
          </a:ln>
        </p:spPr>
      </p:sp>
      <p:sp>
        <p:nvSpPr>
          <p:cNvPr id="10" name="Text 7"/>
          <p:cNvSpPr/>
          <p:nvPr/>
        </p:nvSpPr>
        <p:spPr>
          <a:xfrm>
            <a:off x="274320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COLLEGE logo</a:t>
            </a:r>
            <a:endParaRPr lang="en-US" sz="1000" dirty="0"/>
          </a:p>
        </p:txBody>
      </p:sp>
      <p:sp>
        <p:nvSpPr>
          <p:cNvPr id="11" name="Text 8"/>
          <p:cNvSpPr/>
          <p:nvPr/>
        </p:nvSpPr>
        <p:spPr>
          <a:xfrm>
            <a:off x="4023360" y="6217920"/>
            <a:ext cx="6309360" cy="420624"/>
          </a:xfrm>
          <a:prstGeom prst="rect">
            <a:avLst/>
          </a:prstGeom>
          <a:noFill/>
          <a:ln/>
        </p:spPr>
        <p:txBody>
          <a:bodyPr wrap="square" lIns="0" tIns="0" rIns="0" bIns="0" rtlCol="0" anchor="ctr"/>
          <a:lstStyle/>
          <a:p>
            <a:pPr marL="0" indent="0" algn="ctr">
              <a:buNone/>
            </a:pPr>
            <a:r>
              <a:rPr lang="en-US" sz="1100" dirty="0">
                <a:solidFill>
                  <a:srgbClr val="555555"/>
                </a:solidFill>
                <a:latin typeface="Arial" pitchFamily="34" charset="0"/>
                <a:ea typeface="Arial" pitchFamily="34" charset="-122"/>
                <a:cs typeface="Arial" pitchFamily="34" charset="-120"/>
              </a:rPr>
              <a:t>Team [Team Name]   |   Digital Twin Hackathon   |   Organised by CPRI</a:t>
            </a:r>
            <a:endParaRPr lang="en-US" sz="1100" dirty="0"/>
          </a:p>
        </p:txBody>
      </p:sp>
      <p:sp>
        <p:nvSpPr>
          <p:cNvPr id="25" name="Slide Number Placeholder 0"/>
          <p:cNvSpPr>
            <a:spLocks noGrp="1"/>
          </p:cNvSpPr>
          <p:nvPr>
            <p:ph type="sldNum" sz="quarter" idx="4294967295"/>
          </p:nvPr>
        </p:nvSpPr>
        <p:spPr>
          <a:xfrm>
            <a:off x="10881360" y="6217920"/>
            <a:ext cx="731520" cy="420624"/>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555555"/>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E6E6E6"/>
        </a:solidFill>
        <a:effectLst/>
      </p:bgPr>
    </p:bg>
    <p:spTree>
      <p:nvGrpSpPr>
        <p:cNvPr id="1" name=""/>
        <p:cNvGrpSpPr/>
        <p:nvPr/>
      </p:nvGrpSpPr>
      <p:grpSpPr>
        <a:xfrm>
          <a:off x="0" y="0"/>
          <a:ext cx="0" cy="0"/>
          <a:chOff x="0" y="0"/>
          <a:chExt cx="0" cy="0"/>
        </a:xfrm>
      </p:grpSpPr>
      <p:sp>
        <p:nvSpPr>
          <p:cNvPr id="2" name="Shape 0"/>
          <p:cNvSpPr/>
          <p:nvPr/>
        </p:nvSpPr>
        <p:spPr>
          <a:xfrm>
            <a:off x="548640" y="566928"/>
            <a:ext cx="274320" cy="274320"/>
          </a:xfrm>
          <a:prstGeom prst="rect">
            <a:avLst/>
          </a:prstGeom>
          <a:solidFill>
            <a:srgbClr val="D46A12"/>
          </a:solidFill>
          <a:ln/>
        </p:spPr>
      </p:sp>
      <p:sp>
        <p:nvSpPr>
          <p:cNvPr id="3" name="Shape 1"/>
          <p:cNvSpPr/>
          <p:nvPr/>
        </p:nvSpPr>
        <p:spPr>
          <a:xfrm>
            <a:off x="704088" y="566928"/>
            <a:ext cx="118872" cy="118872"/>
          </a:xfrm>
          <a:prstGeom prst="rect">
            <a:avLst/>
          </a:prstGeom>
          <a:solidFill>
            <a:srgbClr val="E6E6E6"/>
          </a:solidFill>
          <a:ln/>
        </p:spPr>
      </p:sp>
      <p:sp>
        <p:nvSpPr>
          <p:cNvPr id="4" name="Text 2"/>
          <p:cNvSpPr>
            <a:spLocks noGrp="1"/>
          </p:cNvSpPr>
          <p:nvPr>
            <p:ph type="title" idx="102" hasCustomPrompt="1"/>
          </p:nvPr>
        </p:nvSpPr>
        <p:spPr>
          <a:xfrm>
            <a:off x="548640" y="1234440"/>
            <a:ext cx="6309360" cy="2514600"/>
          </a:xfrm>
          <a:prstGeom prst="rect">
            <a:avLst/>
          </a:prstGeom>
          <a:noFill/>
          <a:ln/>
        </p:spPr>
        <p:txBody>
          <a:bodyPr wrap="square" rtlCol="0"/>
          <a:lstStyle>
            <a:lvl1pPr marL="0" indent="0" algn="l">
              <a:buNone/>
              <a:defRPr lang="en-US" sz="5400" b="1" dirty="0">
                <a:solidFill>
                  <a:srgbClr val="1E1E1E"/>
                </a:solidFill>
                <a:latin typeface="Arial" pitchFamily="34" charset="0"/>
                <a:ea typeface="Arial" pitchFamily="34" charset="-122"/>
                <a:cs typeface="Arial" pitchFamily="34" charset="-120"/>
              </a:defRPr>
            </a:lvl1pPr>
          </a:lstStyle>
          <a:p>
            <a:pPr marL="0" indent="0" algn="l">
              <a:buNone/>
            </a:pPr>
            <a:endParaRPr lang="en-US" sz="5400" dirty="0"/>
          </a:p>
        </p:txBody>
      </p:sp>
      <p:sp>
        <p:nvSpPr>
          <p:cNvPr id="5" name="Shape 2"/>
          <p:cNvSpPr/>
          <p:nvPr/>
        </p:nvSpPr>
        <p:spPr>
          <a:xfrm>
            <a:off x="548640" y="6217920"/>
            <a:ext cx="960120" cy="420624"/>
          </a:xfrm>
          <a:prstGeom prst="rect">
            <a:avLst/>
          </a:prstGeom>
          <a:solidFill>
            <a:srgbClr val="F5F5F5"/>
          </a:solidFill>
          <a:ln w="12700">
            <a:solidFill>
              <a:srgbClr val="9A9A9A"/>
            </a:solidFill>
            <a:prstDash val="dash"/>
          </a:ln>
        </p:spPr>
      </p:sp>
      <p:sp>
        <p:nvSpPr>
          <p:cNvPr id="6" name="Text 3"/>
          <p:cNvSpPr/>
          <p:nvPr/>
        </p:nvSpPr>
        <p:spPr>
          <a:xfrm>
            <a:off x="54864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CPRI logo</a:t>
            </a:r>
            <a:endParaRPr lang="en-US" sz="1000" dirty="0"/>
          </a:p>
        </p:txBody>
      </p:sp>
      <p:sp>
        <p:nvSpPr>
          <p:cNvPr id="7" name="Shape 4"/>
          <p:cNvSpPr/>
          <p:nvPr/>
        </p:nvSpPr>
        <p:spPr>
          <a:xfrm>
            <a:off x="1645920" y="6217920"/>
            <a:ext cx="960120" cy="420624"/>
          </a:xfrm>
          <a:prstGeom prst="rect">
            <a:avLst/>
          </a:prstGeom>
          <a:solidFill>
            <a:srgbClr val="F5F5F5"/>
          </a:solidFill>
          <a:ln w="12700">
            <a:solidFill>
              <a:srgbClr val="9A9A9A"/>
            </a:solidFill>
            <a:prstDash val="dash"/>
          </a:ln>
        </p:spPr>
      </p:sp>
      <p:sp>
        <p:nvSpPr>
          <p:cNvPr id="8" name="Text 5"/>
          <p:cNvSpPr/>
          <p:nvPr/>
        </p:nvSpPr>
        <p:spPr>
          <a:xfrm>
            <a:off x="164592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IEEE logo</a:t>
            </a:r>
            <a:endParaRPr lang="en-US" sz="1000" dirty="0"/>
          </a:p>
        </p:txBody>
      </p:sp>
      <p:sp>
        <p:nvSpPr>
          <p:cNvPr id="9" name="Shape 6"/>
          <p:cNvSpPr/>
          <p:nvPr/>
        </p:nvSpPr>
        <p:spPr>
          <a:xfrm>
            <a:off x="2743200" y="6217920"/>
            <a:ext cx="960120" cy="420624"/>
          </a:xfrm>
          <a:prstGeom prst="rect">
            <a:avLst/>
          </a:prstGeom>
          <a:solidFill>
            <a:srgbClr val="F5F5F5"/>
          </a:solidFill>
          <a:ln w="12700">
            <a:solidFill>
              <a:srgbClr val="9A9A9A"/>
            </a:solidFill>
            <a:prstDash val="dash"/>
          </a:ln>
        </p:spPr>
      </p:sp>
      <p:sp>
        <p:nvSpPr>
          <p:cNvPr id="10" name="Text 7"/>
          <p:cNvSpPr/>
          <p:nvPr/>
        </p:nvSpPr>
        <p:spPr>
          <a:xfrm>
            <a:off x="2743200" y="6217920"/>
            <a:ext cx="960120" cy="420624"/>
          </a:xfrm>
          <a:prstGeom prst="rect">
            <a:avLst/>
          </a:prstGeom>
          <a:noFill/>
          <a:ln/>
        </p:spPr>
        <p:txBody>
          <a:bodyPr wrap="square" lIns="0" tIns="0" rIns="0" bIns="0" rtlCol="0" anchor="ctr"/>
          <a:lstStyle/>
          <a:p>
            <a:pPr marL="0" indent="0" algn="ctr">
              <a:buNone/>
            </a:pPr>
            <a:r>
              <a:rPr lang="en-US" sz="1000" dirty="0">
                <a:solidFill>
                  <a:srgbClr val="7A7A7A"/>
                </a:solidFill>
                <a:latin typeface="Arial" pitchFamily="34" charset="0"/>
                <a:ea typeface="Arial" pitchFamily="34" charset="-122"/>
                <a:cs typeface="Arial" pitchFamily="34" charset="-120"/>
              </a:rPr>
              <a:t>COLLEGE logo</a:t>
            </a:r>
            <a:endParaRPr lang="en-US" sz="1000" dirty="0"/>
          </a:p>
        </p:txBody>
      </p:sp>
      <p:sp>
        <p:nvSpPr>
          <p:cNvPr id="11" name="Text 8"/>
          <p:cNvSpPr/>
          <p:nvPr/>
        </p:nvSpPr>
        <p:spPr>
          <a:xfrm>
            <a:off x="4023360" y="6217920"/>
            <a:ext cx="6309360" cy="420624"/>
          </a:xfrm>
          <a:prstGeom prst="rect">
            <a:avLst/>
          </a:prstGeom>
          <a:noFill/>
          <a:ln/>
        </p:spPr>
        <p:txBody>
          <a:bodyPr wrap="square" lIns="0" tIns="0" rIns="0" bIns="0" rtlCol="0" anchor="ctr"/>
          <a:lstStyle/>
          <a:p>
            <a:pPr marL="0" indent="0" algn="ctr">
              <a:buNone/>
            </a:pPr>
            <a:r>
              <a:rPr lang="en-US" sz="1100" dirty="0">
                <a:solidFill>
                  <a:srgbClr val="555555"/>
                </a:solidFill>
                <a:latin typeface="Arial" pitchFamily="34" charset="0"/>
                <a:ea typeface="Arial" pitchFamily="34" charset="-122"/>
                <a:cs typeface="Arial" pitchFamily="34" charset="-120"/>
              </a:rPr>
              <a:t>Team [Team Name]   |   Digital Twin Hackathon   |   Organised by CPRI</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17920"/>
            <a:ext cx="731520" cy="420624"/>
          </a:xfrm>
          <a:prstGeom prst="rect">
            <a:avLst/>
          </a:prstGeom>
          <a:extLst>
            <a:ext uri="{C572A759-6A51-4108-AA02-DFA0A04FC94B}">
              <ma14:wrappingTextBoxFlag xmlns:ma14="http://schemas.microsoft.com/office/mac/drawingml/2011/main" xmlns="" val="0"/>
            </a:ext>
          </a:extLst>
        </p:spPr>
        <p:txBody>
          <a:bodyPr anchor="ctr"/>
          <a:lstStyle>
            <a:lvl1pPr>
              <a:defRPr sz="1100">
                <a:solidFill>
                  <a:srgbClr val="555555"/>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2" name="Label Mento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p:cNvSpPr/>
          <p:nvPr/>
        </p:nvSpPr>
        <p:spPr>
          <a:xfrm flipV="1">
            <a:off x="9921240" y="1097280"/>
            <a:ext cx="685800" cy="4709160"/>
          </a:xfrm>
          <a:prstGeom prst="line">
            <a:avLst/>
          </a:prstGeom>
          <a:noFill/>
          <a:ln w="44450">
            <a:solidFill>
              <a:srgbClr val="BDBDBD"/>
            </a:solidFill>
            <a:prstDash val="solid"/>
          </a:ln>
        </p:spPr>
      </p:sp>
      <p:sp>
        <p:nvSpPr>
          <p:cNvPr id="15" name="Shape 13"/>
          <p:cNvSpPr/>
          <p:nvPr/>
        </p:nvSpPr>
        <p:spPr>
          <a:xfrm>
            <a:off x="10789920" y="1097280"/>
            <a:ext cx="685800" cy="4709160"/>
          </a:xfrm>
          <a:prstGeom prst="line">
            <a:avLst/>
          </a:prstGeom>
          <a:noFill/>
          <a:ln w="44450">
            <a:solidFill>
              <a:srgbClr val="BDBDBD"/>
            </a:solidFill>
            <a:prstDash val="solid"/>
          </a:ln>
        </p:spPr>
      </p:sp>
      <p:sp>
        <p:nvSpPr>
          <p:cNvPr id="16" name="Shape 14"/>
          <p:cNvSpPr/>
          <p:nvPr/>
        </p:nvSpPr>
        <p:spPr>
          <a:xfrm>
            <a:off x="10607040" y="1097280"/>
            <a:ext cx="182880" cy="0"/>
          </a:xfrm>
          <a:prstGeom prst="line">
            <a:avLst/>
          </a:prstGeom>
          <a:noFill/>
          <a:ln w="31750">
            <a:solidFill>
              <a:srgbClr val="BDBDBD"/>
            </a:solidFill>
            <a:prstDash val="solid"/>
          </a:ln>
        </p:spPr>
      </p:sp>
      <p:sp>
        <p:nvSpPr>
          <p:cNvPr id="17" name="Shape 15"/>
          <p:cNvSpPr/>
          <p:nvPr/>
        </p:nvSpPr>
        <p:spPr>
          <a:xfrm>
            <a:off x="10401300" y="2510028"/>
            <a:ext cx="594360" cy="0"/>
          </a:xfrm>
          <a:prstGeom prst="line">
            <a:avLst/>
          </a:prstGeom>
          <a:noFill/>
          <a:ln w="31750">
            <a:solidFill>
              <a:srgbClr val="BDBDBD"/>
            </a:solidFill>
            <a:prstDash val="solid"/>
          </a:ln>
        </p:spPr>
      </p:sp>
      <p:sp>
        <p:nvSpPr>
          <p:cNvPr id="18" name="Shape 16"/>
          <p:cNvSpPr/>
          <p:nvPr/>
        </p:nvSpPr>
        <p:spPr>
          <a:xfrm>
            <a:off x="10229850" y="3687318"/>
            <a:ext cx="937260" cy="0"/>
          </a:xfrm>
          <a:prstGeom prst="line">
            <a:avLst/>
          </a:prstGeom>
          <a:noFill/>
          <a:ln w="31750">
            <a:solidFill>
              <a:srgbClr val="BDBDBD"/>
            </a:solidFill>
            <a:prstDash val="solid"/>
          </a:ln>
        </p:spPr>
      </p:sp>
      <p:sp>
        <p:nvSpPr>
          <p:cNvPr id="19" name="Shape 17"/>
          <p:cNvSpPr/>
          <p:nvPr/>
        </p:nvSpPr>
        <p:spPr>
          <a:xfrm>
            <a:off x="10058400" y="4864608"/>
            <a:ext cx="1280160" cy="0"/>
          </a:xfrm>
          <a:prstGeom prst="line">
            <a:avLst/>
          </a:prstGeom>
          <a:noFill/>
          <a:ln w="31750">
            <a:solidFill>
              <a:srgbClr val="BDBDBD"/>
            </a:solidFill>
            <a:prstDash val="solid"/>
          </a:ln>
        </p:spPr>
      </p:sp>
      <p:sp>
        <p:nvSpPr>
          <p:cNvPr id="20" name="Shape 18"/>
          <p:cNvSpPr/>
          <p:nvPr/>
        </p:nvSpPr>
        <p:spPr>
          <a:xfrm>
            <a:off x="9921240" y="5806440"/>
            <a:ext cx="1554480" cy="0"/>
          </a:xfrm>
          <a:prstGeom prst="line">
            <a:avLst/>
          </a:prstGeom>
          <a:noFill/>
          <a:ln w="31750">
            <a:solidFill>
              <a:srgbClr val="BDBDBD"/>
            </a:solidFill>
            <a:prstDash val="solid"/>
          </a:ln>
        </p:spPr>
      </p:sp>
      <p:sp>
        <p:nvSpPr>
          <p:cNvPr id="21" name="Shape 19"/>
          <p:cNvSpPr/>
          <p:nvPr/>
        </p:nvSpPr>
        <p:spPr>
          <a:xfrm>
            <a:off x="10607040" y="1097280"/>
            <a:ext cx="388620" cy="1412748"/>
          </a:xfrm>
          <a:prstGeom prst="line">
            <a:avLst/>
          </a:prstGeom>
          <a:noFill/>
          <a:ln w="19050">
            <a:solidFill>
              <a:srgbClr val="BDBDBD"/>
            </a:solidFill>
            <a:prstDash val="solid"/>
          </a:ln>
        </p:spPr>
      </p:sp>
      <p:sp>
        <p:nvSpPr>
          <p:cNvPr id="22" name="Shape 20"/>
          <p:cNvSpPr/>
          <p:nvPr/>
        </p:nvSpPr>
        <p:spPr>
          <a:xfrm flipV="1">
            <a:off x="10401300" y="1097280"/>
            <a:ext cx="388620" cy="1412748"/>
          </a:xfrm>
          <a:prstGeom prst="line">
            <a:avLst/>
          </a:prstGeom>
          <a:noFill/>
          <a:ln w="19050">
            <a:solidFill>
              <a:srgbClr val="BDBDBD"/>
            </a:solidFill>
            <a:prstDash val="solid"/>
          </a:ln>
        </p:spPr>
      </p:sp>
      <p:sp>
        <p:nvSpPr>
          <p:cNvPr id="23" name="Shape 21"/>
          <p:cNvSpPr/>
          <p:nvPr/>
        </p:nvSpPr>
        <p:spPr>
          <a:xfrm>
            <a:off x="10401300" y="2510028"/>
            <a:ext cx="765810" cy="1177290"/>
          </a:xfrm>
          <a:prstGeom prst="line">
            <a:avLst/>
          </a:prstGeom>
          <a:noFill/>
          <a:ln w="19050">
            <a:solidFill>
              <a:srgbClr val="BDBDBD"/>
            </a:solidFill>
            <a:prstDash val="solid"/>
          </a:ln>
        </p:spPr>
      </p:sp>
      <p:sp>
        <p:nvSpPr>
          <p:cNvPr id="24" name="Shape 22"/>
          <p:cNvSpPr/>
          <p:nvPr/>
        </p:nvSpPr>
        <p:spPr>
          <a:xfrm flipV="1">
            <a:off x="10229850" y="2510028"/>
            <a:ext cx="765810" cy="1177290"/>
          </a:xfrm>
          <a:prstGeom prst="line">
            <a:avLst/>
          </a:prstGeom>
          <a:noFill/>
          <a:ln w="19050">
            <a:solidFill>
              <a:srgbClr val="BDBDBD"/>
            </a:solidFill>
            <a:prstDash val="solid"/>
          </a:ln>
        </p:spPr>
      </p:sp>
      <p:sp>
        <p:nvSpPr>
          <p:cNvPr id="25" name="Shape 23"/>
          <p:cNvSpPr/>
          <p:nvPr/>
        </p:nvSpPr>
        <p:spPr>
          <a:xfrm>
            <a:off x="10229850" y="3687318"/>
            <a:ext cx="1108710" cy="1177290"/>
          </a:xfrm>
          <a:prstGeom prst="line">
            <a:avLst/>
          </a:prstGeom>
          <a:noFill/>
          <a:ln w="19050">
            <a:solidFill>
              <a:srgbClr val="BDBDBD"/>
            </a:solidFill>
            <a:prstDash val="solid"/>
          </a:ln>
        </p:spPr>
      </p:sp>
      <p:sp>
        <p:nvSpPr>
          <p:cNvPr id="26" name="Shape 24"/>
          <p:cNvSpPr/>
          <p:nvPr/>
        </p:nvSpPr>
        <p:spPr>
          <a:xfrm flipV="1">
            <a:off x="10058400" y="3687318"/>
            <a:ext cx="1108710" cy="1177290"/>
          </a:xfrm>
          <a:prstGeom prst="line">
            <a:avLst/>
          </a:prstGeom>
          <a:noFill/>
          <a:ln w="19050">
            <a:solidFill>
              <a:srgbClr val="BDBDBD"/>
            </a:solidFill>
            <a:prstDash val="solid"/>
          </a:ln>
        </p:spPr>
      </p:sp>
      <p:sp>
        <p:nvSpPr>
          <p:cNvPr id="27" name="Shape 25"/>
          <p:cNvSpPr/>
          <p:nvPr/>
        </p:nvSpPr>
        <p:spPr>
          <a:xfrm>
            <a:off x="10058400" y="4864608"/>
            <a:ext cx="1417320" cy="941832"/>
          </a:xfrm>
          <a:prstGeom prst="line">
            <a:avLst/>
          </a:prstGeom>
          <a:noFill/>
          <a:ln w="19050">
            <a:solidFill>
              <a:srgbClr val="BDBDBD"/>
            </a:solidFill>
            <a:prstDash val="solid"/>
          </a:ln>
        </p:spPr>
      </p:sp>
      <p:sp>
        <p:nvSpPr>
          <p:cNvPr id="28" name="Shape 26"/>
          <p:cNvSpPr/>
          <p:nvPr/>
        </p:nvSpPr>
        <p:spPr>
          <a:xfrm flipV="1">
            <a:off x="9921240" y="4864608"/>
            <a:ext cx="1417320" cy="941832"/>
          </a:xfrm>
          <a:prstGeom prst="line">
            <a:avLst/>
          </a:prstGeom>
          <a:noFill/>
          <a:ln w="19050">
            <a:solidFill>
              <a:srgbClr val="BDBDBD"/>
            </a:solidFill>
            <a:prstDash val="solid"/>
          </a:ln>
        </p:spPr>
      </p:sp>
      <p:sp>
        <p:nvSpPr>
          <p:cNvPr id="29" name="Shape 27"/>
          <p:cNvSpPr/>
          <p:nvPr/>
        </p:nvSpPr>
        <p:spPr>
          <a:xfrm>
            <a:off x="9646920" y="1568196"/>
            <a:ext cx="2103120" cy="0"/>
          </a:xfrm>
          <a:prstGeom prst="line">
            <a:avLst/>
          </a:prstGeom>
          <a:noFill/>
          <a:ln w="50800">
            <a:solidFill>
              <a:srgbClr val="BDBDBD"/>
            </a:solidFill>
            <a:prstDash val="solid"/>
          </a:ln>
        </p:spPr>
      </p:sp>
      <p:sp>
        <p:nvSpPr>
          <p:cNvPr id="30" name="Shape 28"/>
          <p:cNvSpPr/>
          <p:nvPr/>
        </p:nvSpPr>
        <p:spPr>
          <a:xfrm>
            <a:off x="9418320" y="2886761"/>
            <a:ext cx="2560320" cy="0"/>
          </a:xfrm>
          <a:prstGeom prst="line">
            <a:avLst/>
          </a:prstGeom>
          <a:noFill/>
          <a:ln w="50800">
            <a:solidFill>
              <a:srgbClr val="BDBDBD"/>
            </a:solidFill>
            <a:prstDash val="solid"/>
          </a:ln>
        </p:spPr>
      </p:sp>
      <p:sp>
        <p:nvSpPr>
          <p:cNvPr id="31" name="Shape 29"/>
          <p:cNvSpPr/>
          <p:nvPr/>
        </p:nvSpPr>
        <p:spPr>
          <a:xfrm flipV="1">
            <a:off x="7360920" y="2834640"/>
            <a:ext cx="402336" cy="2971800"/>
          </a:xfrm>
          <a:prstGeom prst="line">
            <a:avLst/>
          </a:prstGeom>
          <a:noFill/>
          <a:ln w="44450">
            <a:solidFill>
              <a:srgbClr val="BDBDBD"/>
            </a:solidFill>
            <a:prstDash val="solid"/>
          </a:ln>
        </p:spPr>
      </p:sp>
      <p:sp>
        <p:nvSpPr>
          <p:cNvPr id="32" name="Shape 30"/>
          <p:cNvSpPr/>
          <p:nvPr/>
        </p:nvSpPr>
        <p:spPr>
          <a:xfrm>
            <a:off x="7872984" y="2834640"/>
            <a:ext cx="402336" cy="2971800"/>
          </a:xfrm>
          <a:prstGeom prst="line">
            <a:avLst/>
          </a:prstGeom>
          <a:noFill/>
          <a:ln w="44450">
            <a:solidFill>
              <a:srgbClr val="BDBDBD"/>
            </a:solidFill>
            <a:prstDash val="solid"/>
          </a:ln>
        </p:spPr>
      </p:sp>
      <p:sp>
        <p:nvSpPr>
          <p:cNvPr id="33" name="Shape 31"/>
          <p:cNvSpPr/>
          <p:nvPr/>
        </p:nvSpPr>
        <p:spPr>
          <a:xfrm>
            <a:off x="7763256" y="2834640"/>
            <a:ext cx="109728" cy="0"/>
          </a:xfrm>
          <a:prstGeom prst="line">
            <a:avLst/>
          </a:prstGeom>
          <a:noFill/>
          <a:ln w="31750">
            <a:solidFill>
              <a:srgbClr val="BDBDBD"/>
            </a:solidFill>
            <a:prstDash val="solid"/>
          </a:ln>
        </p:spPr>
      </p:sp>
      <p:sp>
        <p:nvSpPr>
          <p:cNvPr id="34" name="Shape 32"/>
          <p:cNvSpPr/>
          <p:nvPr/>
        </p:nvSpPr>
        <p:spPr>
          <a:xfrm>
            <a:off x="7642555" y="3726180"/>
            <a:ext cx="351130" cy="0"/>
          </a:xfrm>
          <a:prstGeom prst="line">
            <a:avLst/>
          </a:prstGeom>
          <a:noFill/>
          <a:ln w="31750">
            <a:solidFill>
              <a:srgbClr val="BDBDBD"/>
            </a:solidFill>
            <a:prstDash val="solid"/>
          </a:ln>
        </p:spPr>
      </p:sp>
      <p:sp>
        <p:nvSpPr>
          <p:cNvPr id="35" name="Shape 33"/>
          <p:cNvSpPr/>
          <p:nvPr/>
        </p:nvSpPr>
        <p:spPr>
          <a:xfrm>
            <a:off x="7541971" y="4469130"/>
            <a:ext cx="552298" cy="0"/>
          </a:xfrm>
          <a:prstGeom prst="line">
            <a:avLst/>
          </a:prstGeom>
          <a:noFill/>
          <a:ln w="31750">
            <a:solidFill>
              <a:srgbClr val="BDBDBD"/>
            </a:solidFill>
            <a:prstDash val="solid"/>
          </a:ln>
        </p:spPr>
      </p:sp>
      <p:sp>
        <p:nvSpPr>
          <p:cNvPr id="36" name="Shape 34"/>
          <p:cNvSpPr/>
          <p:nvPr/>
        </p:nvSpPr>
        <p:spPr>
          <a:xfrm>
            <a:off x="7441387" y="5212080"/>
            <a:ext cx="753466" cy="0"/>
          </a:xfrm>
          <a:prstGeom prst="line">
            <a:avLst/>
          </a:prstGeom>
          <a:noFill/>
          <a:ln w="31750">
            <a:solidFill>
              <a:srgbClr val="BDBDBD"/>
            </a:solidFill>
            <a:prstDash val="solid"/>
          </a:ln>
        </p:spPr>
      </p:sp>
      <p:sp>
        <p:nvSpPr>
          <p:cNvPr id="37" name="Shape 35"/>
          <p:cNvSpPr/>
          <p:nvPr/>
        </p:nvSpPr>
        <p:spPr>
          <a:xfrm>
            <a:off x="7360920" y="5806440"/>
            <a:ext cx="914400" cy="0"/>
          </a:xfrm>
          <a:prstGeom prst="line">
            <a:avLst/>
          </a:prstGeom>
          <a:noFill/>
          <a:ln w="31750">
            <a:solidFill>
              <a:srgbClr val="BDBDBD"/>
            </a:solidFill>
            <a:prstDash val="solid"/>
          </a:ln>
        </p:spPr>
      </p:sp>
      <p:sp>
        <p:nvSpPr>
          <p:cNvPr id="38" name="Shape 36"/>
          <p:cNvSpPr/>
          <p:nvPr/>
        </p:nvSpPr>
        <p:spPr>
          <a:xfrm>
            <a:off x="7763256" y="2834640"/>
            <a:ext cx="230429" cy="891540"/>
          </a:xfrm>
          <a:prstGeom prst="line">
            <a:avLst/>
          </a:prstGeom>
          <a:noFill/>
          <a:ln w="19050">
            <a:solidFill>
              <a:srgbClr val="BDBDBD"/>
            </a:solidFill>
            <a:prstDash val="solid"/>
          </a:ln>
        </p:spPr>
      </p:sp>
      <p:sp>
        <p:nvSpPr>
          <p:cNvPr id="39" name="Shape 37"/>
          <p:cNvSpPr/>
          <p:nvPr/>
        </p:nvSpPr>
        <p:spPr>
          <a:xfrm flipV="1">
            <a:off x="7642555" y="2834640"/>
            <a:ext cx="230429" cy="891540"/>
          </a:xfrm>
          <a:prstGeom prst="line">
            <a:avLst/>
          </a:prstGeom>
          <a:noFill/>
          <a:ln w="19050">
            <a:solidFill>
              <a:srgbClr val="BDBDBD"/>
            </a:solidFill>
            <a:prstDash val="solid"/>
          </a:ln>
        </p:spPr>
      </p:sp>
      <p:sp>
        <p:nvSpPr>
          <p:cNvPr id="40" name="Shape 38"/>
          <p:cNvSpPr/>
          <p:nvPr/>
        </p:nvSpPr>
        <p:spPr>
          <a:xfrm>
            <a:off x="7642555" y="3726180"/>
            <a:ext cx="451714" cy="742950"/>
          </a:xfrm>
          <a:prstGeom prst="line">
            <a:avLst/>
          </a:prstGeom>
          <a:noFill/>
          <a:ln w="19050">
            <a:solidFill>
              <a:srgbClr val="BDBDBD"/>
            </a:solidFill>
            <a:prstDash val="solid"/>
          </a:ln>
        </p:spPr>
      </p:sp>
      <p:sp>
        <p:nvSpPr>
          <p:cNvPr id="41" name="Shape 39"/>
          <p:cNvSpPr/>
          <p:nvPr/>
        </p:nvSpPr>
        <p:spPr>
          <a:xfrm flipV="1">
            <a:off x="7541971" y="3726180"/>
            <a:ext cx="451714" cy="742950"/>
          </a:xfrm>
          <a:prstGeom prst="line">
            <a:avLst/>
          </a:prstGeom>
          <a:noFill/>
          <a:ln w="19050">
            <a:solidFill>
              <a:srgbClr val="BDBDBD"/>
            </a:solidFill>
            <a:prstDash val="solid"/>
          </a:ln>
        </p:spPr>
      </p:sp>
      <p:sp>
        <p:nvSpPr>
          <p:cNvPr id="42" name="Shape 40"/>
          <p:cNvSpPr/>
          <p:nvPr/>
        </p:nvSpPr>
        <p:spPr>
          <a:xfrm>
            <a:off x="7541971" y="4469130"/>
            <a:ext cx="652882" cy="742950"/>
          </a:xfrm>
          <a:prstGeom prst="line">
            <a:avLst/>
          </a:prstGeom>
          <a:noFill/>
          <a:ln w="19050">
            <a:solidFill>
              <a:srgbClr val="BDBDBD"/>
            </a:solidFill>
            <a:prstDash val="solid"/>
          </a:ln>
        </p:spPr>
      </p:sp>
      <p:sp>
        <p:nvSpPr>
          <p:cNvPr id="43" name="Shape 41"/>
          <p:cNvSpPr/>
          <p:nvPr/>
        </p:nvSpPr>
        <p:spPr>
          <a:xfrm flipV="1">
            <a:off x="7441387" y="4469130"/>
            <a:ext cx="652882" cy="742950"/>
          </a:xfrm>
          <a:prstGeom prst="line">
            <a:avLst/>
          </a:prstGeom>
          <a:noFill/>
          <a:ln w="19050">
            <a:solidFill>
              <a:srgbClr val="BDBDBD"/>
            </a:solidFill>
            <a:prstDash val="solid"/>
          </a:ln>
        </p:spPr>
      </p:sp>
      <p:sp>
        <p:nvSpPr>
          <p:cNvPr id="44" name="Shape 42"/>
          <p:cNvSpPr/>
          <p:nvPr/>
        </p:nvSpPr>
        <p:spPr>
          <a:xfrm>
            <a:off x="7441387" y="5212080"/>
            <a:ext cx="833933" cy="594360"/>
          </a:xfrm>
          <a:prstGeom prst="line">
            <a:avLst/>
          </a:prstGeom>
          <a:noFill/>
          <a:ln w="19050">
            <a:solidFill>
              <a:srgbClr val="BDBDBD"/>
            </a:solidFill>
            <a:prstDash val="solid"/>
          </a:ln>
        </p:spPr>
      </p:sp>
      <p:sp>
        <p:nvSpPr>
          <p:cNvPr id="45" name="Shape 43"/>
          <p:cNvSpPr/>
          <p:nvPr/>
        </p:nvSpPr>
        <p:spPr>
          <a:xfrm flipV="1">
            <a:off x="7360920" y="5212080"/>
            <a:ext cx="833933" cy="594360"/>
          </a:xfrm>
          <a:prstGeom prst="line">
            <a:avLst/>
          </a:prstGeom>
          <a:noFill/>
          <a:ln w="19050">
            <a:solidFill>
              <a:srgbClr val="BDBDBD"/>
            </a:solidFill>
            <a:prstDash val="solid"/>
          </a:ln>
        </p:spPr>
      </p:sp>
      <p:sp>
        <p:nvSpPr>
          <p:cNvPr id="46" name="Shape 44"/>
          <p:cNvSpPr/>
          <p:nvPr/>
        </p:nvSpPr>
        <p:spPr>
          <a:xfrm>
            <a:off x="7223760" y="3131820"/>
            <a:ext cx="1188720" cy="0"/>
          </a:xfrm>
          <a:prstGeom prst="line">
            <a:avLst/>
          </a:prstGeom>
          <a:noFill/>
          <a:ln w="50800">
            <a:solidFill>
              <a:srgbClr val="BDBDBD"/>
            </a:solidFill>
            <a:prstDash val="solid"/>
          </a:ln>
        </p:spPr>
      </p:sp>
      <p:sp>
        <p:nvSpPr>
          <p:cNvPr id="47" name="Shape 45"/>
          <p:cNvSpPr/>
          <p:nvPr/>
        </p:nvSpPr>
        <p:spPr>
          <a:xfrm>
            <a:off x="7086600" y="3963924"/>
            <a:ext cx="1463040" cy="0"/>
          </a:xfrm>
          <a:prstGeom prst="line">
            <a:avLst/>
          </a:prstGeom>
          <a:noFill/>
          <a:ln w="50800">
            <a:solidFill>
              <a:srgbClr val="BDBDBD"/>
            </a:solidFill>
            <a:prstDash val="solid"/>
          </a:ln>
        </p:spPr>
      </p:sp>
      <p:sp>
        <p:nvSpPr>
          <p:cNvPr id="48" name="Shape 46"/>
          <p:cNvSpPr/>
          <p:nvPr/>
        </p:nvSpPr>
        <p:spPr>
          <a:xfrm flipV="1">
            <a:off x="8412480" y="3123590"/>
            <a:ext cx="123444" cy="8230"/>
          </a:xfrm>
          <a:prstGeom prst="line">
            <a:avLst/>
          </a:prstGeom>
          <a:noFill/>
          <a:ln w="12700">
            <a:solidFill>
              <a:srgbClr val="C2C2C2"/>
            </a:solidFill>
            <a:prstDash val="solid"/>
          </a:ln>
        </p:spPr>
      </p:sp>
      <p:sp>
        <p:nvSpPr>
          <p:cNvPr id="49" name="Shape 47"/>
          <p:cNvSpPr/>
          <p:nvPr/>
        </p:nvSpPr>
        <p:spPr>
          <a:xfrm flipV="1">
            <a:off x="8535924" y="3082442"/>
            <a:ext cx="123444" cy="41148"/>
          </a:xfrm>
          <a:prstGeom prst="line">
            <a:avLst/>
          </a:prstGeom>
          <a:noFill/>
          <a:ln w="12700">
            <a:solidFill>
              <a:srgbClr val="C2C2C2"/>
            </a:solidFill>
            <a:prstDash val="solid"/>
          </a:ln>
        </p:spPr>
      </p:sp>
      <p:sp>
        <p:nvSpPr>
          <p:cNvPr id="50" name="Shape 48"/>
          <p:cNvSpPr/>
          <p:nvPr/>
        </p:nvSpPr>
        <p:spPr>
          <a:xfrm flipV="1">
            <a:off x="8659368" y="3008376"/>
            <a:ext cx="123444" cy="74066"/>
          </a:xfrm>
          <a:prstGeom prst="line">
            <a:avLst/>
          </a:prstGeom>
          <a:noFill/>
          <a:ln w="12700">
            <a:solidFill>
              <a:srgbClr val="C2C2C2"/>
            </a:solidFill>
            <a:prstDash val="solid"/>
          </a:ln>
        </p:spPr>
      </p:sp>
      <p:sp>
        <p:nvSpPr>
          <p:cNvPr id="51" name="Shape 49"/>
          <p:cNvSpPr/>
          <p:nvPr/>
        </p:nvSpPr>
        <p:spPr>
          <a:xfrm flipV="1">
            <a:off x="8782812" y="2901391"/>
            <a:ext cx="123444" cy="106985"/>
          </a:xfrm>
          <a:prstGeom prst="line">
            <a:avLst/>
          </a:prstGeom>
          <a:noFill/>
          <a:ln w="12700">
            <a:solidFill>
              <a:srgbClr val="C2C2C2"/>
            </a:solidFill>
            <a:prstDash val="solid"/>
          </a:ln>
        </p:spPr>
      </p:sp>
      <p:sp>
        <p:nvSpPr>
          <p:cNvPr id="52" name="Shape 50"/>
          <p:cNvSpPr/>
          <p:nvPr/>
        </p:nvSpPr>
        <p:spPr>
          <a:xfrm flipV="1">
            <a:off x="8906256" y="2761488"/>
            <a:ext cx="123444" cy="139903"/>
          </a:xfrm>
          <a:prstGeom prst="line">
            <a:avLst/>
          </a:prstGeom>
          <a:noFill/>
          <a:ln w="12700">
            <a:solidFill>
              <a:srgbClr val="C2C2C2"/>
            </a:solidFill>
            <a:prstDash val="solid"/>
          </a:ln>
        </p:spPr>
      </p:sp>
      <p:sp>
        <p:nvSpPr>
          <p:cNvPr id="53" name="Shape 51"/>
          <p:cNvSpPr/>
          <p:nvPr/>
        </p:nvSpPr>
        <p:spPr>
          <a:xfrm flipV="1">
            <a:off x="9029700" y="2588666"/>
            <a:ext cx="123444" cy="172822"/>
          </a:xfrm>
          <a:prstGeom prst="line">
            <a:avLst/>
          </a:prstGeom>
          <a:noFill/>
          <a:ln w="12700">
            <a:solidFill>
              <a:srgbClr val="C2C2C2"/>
            </a:solidFill>
            <a:prstDash val="solid"/>
          </a:ln>
        </p:spPr>
      </p:sp>
      <p:sp>
        <p:nvSpPr>
          <p:cNvPr id="54" name="Shape 52"/>
          <p:cNvSpPr/>
          <p:nvPr/>
        </p:nvSpPr>
        <p:spPr>
          <a:xfrm flipV="1">
            <a:off x="9153144" y="2382926"/>
            <a:ext cx="123444" cy="205740"/>
          </a:xfrm>
          <a:prstGeom prst="line">
            <a:avLst/>
          </a:prstGeom>
          <a:noFill/>
          <a:ln w="12700">
            <a:solidFill>
              <a:srgbClr val="C2C2C2"/>
            </a:solidFill>
            <a:prstDash val="solid"/>
          </a:ln>
        </p:spPr>
      </p:sp>
      <p:sp>
        <p:nvSpPr>
          <p:cNvPr id="55" name="Shape 53"/>
          <p:cNvSpPr/>
          <p:nvPr/>
        </p:nvSpPr>
        <p:spPr>
          <a:xfrm flipV="1">
            <a:off x="9276588" y="2144268"/>
            <a:ext cx="123444" cy="238658"/>
          </a:xfrm>
          <a:prstGeom prst="line">
            <a:avLst/>
          </a:prstGeom>
          <a:noFill/>
          <a:ln w="12700">
            <a:solidFill>
              <a:srgbClr val="C2C2C2"/>
            </a:solidFill>
            <a:prstDash val="solid"/>
          </a:ln>
        </p:spPr>
      </p:sp>
      <p:sp>
        <p:nvSpPr>
          <p:cNvPr id="56" name="Shape 54"/>
          <p:cNvSpPr/>
          <p:nvPr/>
        </p:nvSpPr>
        <p:spPr>
          <a:xfrm flipV="1">
            <a:off x="9400032" y="1872691"/>
            <a:ext cx="123444" cy="271577"/>
          </a:xfrm>
          <a:prstGeom prst="line">
            <a:avLst/>
          </a:prstGeom>
          <a:noFill/>
          <a:ln w="12700">
            <a:solidFill>
              <a:srgbClr val="C2C2C2"/>
            </a:solidFill>
            <a:prstDash val="solid"/>
          </a:ln>
        </p:spPr>
      </p:sp>
      <p:sp>
        <p:nvSpPr>
          <p:cNvPr id="57" name="Shape 55"/>
          <p:cNvSpPr/>
          <p:nvPr/>
        </p:nvSpPr>
        <p:spPr>
          <a:xfrm flipV="1">
            <a:off x="9523476" y="1568196"/>
            <a:ext cx="123444" cy="304495"/>
          </a:xfrm>
          <a:prstGeom prst="line">
            <a:avLst/>
          </a:prstGeom>
          <a:noFill/>
          <a:ln w="12700">
            <a:solidFill>
              <a:srgbClr val="C2C2C2"/>
            </a:solidFill>
            <a:prstDash val="solid"/>
          </a:ln>
        </p:spPr>
      </p:sp>
      <p:sp>
        <p:nvSpPr>
          <p:cNvPr id="68" name="Shape 66"/>
          <p:cNvSpPr/>
          <p:nvPr/>
        </p:nvSpPr>
        <p:spPr>
          <a:xfrm>
            <a:off x="8549640" y="3963924"/>
            <a:ext cx="86868" cy="40416"/>
          </a:xfrm>
          <a:prstGeom prst="line">
            <a:avLst/>
          </a:prstGeom>
          <a:noFill/>
          <a:ln w="12700">
            <a:solidFill>
              <a:srgbClr val="C2C2C2"/>
            </a:solidFill>
            <a:prstDash val="solid"/>
          </a:ln>
        </p:spPr>
      </p:sp>
      <p:sp>
        <p:nvSpPr>
          <p:cNvPr id="69" name="Shape 67"/>
          <p:cNvSpPr/>
          <p:nvPr/>
        </p:nvSpPr>
        <p:spPr>
          <a:xfrm>
            <a:off x="8636508" y="4004340"/>
            <a:ext cx="86868" cy="7498"/>
          </a:xfrm>
          <a:prstGeom prst="line">
            <a:avLst/>
          </a:prstGeom>
          <a:noFill/>
          <a:ln w="12700">
            <a:solidFill>
              <a:srgbClr val="C2C2C2"/>
            </a:solidFill>
            <a:prstDash val="solid"/>
          </a:ln>
        </p:spPr>
      </p:sp>
      <p:sp>
        <p:nvSpPr>
          <p:cNvPr id="70" name="Shape 68"/>
          <p:cNvSpPr/>
          <p:nvPr/>
        </p:nvSpPr>
        <p:spPr>
          <a:xfrm flipV="1">
            <a:off x="8723376" y="3986418"/>
            <a:ext cx="86868" cy="25420"/>
          </a:xfrm>
          <a:prstGeom prst="line">
            <a:avLst/>
          </a:prstGeom>
          <a:noFill/>
          <a:ln w="12700">
            <a:solidFill>
              <a:srgbClr val="C2C2C2"/>
            </a:solidFill>
            <a:prstDash val="solid"/>
          </a:ln>
        </p:spPr>
      </p:sp>
      <p:sp>
        <p:nvSpPr>
          <p:cNvPr id="71" name="Shape 69"/>
          <p:cNvSpPr/>
          <p:nvPr/>
        </p:nvSpPr>
        <p:spPr>
          <a:xfrm flipV="1">
            <a:off x="8810244" y="3928080"/>
            <a:ext cx="86868" cy="58339"/>
          </a:xfrm>
          <a:prstGeom prst="line">
            <a:avLst/>
          </a:prstGeom>
          <a:noFill/>
          <a:ln w="12700">
            <a:solidFill>
              <a:srgbClr val="C2C2C2"/>
            </a:solidFill>
            <a:prstDash val="solid"/>
          </a:ln>
        </p:spPr>
      </p:sp>
      <p:sp>
        <p:nvSpPr>
          <p:cNvPr id="72" name="Shape 70"/>
          <p:cNvSpPr/>
          <p:nvPr/>
        </p:nvSpPr>
        <p:spPr>
          <a:xfrm flipV="1">
            <a:off x="8897112" y="3836822"/>
            <a:ext cx="86868" cy="91257"/>
          </a:xfrm>
          <a:prstGeom prst="line">
            <a:avLst/>
          </a:prstGeom>
          <a:noFill/>
          <a:ln w="12700">
            <a:solidFill>
              <a:srgbClr val="C2C2C2"/>
            </a:solidFill>
            <a:prstDash val="solid"/>
          </a:ln>
        </p:spPr>
      </p:sp>
      <p:sp>
        <p:nvSpPr>
          <p:cNvPr id="73" name="Shape 71"/>
          <p:cNvSpPr/>
          <p:nvPr/>
        </p:nvSpPr>
        <p:spPr>
          <a:xfrm flipV="1">
            <a:off x="8983980" y="3712647"/>
            <a:ext cx="86868" cy="124176"/>
          </a:xfrm>
          <a:prstGeom prst="line">
            <a:avLst/>
          </a:prstGeom>
          <a:noFill/>
          <a:ln w="12700">
            <a:solidFill>
              <a:srgbClr val="C2C2C2"/>
            </a:solidFill>
            <a:prstDash val="solid"/>
          </a:ln>
        </p:spPr>
      </p:sp>
      <p:sp>
        <p:nvSpPr>
          <p:cNvPr id="74" name="Shape 72"/>
          <p:cNvSpPr/>
          <p:nvPr/>
        </p:nvSpPr>
        <p:spPr>
          <a:xfrm flipV="1">
            <a:off x="9070848" y="3555553"/>
            <a:ext cx="86868" cy="157094"/>
          </a:xfrm>
          <a:prstGeom prst="line">
            <a:avLst/>
          </a:prstGeom>
          <a:noFill/>
          <a:ln w="12700">
            <a:solidFill>
              <a:srgbClr val="C2C2C2"/>
            </a:solidFill>
            <a:prstDash val="solid"/>
          </a:ln>
        </p:spPr>
      </p:sp>
      <p:sp>
        <p:nvSpPr>
          <p:cNvPr id="75" name="Shape 73"/>
          <p:cNvSpPr/>
          <p:nvPr/>
        </p:nvSpPr>
        <p:spPr>
          <a:xfrm flipV="1">
            <a:off x="9157716" y="3365541"/>
            <a:ext cx="86868" cy="190012"/>
          </a:xfrm>
          <a:prstGeom prst="line">
            <a:avLst/>
          </a:prstGeom>
          <a:noFill/>
          <a:ln w="12700">
            <a:solidFill>
              <a:srgbClr val="C2C2C2"/>
            </a:solidFill>
            <a:prstDash val="solid"/>
          </a:ln>
        </p:spPr>
      </p:sp>
      <p:sp>
        <p:nvSpPr>
          <p:cNvPr id="76" name="Shape 74"/>
          <p:cNvSpPr/>
          <p:nvPr/>
        </p:nvSpPr>
        <p:spPr>
          <a:xfrm flipV="1">
            <a:off x="9244584" y="3142610"/>
            <a:ext cx="86868" cy="222931"/>
          </a:xfrm>
          <a:prstGeom prst="line">
            <a:avLst/>
          </a:prstGeom>
          <a:noFill/>
          <a:ln w="12700">
            <a:solidFill>
              <a:srgbClr val="C2C2C2"/>
            </a:solidFill>
            <a:prstDash val="solid"/>
          </a:ln>
        </p:spPr>
      </p:sp>
      <p:sp>
        <p:nvSpPr>
          <p:cNvPr id="77" name="Shape 75"/>
          <p:cNvSpPr/>
          <p:nvPr/>
        </p:nvSpPr>
        <p:spPr>
          <a:xfrm flipV="1">
            <a:off x="9331452" y="2886761"/>
            <a:ext cx="86868" cy="255849"/>
          </a:xfrm>
          <a:prstGeom prst="line">
            <a:avLst/>
          </a:prstGeom>
          <a:noFill/>
          <a:ln w="12700">
            <a:solidFill>
              <a:srgbClr val="C2C2C2"/>
            </a:solidFill>
            <a:prstDash val="solid"/>
          </a:ln>
        </p:spPr>
      </p:sp>
      <p:sp>
        <p:nvSpPr>
          <p:cNvPr id="78" name="Shape 76"/>
          <p:cNvSpPr/>
          <p:nvPr/>
        </p:nvSpPr>
        <p:spPr>
          <a:xfrm flipV="1">
            <a:off x="7045452" y="3963924"/>
            <a:ext cx="41148" cy="128016"/>
          </a:xfrm>
          <a:prstGeom prst="line">
            <a:avLst/>
          </a:prstGeom>
          <a:noFill/>
          <a:ln w="12700">
            <a:solidFill>
              <a:srgbClr val="C2C2C2"/>
            </a:solidFill>
            <a:prstDash val="solid"/>
          </a:ln>
        </p:spPr>
      </p:sp>
      <p:sp>
        <p:nvSpPr>
          <p:cNvPr id="79" name="Shape 77"/>
          <p:cNvSpPr/>
          <p:nvPr/>
        </p:nvSpPr>
        <p:spPr>
          <a:xfrm flipV="1">
            <a:off x="7004304" y="4091940"/>
            <a:ext cx="41148" cy="109728"/>
          </a:xfrm>
          <a:prstGeom prst="line">
            <a:avLst/>
          </a:prstGeom>
          <a:noFill/>
          <a:ln w="12700">
            <a:solidFill>
              <a:srgbClr val="C2C2C2"/>
            </a:solidFill>
            <a:prstDash val="solid"/>
          </a:ln>
        </p:spPr>
      </p:sp>
      <p:sp>
        <p:nvSpPr>
          <p:cNvPr id="80" name="Shape 78"/>
          <p:cNvSpPr/>
          <p:nvPr/>
        </p:nvSpPr>
        <p:spPr>
          <a:xfrm flipV="1">
            <a:off x="6963156" y="4201668"/>
            <a:ext cx="41148" cy="91440"/>
          </a:xfrm>
          <a:prstGeom prst="line">
            <a:avLst/>
          </a:prstGeom>
          <a:noFill/>
          <a:ln w="12700">
            <a:solidFill>
              <a:srgbClr val="C2C2C2"/>
            </a:solidFill>
            <a:prstDash val="solid"/>
          </a:ln>
        </p:spPr>
      </p:sp>
      <p:sp>
        <p:nvSpPr>
          <p:cNvPr id="81" name="Shape 79"/>
          <p:cNvSpPr/>
          <p:nvPr/>
        </p:nvSpPr>
        <p:spPr>
          <a:xfrm flipV="1">
            <a:off x="6922008" y="4293108"/>
            <a:ext cx="41148" cy="73152"/>
          </a:xfrm>
          <a:prstGeom prst="line">
            <a:avLst/>
          </a:prstGeom>
          <a:noFill/>
          <a:ln w="12700">
            <a:solidFill>
              <a:srgbClr val="C2C2C2"/>
            </a:solidFill>
            <a:prstDash val="solid"/>
          </a:ln>
        </p:spPr>
      </p:sp>
      <p:sp>
        <p:nvSpPr>
          <p:cNvPr id="82" name="Shape 80"/>
          <p:cNvSpPr/>
          <p:nvPr/>
        </p:nvSpPr>
        <p:spPr>
          <a:xfrm flipV="1">
            <a:off x="6880860" y="4366260"/>
            <a:ext cx="41148" cy="54864"/>
          </a:xfrm>
          <a:prstGeom prst="line">
            <a:avLst/>
          </a:prstGeom>
          <a:noFill/>
          <a:ln w="12700">
            <a:solidFill>
              <a:srgbClr val="C2C2C2"/>
            </a:solidFill>
            <a:prstDash val="solid"/>
          </a:ln>
        </p:spPr>
      </p:sp>
      <p:sp>
        <p:nvSpPr>
          <p:cNvPr id="83" name="Shape 81"/>
          <p:cNvSpPr/>
          <p:nvPr/>
        </p:nvSpPr>
        <p:spPr>
          <a:xfrm flipV="1">
            <a:off x="6839712" y="4421124"/>
            <a:ext cx="41148" cy="36576"/>
          </a:xfrm>
          <a:prstGeom prst="line">
            <a:avLst/>
          </a:prstGeom>
          <a:noFill/>
          <a:ln w="12700">
            <a:solidFill>
              <a:srgbClr val="C2C2C2"/>
            </a:solidFill>
            <a:prstDash val="solid"/>
          </a:ln>
        </p:spPr>
      </p:sp>
      <p:sp>
        <p:nvSpPr>
          <p:cNvPr id="84" name="Shape 82"/>
          <p:cNvSpPr/>
          <p:nvPr/>
        </p:nvSpPr>
        <p:spPr>
          <a:xfrm flipV="1">
            <a:off x="6798564" y="4457700"/>
            <a:ext cx="41148" cy="18288"/>
          </a:xfrm>
          <a:prstGeom prst="line">
            <a:avLst/>
          </a:prstGeom>
          <a:noFill/>
          <a:ln w="12700">
            <a:solidFill>
              <a:srgbClr val="C2C2C2"/>
            </a:solidFill>
            <a:prstDash val="solid"/>
          </a:ln>
        </p:spPr>
      </p:sp>
      <p:sp>
        <p:nvSpPr>
          <p:cNvPr id="85" name="Shape 83"/>
          <p:cNvSpPr/>
          <p:nvPr/>
        </p:nvSpPr>
        <p:spPr>
          <a:xfrm flipV="1">
            <a:off x="6757416" y="4475988"/>
            <a:ext cx="41148" cy="0"/>
          </a:xfrm>
          <a:prstGeom prst="line">
            <a:avLst/>
          </a:prstGeom>
          <a:noFill/>
          <a:ln w="12700">
            <a:solidFill>
              <a:srgbClr val="C2C2C2"/>
            </a:solidFill>
            <a:prstDash val="solid"/>
          </a:ln>
        </p:spPr>
      </p:sp>
      <p:sp>
        <p:nvSpPr>
          <p:cNvPr id="86" name="Shape 84"/>
          <p:cNvSpPr/>
          <p:nvPr/>
        </p:nvSpPr>
        <p:spPr>
          <a:xfrm>
            <a:off x="6716268" y="4457700"/>
            <a:ext cx="41148" cy="18288"/>
          </a:xfrm>
          <a:prstGeom prst="line">
            <a:avLst/>
          </a:prstGeom>
          <a:noFill/>
          <a:ln w="12700">
            <a:solidFill>
              <a:srgbClr val="C2C2C2"/>
            </a:solidFill>
            <a:prstDash val="solid"/>
          </a:ln>
        </p:spPr>
      </p:sp>
      <p:sp>
        <p:nvSpPr>
          <p:cNvPr id="87" name="Shape 85"/>
          <p:cNvSpPr/>
          <p:nvPr/>
        </p:nvSpPr>
        <p:spPr>
          <a:xfrm>
            <a:off x="6675120" y="4421124"/>
            <a:ext cx="41148" cy="36576"/>
          </a:xfrm>
          <a:prstGeom prst="line">
            <a:avLst/>
          </a:prstGeom>
          <a:noFill/>
          <a:ln w="12700">
            <a:solidFill>
              <a:srgbClr val="C2C2C2"/>
            </a:solidFill>
            <a:prstDash val="solid"/>
          </a:ln>
        </p:spPr>
      </p:sp>
      <p:sp>
        <p:nvSpPr>
          <p:cNvPr id="88" name="Sensor node 1"/>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p:cNvSpPr/>
          <p:nvPr/>
        </p:nvSpPr>
        <p:spPr>
          <a:xfrm>
            <a:off x="8901684" y="3754526"/>
            <a:ext cx="164592" cy="164592"/>
          </a:xfrm>
          <a:prstGeom prst="ellipse">
            <a:avLst/>
          </a:prstGeom>
          <a:solidFill>
            <a:srgbClr val="D46A12"/>
          </a:solidFill>
          <a:ln w="19050">
            <a:solidFill>
              <a:srgbClr val="E6E6E6"/>
            </a:solidFill>
            <a:prstDash val="solid"/>
          </a:ln>
        </p:spPr>
      </p:sp>
      <p:pic>
        <p:nvPicPr>
          <p:cNvPr id="100" name="Picture 99">
            <a:extLst>
              <a:ext uri="{FF2B5EF4-FFF2-40B4-BE49-F238E27FC236}">
                <a16:creationId xmlns:a16="http://schemas.microsoft.com/office/drawing/2014/main" id="{5B954650-85E7-237E-C060-434F236B25B3}"/>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101" name="Title"/>
          <p:cNvSpPr txBox="1"/>
          <p:nvPr/>
        </p:nvSpPr>
        <p:spPr>
          <a:xfrm>
            <a:off x="548640" y="1005840"/>
            <a:ext cx="6309360" cy="2011680"/>
          </a:xfrm>
          <a:prstGeom prst="rect">
            <a:avLst/>
          </a:prstGeom>
          <a:noFill/>
        </p:spPr>
        <p:txBody>
          <a:bodyPr wrap="square" lIns="0" rIns="0" tIns="0" bIns="0" anchor="t">
            <a:spAutoFit/>
          </a:bodyPr>
          <a:lstStyle/>
          <a:p>
            <a:pPr algn="l"/>
            <a:r>
              <a:rPr sz="4200" b="1">
                <a:solidFill>
                  <a:srgbClr val="1E1E1E"/>
                </a:solidFill>
                <a:latin typeface="Arial"/>
              </a:rPr>
              <a:t>What is a</a:t>
            </a:r>
          </a:p>
          <a:p>
            <a:pPr algn="l"/>
            <a:r>
              <a:rPr sz="4200" b="1">
                <a:solidFill>
                  <a:srgbClr val="1E1E1E"/>
                </a:solidFill>
                <a:latin typeface="Arial"/>
              </a:rPr>
              <a:t>Digital Twin?</a:t>
            </a:r>
          </a:p>
          <a:p>
            <a:pPr algn="l"/>
            <a:r>
              <a:rPr sz="4200" b="1">
                <a:solidFill>
                  <a:srgbClr val="D46A12"/>
                </a:solidFill>
                <a:latin typeface="Arial"/>
              </a:rPr>
              <a:t>VoltMind</a:t>
            </a:r>
          </a:p>
        </p:txBody>
      </p:sp>
      <p:sp>
        <p:nvSpPr>
          <p:cNvPr id="102" name="TextBox 101"/>
          <p:cNvSpPr txBox="1"/>
          <p:nvPr/>
        </p:nvSpPr>
        <p:spPr>
          <a:xfrm>
            <a:off x="548640" y="3017520"/>
            <a:ext cx="6035040" cy="685800"/>
          </a:xfrm>
          <a:prstGeom prst="rect">
            <a:avLst/>
          </a:prstGeom>
          <a:noFill/>
        </p:spPr>
        <p:txBody>
          <a:bodyPr wrap="square" lIns="0" rIns="0" tIns="0" bIns="0" anchor="t">
            <a:spAutoFit/>
          </a:bodyPr>
          <a:lstStyle/>
          <a:p>
            <a:pPr algn="l"/>
            <a:r>
              <a:rPr sz="1500" b="0">
                <a:solidFill>
                  <a:srgbClr val="1E1E1E"/>
                </a:solidFill>
                <a:latin typeface="Arial"/>
              </a:rPr>
              <a:t>A software copy of a transformer that follows its live measurements and checks them against what physics says should be happening.</a:t>
            </a:r>
          </a:p>
        </p:txBody>
      </p:sp>
      <p:sp>
        <p:nvSpPr>
          <p:cNvPr id="103" name="Rectangle 102"/>
          <p:cNvSpPr/>
          <p:nvPr/>
        </p:nvSpPr>
        <p:spPr>
          <a:xfrm>
            <a:off x="548640" y="3840480"/>
            <a:ext cx="1159459" cy="9601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2647" y="3931920"/>
            <a:ext cx="1049731" cy="822960"/>
          </a:xfrm>
          <a:prstGeom prst="rect">
            <a:avLst/>
          </a:prstGeom>
          <a:noFill/>
        </p:spPr>
        <p:txBody>
          <a:bodyPr wrap="square" lIns="0" rIns="0" tIns="0" bIns="0" anchor="t">
            <a:spAutoFit/>
          </a:bodyPr>
          <a:lstStyle/>
          <a:p>
            <a:pPr algn="l"/>
            <a:r>
              <a:rPr sz="1100" b="1">
                <a:solidFill>
                  <a:srgbClr val="1E1E1E"/>
                </a:solidFill>
                <a:latin typeface="Arial"/>
              </a:rPr>
              <a:t>Transformer</a:t>
            </a:r>
          </a:p>
          <a:p>
            <a:pPr algn="l">
              <a:spcBef>
                <a:spcPts val="300"/>
              </a:spcBef>
            </a:pPr>
            <a:r>
              <a:rPr sz="1050" b="0">
                <a:solidFill>
                  <a:srgbClr val="555555"/>
                </a:solidFill>
                <a:latin typeface="Arial"/>
              </a:rPr>
              <a:t>The physical asset</a:t>
            </a:r>
          </a:p>
        </p:txBody>
      </p:sp>
      <p:cxnSp>
        <p:nvCxnSpPr>
          <p:cNvPr id="105" name="Connector 104"/>
          <p:cNvCxnSpPr/>
          <p:nvPr/>
        </p:nvCxnSpPr>
        <p:spPr>
          <a:xfrm>
            <a:off x="1712671" y="4315968"/>
            <a:ext cx="11887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836115" y="3840480"/>
            <a:ext cx="1159459" cy="9601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900123" y="3931920"/>
            <a:ext cx="1049731" cy="822960"/>
          </a:xfrm>
          <a:prstGeom prst="rect">
            <a:avLst/>
          </a:prstGeom>
          <a:noFill/>
        </p:spPr>
        <p:txBody>
          <a:bodyPr wrap="square" lIns="0" rIns="0" tIns="0" bIns="0" anchor="t">
            <a:spAutoFit/>
          </a:bodyPr>
          <a:lstStyle/>
          <a:p>
            <a:pPr algn="l"/>
            <a:r>
              <a:rPr sz="1100" b="1">
                <a:solidFill>
                  <a:srgbClr val="1E1E1E"/>
                </a:solidFill>
                <a:latin typeface="Arial"/>
              </a:rPr>
              <a:t>SCADA</a:t>
            </a:r>
          </a:p>
          <a:p>
            <a:pPr algn="l">
              <a:spcBef>
                <a:spcPts val="300"/>
              </a:spcBef>
            </a:pPr>
            <a:r>
              <a:rPr sz="1050" b="0">
                <a:solidFill>
                  <a:srgbClr val="555555"/>
                </a:solidFill>
                <a:latin typeface="Arial"/>
              </a:rPr>
              <a:t>Time-stamped sensor data</a:t>
            </a:r>
          </a:p>
        </p:txBody>
      </p:sp>
      <p:cxnSp>
        <p:nvCxnSpPr>
          <p:cNvPr id="108" name="Connector 107"/>
          <p:cNvCxnSpPr/>
          <p:nvPr/>
        </p:nvCxnSpPr>
        <p:spPr>
          <a:xfrm>
            <a:off x="3000146" y="4315968"/>
            <a:ext cx="11887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3123590" y="3840480"/>
            <a:ext cx="1159459" cy="9601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187598" y="3931920"/>
            <a:ext cx="1049731" cy="822960"/>
          </a:xfrm>
          <a:prstGeom prst="rect">
            <a:avLst/>
          </a:prstGeom>
          <a:noFill/>
        </p:spPr>
        <p:txBody>
          <a:bodyPr wrap="square" lIns="0" rIns="0" tIns="0" bIns="0" anchor="t">
            <a:spAutoFit/>
          </a:bodyPr>
          <a:lstStyle/>
          <a:p>
            <a:pPr algn="l"/>
            <a:r>
              <a:rPr sz="1100" b="1">
                <a:solidFill>
                  <a:srgbClr val="1E1E1E"/>
                </a:solidFill>
                <a:latin typeface="Arial"/>
              </a:rPr>
              <a:t>Virtual model</a:t>
            </a:r>
          </a:p>
          <a:p>
            <a:pPr algn="l">
              <a:spcBef>
                <a:spcPts val="300"/>
              </a:spcBef>
            </a:pPr>
            <a:r>
              <a:rPr sz="1050" b="0">
                <a:solidFill>
                  <a:srgbClr val="555555"/>
                </a:solidFill>
                <a:latin typeface="Arial"/>
              </a:rPr>
              <a:t>Expected thermal behaviour</a:t>
            </a:r>
          </a:p>
        </p:txBody>
      </p:sp>
      <p:cxnSp>
        <p:nvCxnSpPr>
          <p:cNvPr id="111" name="Connector 110"/>
          <p:cNvCxnSpPr/>
          <p:nvPr/>
        </p:nvCxnSpPr>
        <p:spPr>
          <a:xfrm>
            <a:off x="4287621" y="4315968"/>
            <a:ext cx="11887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4411065" y="3840480"/>
            <a:ext cx="1159459" cy="9601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475073" y="3931920"/>
            <a:ext cx="1049731" cy="822960"/>
          </a:xfrm>
          <a:prstGeom prst="rect">
            <a:avLst/>
          </a:prstGeom>
          <a:noFill/>
        </p:spPr>
        <p:txBody>
          <a:bodyPr wrap="square" lIns="0" rIns="0" tIns="0" bIns="0" anchor="t">
            <a:spAutoFit/>
          </a:bodyPr>
          <a:lstStyle/>
          <a:p>
            <a:pPr algn="l"/>
            <a:r>
              <a:rPr sz="1100" b="1">
                <a:solidFill>
                  <a:srgbClr val="1E1E1E"/>
                </a:solidFill>
                <a:latin typeface="Arial"/>
              </a:rPr>
              <a:t>Assessment</a:t>
            </a:r>
          </a:p>
          <a:p>
            <a:pPr algn="l">
              <a:spcBef>
                <a:spcPts val="300"/>
              </a:spcBef>
            </a:pPr>
            <a:r>
              <a:rPr sz="1050" b="0">
                <a:solidFill>
                  <a:srgbClr val="555555"/>
                </a:solidFill>
                <a:latin typeface="Arial"/>
              </a:rPr>
              <a:t>Evidence and uncertainty</a:t>
            </a:r>
          </a:p>
        </p:txBody>
      </p:sp>
      <p:cxnSp>
        <p:nvCxnSpPr>
          <p:cNvPr id="114" name="Connector 113"/>
          <p:cNvCxnSpPr/>
          <p:nvPr/>
        </p:nvCxnSpPr>
        <p:spPr>
          <a:xfrm>
            <a:off x="5575096" y="4315968"/>
            <a:ext cx="11887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5698540" y="3840480"/>
            <a:ext cx="1159459" cy="9601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762548" y="3931920"/>
            <a:ext cx="1049731" cy="822960"/>
          </a:xfrm>
          <a:prstGeom prst="rect">
            <a:avLst/>
          </a:prstGeom>
          <a:noFill/>
        </p:spPr>
        <p:txBody>
          <a:bodyPr wrap="square" lIns="0" rIns="0" tIns="0" bIns="0" anchor="t">
            <a:spAutoFit/>
          </a:bodyPr>
          <a:lstStyle/>
          <a:p>
            <a:pPr algn="l"/>
            <a:r>
              <a:rPr sz="1100" b="1">
                <a:solidFill>
                  <a:srgbClr val="1E1E1E"/>
                </a:solidFill>
                <a:latin typeface="Arial"/>
              </a:rPr>
              <a:t>Maintenance</a:t>
            </a:r>
          </a:p>
          <a:p>
            <a:pPr algn="l">
              <a:spcBef>
                <a:spcPts val="300"/>
              </a:spcBef>
            </a:pPr>
            <a:r>
              <a:rPr sz="1050" b="0">
                <a:solidFill>
                  <a:srgbClr val="555555"/>
                </a:solidFill>
                <a:latin typeface="Arial"/>
              </a:rPr>
              <a:t>Engineer makes the call</a:t>
            </a:r>
          </a:p>
        </p:txBody>
      </p:sp>
      <p:sp>
        <p:nvSpPr>
          <p:cNvPr id="117" name="TextBox 116"/>
          <p:cNvSpPr txBox="1"/>
          <p:nvPr/>
        </p:nvSpPr>
        <p:spPr>
          <a:xfrm>
            <a:off x="548640" y="4983480"/>
            <a:ext cx="6126480" cy="457200"/>
          </a:xfrm>
          <a:prstGeom prst="rect">
            <a:avLst/>
          </a:prstGeom>
          <a:noFill/>
        </p:spPr>
        <p:txBody>
          <a:bodyPr wrap="square" lIns="0" rIns="0" tIns="0" bIns="0" anchor="t">
            <a:spAutoFit/>
          </a:bodyPr>
          <a:lstStyle/>
          <a:p>
            <a:pPr algn="l"/>
            <a:r>
              <a:rPr sz="1200" b="1">
                <a:solidFill>
                  <a:srgbClr val="D46A12"/>
                </a:solidFill>
                <a:latin typeface="Arial"/>
              </a:rPr>
              <a:t>Twin, not dashboard: </a:t>
            </a:r>
            <a:r>
              <a:rPr sz="1200" b="0">
                <a:solidFill>
                  <a:srgbClr val="1E1E1E"/>
                </a:solidFill>
                <a:latin typeface="Arial"/>
              </a:rPr>
              <a:t>it stays in step with the data, predicts what the asset should do, and feeds a decision.</a:t>
            </a:r>
          </a:p>
        </p:txBody>
      </p:sp>
      <p:sp>
        <p:nvSpPr>
          <p:cNvPr id="118" name="TextBox 117"/>
          <p:cNvSpPr txBox="1"/>
          <p:nvPr/>
        </p:nvSpPr>
        <p:spPr>
          <a:xfrm>
            <a:off x="548640" y="5486400"/>
            <a:ext cx="6126480" cy="228600"/>
          </a:xfrm>
          <a:prstGeom prst="rect">
            <a:avLst/>
          </a:prstGeom>
          <a:noFill/>
        </p:spPr>
        <p:txBody>
          <a:bodyPr wrap="square" lIns="0" rIns="0" tIns="0" bIns="0" anchor="t">
            <a:spAutoFit/>
          </a:bodyPr>
          <a:lstStyle/>
          <a:p>
            <a:pPr algn="l"/>
            <a:r>
              <a:rPr sz="1050" b="0">
                <a:solidFill>
                  <a:srgbClr val="555555"/>
                </a:solidFill>
                <a:latin typeface="Arial"/>
              </a:rPr>
              <a:t>Built today: replay of recorded SCADA data. Live sensor feeds are the next stage.</a:t>
            </a:r>
          </a:p>
        </p:txBody>
      </p:sp>
      <p:sp>
        <p:nvSpPr>
          <p:cNvPr id="119" name="Team details"/>
          <p:cNvSpPr txBox="1"/>
          <p:nvPr/>
        </p:nvSpPr>
        <p:spPr>
          <a:xfrm>
            <a:off x="548640" y="5779008"/>
            <a:ext cx="6309360" cy="228600"/>
          </a:xfrm>
          <a:prstGeom prst="rect">
            <a:avLst/>
          </a:prstGeom>
          <a:noFill/>
        </p:spPr>
        <p:txBody>
          <a:bodyPr wrap="square" lIns="0" rIns="0" tIns="0" bIns="0" anchor="t">
            <a:spAutoFit/>
          </a:bodyPr>
          <a:lstStyle/>
          <a:p>
            <a:pPr algn="l"/>
            <a:r>
              <a:rPr sz="1050" b="0">
                <a:solidFill>
                  <a:srgbClr val="555555"/>
                </a:solidFill>
                <a:latin typeface="Arial"/>
              </a:rPr>
              <a:t>Team [Team Name]  ·  Problem Statement [ID]  ·  [College]  ·  Mentor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33404-0C69-E57C-1A1B-BD77A8E6ECCE}"/>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F3BF9F08-EBC5-537D-351B-661BB46A314A}"/>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49EBC920-C7B8-A546-DEAC-C18E0059556F}"/>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1169425A-2098-E453-FC00-F30AD6129FB0}"/>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8A774DBC-B331-92F4-3BEF-3CFE1858AAE3}"/>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A986F21E-7BE3-A303-8748-C9F2249E6903}"/>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DC4EF9E3-B916-A1DC-B870-F5E58221066F}"/>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6A85B608-8D75-909E-2FD0-08739F18493E}"/>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72435145-4FBA-E89E-F8D1-86093B85018A}"/>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55FFFC2F-321E-B625-BF28-655912CF5E9C}"/>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4BECCE78-83B2-B3F8-0D2D-6258AAE862DE}"/>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2B0D3DA1-2385-EDAB-EDD1-DA0EA8F7D511}"/>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B28EA596-FEFB-CA38-E9F2-00FDC588B09A}"/>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EA05B98A-E304-C31E-E587-34500310F94C}"/>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425C6162-162D-4979-3B75-750F070230F2}"/>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F69F3C26-CCBE-1DCB-1A0B-818A28172110}"/>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16E87772-660A-CB7E-FAC5-CA859C0E3E77}"/>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1D90026D-77DB-65DF-5E33-422E073E4962}"/>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4D1C4CCA-DAE8-D3C7-6455-92E8AE950723}"/>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F96896E3-E3E0-48CC-81BD-0161ED04791B}"/>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81DD20CF-6DA3-F719-603B-9718581A6708}"/>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64045019-AA37-AF80-73DF-F23F1B9540F1}"/>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928B3594-FBBD-E56D-F962-946AD719E69B}"/>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6149986F-9451-2CAB-F6E9-02C313F25EF0}"/>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50AC964C-1472-E382-21FA-DF932D7340DB}"/>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4B42794F-3F31-B799-F112-72E9E9B85445}"/>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039F673D-9D6F-144C-3DC0-9E6BE0D63794}"/>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E27CD7DB-BE77-6342-FE59-E90B815C50F5}"/>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C71BB6CD-A386-4836-B8CD-D248385064E6}"/>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95732158-E270-6664-ECA8-F22534FAE212}"/>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A3F959A0-770F-2303-3D18-2E0B3C454CF3}"/>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D11A1292-1E92-B3AD-1602-CA86B729B992}"/>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98AD0D97-794D-58D4-BDAF-0619F771FF02}"/>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995F977D-C5A3-8C32-8CB7-A6A3BF056E97}"/>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3DA18957-D666-D363-11FE-378E9D2F0C5F}"/>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E2E879E7-A79D-0B0F-2DC5-809B07AB0914}"/>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DB43EA1B-FB9A-3699-4C07-3BB6347FEBC1}"/>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A8CFCF3A-DB4B-A91E-C6C1-573301AD7355}"/>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6CB20C08-1F9B-A835-1907-BC77C2C4AC8A}"/>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C2276E48-C74D-5793-E47B-C01E050AC61D}"/>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86DA9E4D-C2F9-7759-34AA-CF08B2595E78}"/>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E0EE8783-1BC3-C4E8-5937-4536DA017F59}"/>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E5F3706A-9A83-795D-E163-559C373A75A8}"/>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8AFCA025-86A8-3FC8-0E65-3A98EFF7D9DC}"/>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6CF333E7-864A-6033-2ABA-06DE38619097}"/>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CE545DB7-4BDD-A7C7-1639-3E31DD9AF278}"/>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300560DC-5CE0-D51C-D6E4-CFE1867CE01B}"/>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189C6535-B0B6-76B1-8453-9E3A641EF571}"/>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D39EB780-2379-21D4-F548-C995B2DD0C14}"/>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129C1CAC-ECFB-056B-F30D-57582D77262F}"/>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BAD806EF-038C-27FF-0216-3DDF20BB9955}"/>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1FC2FA68-F0E7-BCA4-5208-8F0722ABEB01}"/>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422F99DC-8BFD-CBCC-43E5-82969D83520E}"/>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7D0C0170-43D5-724C-4582-2915520571E9}"/>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5EF36F2A-6DB1-1FEC-8071-94B3ED986E95}"/>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DE7A7574-5A54-B604-E0D1-C85A1B884787}"/>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AE88EB34-F87F-6A3B-2DE9-735FEEAB47A8}"/>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E285FD2C-645F-B8F3-E4E5-BCB91A3BAECD}"/>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5BC309B2-0E3D-3E27-8DFA-DDDA2026AE72}"/>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31D53D0F-AA2B-2D4D-CF0D-25C84ABA8B42}"/>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39FEF447-F49A-A812-3210-2276D572102F}"/>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0D072669-BFA1-3E4C-FFCE-06F12E6F276E}"/>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740511B2-B9CD-6848-2094-BC7A5626B40C}"/>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DAF1FFB9-174B-4829-BE77-6B71CF873222}"/>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76AE9240-E67B-3B35-9450-CF0A6F299C4B}"/>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9335DED1-5B79-0EBD-59F6-41FF7F30BDDA}"/>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0408BBDF-43C4-C2CD-2627-2950E807594B}"/>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00A5F04A-7D24-4021-AC6E-7796788B8B9F}"/>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55A509F9-6C81-FED3-CD54-C902A7FAD135}"/>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The Problem: One Reading, Many Meanings</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Fixed temperature alarms cannot tell a normal hot afternoon from a developing fault.</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02 / 10</a:t>
            </a:r>
          </a:p>
        </p:txBody>
      </p:sp>
      <p:sp>
        <p:nvSpPr>
          <p:cNvPr id="95" name="TextBox 94"/>
          <p:cNvSpPr txBox="1"/>
          <p:nvPr/>
        </p:nvSpPr>
        <p:spPr>
          <a:xfrm>
            <a:off x="548640" y="1508760"/>
            <a:ext cx="2926080" cy="1097280"/>
          </a:xfrm>
          <a:prstGeom prst="rect">
            <a:avLst/>
          </a:prstGeom>
          <a:noFill/>
        </p:spPr>
        <p:txBody>
          <a:bodyPr wrap="square" lIns="0" rIns="0" tIns="0" bIns="0" anchor="t">
            <a:spAutoFit/>
          </a:bodyPr>
          <a:lstStyle/>
          <a:p>
            <a:pPr algn="l"/>
            <a:r>
              <a:rPr sz="6000" b="1">
                <a:solidFill>
                  <a:srgbClr val="D46A12"/>
                </a:solidFill>
                <a:latin typeface="Arial"/>
              </a:rPr>
              <a:t>75 °C</a:t>
            </a:r>
          </a:p>
        </p:txBody>
      </p:sp>
      <p:sp>
        <p:nvSpPr>
          <p:cNvPr id="96" name="TextBox 95"/>
          <p:cNvSpPr txBox="1"/>
          <p:nvPr/>
        </p:nvSpPr>
        <p:spPr>
          <a:xfrm>
            <a:off x="3520440" y="1600200"/>
            <a:ext cx="2926080" cy="1097280"/>
          </a:xfrm>
          <a:prstGeom prst="rect">
            <a:avLst/>
          </a:prstGeom>
          <a:noFill/>
        </p:spPr>
        <p:txBody>
          <a:bodyPr wrap="square" lIns="0" rIns="0" tIns="0" bIns="0" anchor="t">
            <a:spAutoFit/>
          </a:bodyPr>
          <a:lstStyle/>
          <a:p>
            <a:pPr algn="l"/>
            <a:r>
              <a:rPr sz="1600" b="1">
                <a:solidFill>
                  <a:srgbClr val="1E1E1E"/>
                </a:solidFill>
                <a:latin typeface="Arial"/>
              </a:rPr>
              <a:t>Normal under heavy load? Worrying at light load? Or just a bad sensor?</a:t>
            </a:r>
          </a:p>
        </p:txBody>
      </p:sp>
      <p:sp>
        <p:nvSpPr>
          <p:cNvPr id="97" name="Rectangle 96"/>
          <p:cNvSpPr/>
          <p:nvPr/>
        </p:nvSpPr>
        <p:spPr>
          <a:xfrm>
            <a:off x="548640" y="2788920"/>
            <a:ext cx="2834640" cy="777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85800" y="2898648"/>
            <a:ext cx="2560320" cy="557784"/>
          </a:xfrm>
          <a:prstGeom prst="rect">
            <a:avLst/>
          </a:prstGeom>
          <a:noFill/>
        </p:spPr>
        <p:txBody>
          <a:bodyPr wrap="square" lIns="0" rIns="0" tIns="0" bIns="0" anchor="t">
            <a:spAutoFit/>
          </a:bodyPr>
          <a:lstStyle/>
          <a:p>
            <a:pPr algn="l"/>
            <a:r>
              <a:rPr sz="1100" b="1">
                <a:solidFill>
                  <a:srgbClr val="D46A12"/>
                </a:solidFill>
                <a:latin typeface="Arial"/>
              </a:rPr>
              <a:t>LOAD</a:t>
            </a:r>
          </a:p>
          <a:p>
            <a:pPr algn="l">
              <a:spcBef>
                <a:spcPts val="400"/>
              </a:spcBef>
            </a:pPr>
            <a:r>
              <a:rPr sz="1200" b="0">
                <a:solidFill>
                  <a:srgbClr val="1E1E1E"/>
                </a:solidFill>
                <a:latin typeface="Arial"/>
              </a:rPr>
              <a:t>How much current is the transformer carrying?</a:t>
            </a:r>
          </a:p>
        </p:txBody>
      </p:sp>
      <p:sp>
        <p:nvSpPr>
          <p:cNvPr id="99" name="Rectangle 98"/>
          <p:cNvSpPr/>
          <p:nvPr/>
        </p:nvSpPr>
        <p:spPr>
          <a:xfrm>
            <a:off x="3566160" y="2788920"/>
            <a:ext cx="2834640" cy="777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703320" y="2898648"/>
            <a:ext cx="2560320" cy="557784"/>
          </a:xfrm>
          <a:prstGeom prst="rect">
            <a:avLst/>
          </a:prstGeom>
          <a:noFill/>
        </p:spPr>
        <p:txBody>
          <a:bodyPr wrap="square" lIns="0" rIns="0" tIns="0" bIns="0" anchor="t">
            <a:spAutoFit/>
          </a:bodyPr>
          <a:lstStyle/>
          <a:p>
            <a:pPr algn="l"/>
            <a:r>
              <a:rPr sz="1100" b="1">
                <a:solidFill>
                  <a:srgbClr val="D46A12"/>
                </a:solidFill>
                <a:latin typeface="Arial"/>
              </a:rPr>
              <a:t>AMBIENT</a:t>
            </a:r>
          </a:p>
          <a:p>
            <a:pPr algn="l">
              <a:spcBef>
                <a:spcPts val="400"/>
              </a:spcBef>
            </a:pPr>
            <a:r>
              <a:rPr sz="1200" b="0">
                <a:solidFill>
                  <a:srgbClr val="1E1E1E"/>
                </a:solidFill>
                <a:latin typeface="Arial"/>
              </a:rPr>
              <a:t>How hot is the air around it?</a:t>
            </a:r>
          </a:p>
        </p:txBody>
      </p:sp>
      <p:sp>
        <p:nvSpPr>
          <p:cNvPr id="101" name="Rectangle 100"/>
          <p:cNvSpPr/>
          <p:nvPr/>
        </p:nvSpPr>
        <p:spPr>
          <a:xfrm>
            <a:off x="548640" y="3657600"/>
            <a:ext cx="2834640" cy="777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85800" y="3767328"/>
            <a:ext cx="2560320" cy="557784"/>
          </a:xfrm>
          <a:prstGeom prst="rect">
            <a:avLst/>
          </a:prstGeom>
          <a:noFill/>
        </p:spPr>
        <p:txBody>
          <a:bodyPr wrap="square" lIns="0" rIns="0" tIns="0" bIns="0" anchor="t">
            <a:spAutoFit/>
          </a:bodyPr>
          <a:lstStyle/>
          <a:p>
            <a:pPr algn="l"/>
            <a:r>
              <a:rPr sz="1100" b="1">
                <a:solidFill>
                  <a:srgbClr val="D46A12"/>
                </a:solidFill>
                <a:latin typeface="Arial"/>
              </a:rPr>
              <a:t>HISTORY</a:t>
            </a:r>
          </a:p>
          <a:p>
            <a:pPr algn="l">
              <a:spcBef>
                <a:spcPts val="400"/>
              </a:spcBef>
            </a:pPr>
            <a:r>
              <a:rPr sz="1200" b="0">
                <a:solidFill>
                  <a:srgbClr val="1E1E1E"/>
                </a:solidFill>
                <a:latin typeface="Arial"/>
              </a:rPr>
              <a:t>Has the oil had time to heat up or cool down?</a:t>
            </a:r>
          </a:p>
        </p:txBody>
      </p:sp>
      <p:sp>
        <p:nvSpPr>
          <p:cNvPr id="103" name="Rectangle 102"/>
          <p:cNvSpPr/>
          <p:nvPr/>
        </p:nvSpPr>
        <p:spPr>
          <a:xfrm>
            <a:off x="3566160" y="3657600"/>
            <a:ext cx="2834640" cy="777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703320" y="3767328"/>
            <a:ext cx="2560320" cy="557784"/>
          </a:xfrm>
          <a:prstGeom prst="rect">
            <a:avLst/>
          </a:prstGeom>
          <a:noFill/>
        </p:spPr>
        <p:txBody>
          <a:bodyPr wrap="square" lIns="0" rIns="0" tIns="0" bIns="0" anchor="t">
            <a:spAutoFit/>
          </a:bodyPr>
          <a:lstStyle/>
          <a:p>
            <a:pPr algn="l"/>
            <a:r>
              <a:rPr sz="1100" b="1">
                <a:solidFill>
                  <a:srgbClr val="D46A12"/>
                </a:solidFill>
                <a:latin typeface="Arial"/>
              </a:rPr>
              <a:t>TRUST</a:t>
            </a:r>
          </a:p>
          <a:p>
            <a:pPr algn="l">
              <a:spcBef>
                <a:spcPts val="400"/>
              </a:spcBef>
            </a:pPr>
            <a:r>
              <a:rPr sz="1200" b="0">
                <a:solidFill>
                  <a:srgbClr val="1E1E1E"/>
                </a:solidFill>
                <a:latin typeface="Arial"/>
              </a:rPr>
              <a:t>Are the sensor, timing and calibration credible?</a:t>
            </a:r>
          </a:p>
        </p:txBody>
      </p:sp>
      <p:sp>
        <p:nvSpPr>
          <p:cNvPr id="105" name="Rectangle 104"/>
          <p:cNvSpPr/>
          <p:nvPr/>
        </p:nvSpPr>
        <p:spPr>
          <a:xfrm>
            <a:off x="548640" y="4617720"/>
            <a:ext cx="2834640" cy="105156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85800" y="4681728"/>
            <a:ext cx="2560320" cy="365760"/>
          </a:xfrm>
          <a:prstGeom prst="rect">
            <a:avLst/>
          </a:prstGeom>
          <a:noFill/>
        </p:spPr>
        <p:txBody>
          <a:bodyPr wrap="square" lIns="0" rIns="0" tIns="0" bIns="0" anchor="t">
            <a:spAutoFit/>
          </a:bodyPr>
          <a:lstStyle/>
          <a:p>
            <a:pPr algn="l"/>
            <a:r>
              <a:rPr sz="1800" b="1">
                <a:solidFill>
                  <a:srgbClr val="D46A12"/>
                </a:solidFill>
                <a:latin typeface="Arial"/>
              </a:rPr>
              <a:t>≈1.3 million</a:t>
            </a:r>
          </a:p>
        </p:txBody>
      </p:sp>
      <p:sp>
        <p:nvSpPr>
          <p:cNvPr id="107" name="TextBox 106"/>
          <p:cNvSpPr txBox="1"/>
          <p:nvPr/>
        </p:nvSpPr>
        <p:spPr>
          <a:xfrm>
            <a:off x="685800" y="5047488"/>
            <a:ext cx="2560320" cy="594360"/>
          </a:xfrm>
          <a:prstGeom prst="rect">
            <a:avLst/>
          </a:prstGeom>
          <a:noFill/>
        </p:spPr>
        <p:txBody>
          <a:bodyPr wrap="square" lIns="0" rIns="0" tIns="0" bIns="0" anchor="t">
            <a:spAutoFit/>
          </a:bodyPr>
          <a:lstStyle/>
          <a:p>
            <a:pPr algn="l"/>
            <a:r>
              <a:rPr sz="1100" b="0">
                <a:solidFill>
                  <a:srgbClr val="1E1E1E"/>
                </a:solidFill>
                <a:latin typeface="Arial"/>
              </a:rPr>
              <a:t>distribution transformers reported failing in India each year (Mercom India, Nov 2025)</a:t>
            </a:r>
          </a:p>
        </p:txBody>
      </p:sp>
      <p:sp>
        <p:nvSpPr>
          <p:cNvPr id="108" name="Rectangle 107"/>
          <p:cNvSpPr/>
          <p:nvPr/>
        </p:nvSpPr>
        <p:spPr>
          <a:xfrm>
            <a:off x="3566160" y="4617720"/>
            <a:ext cx="2834640" cy="105156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703320" y="4681728"/>
            <a:ext cx="2560320" cy="365760"/>
          </a:xfrm>
          <a:prstGeom prst="rect">
            <a:avLst/>
          </a:prstGeom>
          <a:noFill/>
        </p:spPr>
        <p:txBody>
          <a:bodyPr wrap="square" lIns="0" rIns="0" tIns="0" bIns="0" anchor="t">
            <a:spAutoFit/>
          </a:bodyPr>
          <a:lstStyle/>
          <a:p>
            <a:pPr algn="l"/>
            <a:r>
              <a:rPr sz="1800" b="1">
                <a:solidFill>
                  <a:srgbClr val="D46A12"/>
                </a:solidFill>
                <a:latin typeface="Arial"/>
              </a:rPr>
              <a:t>2× faster</a:t>
            </a:r>
          </a:p>
        </p:txBody>
      </p:sp>
      <p:sp>
        <p:nvSpPr>
          <p:cNvPr id="110" name="TextBox 109"/>
          <p:cNvSpPr txBox="1"/>
          <p:nvPr/>
        </p:nvSpPr>
        <p:spPr>
          <a:xfrm>
            <a:off x="3703320" y="5047488"/>
            <a:ext cx="2560320" cy="594360"/>
          </a:xfrm>
          <a:prstGeom prst="rect">
            <a:avLst/>
          </a:prstGeom>
          <a:noFill/>
        </p:spPr>
        <p:txBody>
          <a:bodyPr wrap="square" lIns="0" rIns="0" tIns="0" bIns="0" anchor="t">
            <a:spAutoFit/>
          </a:bodyPr>
          <a:lstStyle/>
          <a:p>
            <a:pPr algn="l"/>
            <a:r>
              <a:rPr sz="1100" b="0">
                <a:solidFill>
                  <a:srgbClr val="1E1E1E"/>
                </a:solidFill>
                <a:latin typeface="Arial"/>
              </a:rPr>
              <a:t>insulation ageing for every sustained 6 °C of extra hot-spot temperature (IEC 60076-7)</a:t>
            </a:r>
          </a:p>
        </p:txBody>
      </p:sp>
      <p:sp>
        <p:nvSpPr>
          <p:cNvPr id="111" name="TextBox 110"/>
          <p:cNvSpPr txBox="1"/>
          <p:nvPr/>
        </p:nvSpPr>
        <p:spPr>
          <a:xfrm>
            <a:off x="548640" y="5760720"/>
            <a:ext cx="5943600" cy="274320"/>
          </a:xfrm>
          <a:prstGeom prst="rect">
            <a:avLst/>
          </a:prstGeom>
          <a:noFill/>
        </p:spPr>
        <p:txBody>
          <a:bodyPr wrap="square" lIns="0" rIns="0" tIns="0" bIns="0" anchor="t">
            <a:spAutoFit/>
          </a:bodyPr>
          <a:lstStyle/>
          <a:p>
            <a:pPr algn="l"/>
            <a:r>
              <a:rPr sz="1050" b="0">
                <a:solidFill>
                  <a:srgbClr val="555555"/>
                </a:solidFill>
                <a:latin typeface="Arial"/>
              </a:rPr>
              <a:t>75 °C is an example, not a threshold. Protection limits stay; VoltMind adds context.</a:t>
            </a:r>
          </a:p>
        </p:txBody>
      </p:sp>
    </p:spTree>
    <p:extLst>
      <p:ext uri="{BB962C8B-B14F-4D97-AF65-F5344CB8AC3E}">
        <p14:creationId xmlns:p14="http://schemas.microsoft.com/office/powerpoint/2010/main" val="1075166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F0B7-6408-9DBF-02FF-28135D715CA9}"/>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DC7122EC-CFC7-FF52-6E15-53DBA441A62D}"/>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5C398131-A8F2-36E9-780F-C4FEE73883C1}"/>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7D4F29B1-FC94-FA00-81E8-96D0BB7A46B4}"/>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2C18041D-ECDD-5DEE-BFE1-FB79802AA8FD}"/>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51FEA03E-C88B-64F6-B310-7BF93CEC4944}"/>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FA3E57FD-95D5-4AFA-62C3-77F934C98C95}"/>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828BF815-05CA-E8B5-D536-B5D4D865B3FF}"/>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942C6AAE-1456-A740-20FE-7D7D33F4427F}"/>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7E686CA4-13AA-2CA1-EEC7-50D449AA77C0}"/>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A7065FFB-EF0C-A370-D48E-4DA7BDC1E7AF}"/>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E97146EA-B8BD-37C8-64F4-55E149AE9125}"/>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144FAB5E-1199-8F3E-A33F-CA1BA01581EB}"/>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87E7F09C-0EC8-7ED1-2965-614386912347}"/>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FF744100-2AE7-1533-382D-BD402F9F4EBB}"/>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2EC3461F-2FC9-FEEA-0A43-9D8C16CFA497}"/>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64E9D767-E846-C919-B1EA-C7EB5AAB19E9}"/>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E9420ACF-1923-50DD-5DCC-439FB7C38943}"/>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30A80D3B-FA5A-B023-3E08-A148A973D951}"/>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2C36CE6B-7B1C-9F55-A3FF-4175DF2B56A2}"/>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5255BD5A-5FB8-63FA-3B74-C445A561C7A6}"/>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0F8AED6A-69CF-55EB-EB8B-68B3AA98B271}"/>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CB50640B-E7E3-499C-C3F4-FCAD3603DEAD}"/>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26ACBDE5-871C-8E8D-7AAB-93A2AC18CFF9}"/>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EA2D57C4-77C5-C9E6-D898-E71736980D45}"/>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4BEA64A7-2A15-9C95-EFDC-F6521A480B1F}"/>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82066320-F922-0174-7CB4-F0AD3FC1C488}"/>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EAFBC1BE-9299-383E-999C-649202526F69}"/>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F6588E15-F027-8C66-457F-93E8F786A714}"/>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34748CEE-0DF0-8F2E-78F1-A2CC6AF0E594}"/>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A81127C3-B008-7998-96C0-B68325959392}"/>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38CB8BB2-DDDD-8ED5-1540-7248BC8F9133}"/>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E31B2675-B004-E9FC-A98F-4487AABA0E2D}"/>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1C158118-A11F-3F22-BB43-4A5B0AD6E5D3}"/>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C6D529DA-2B62-09F8-1088-1D94E514BEED}"/>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7FA02E6C-8459-CF79-AF81-F89540281DCD}"/>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451AD2B1-240D-AFE3-010C-8FA30E2FD618}"/>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F17888EA-5780-C400-BE88-5ECAD12D2F19}"/>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A0F53D89-1330-1264-14F5-F8EF4C2054B9}"/>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71E841F0-5A8C-8673-7E33-E0E199C75E69}"/>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41CEEAC7-7CC5-96A9-403B-A85E65533786}"/>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1C48B4BD-63DA-141B-E31D-55ABFB13BB0A}"/>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B98687AD-15C4-76E3-4602-4BE31DC3491D}"/>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42404D35-B15D-F02D-4B79-245752374522}"/>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FFE8D88E-A0EF-3EDA-3303-0AFC87DC62E5}"/>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465504DA-1EE8-139D-49AC-1FC58F42463D}"/>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88DE3F81-C7E2-8B82-D7F4-453D25DBDE6E}"/>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35597A77-C202-4D29-744A-6155F936D63E}"/>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6FDF5C41-BE2C-4673-2496-0B146EBF107A}"/>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9A5D2162-025B-8FD6-57A5-9B638A5F80F7}"/>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85D91377-B1F7-50C0-A72B-73A07F6AB365}"/>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66FFDA86-290D-B1CD-0B3E-B836BC8022DB}"/>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2A4B89B6-8C3C-3CC2-621D-8DA3944DAB46}"/>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061ADD52-B8F0-E59E-DA23-B7FDCCC50288}"/>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48DF97C9-8C2E-3EB9-9ED1-EC136D17B8B0}"/>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AF50F518-BB2C-DC98-3585-52F56895CE6D}"/>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BA380293-BC29-8C03-DE27-02CE7FE090F5}"/>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2119062F-11D9-0E85-3917-DC55265B785A}"/>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0AF03108-08DF-2E0A-1048-93E568846F9B}"/>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2D11BE54-33E2-1105-D39B-56937208E6CA}"/>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47BD066B-7386-3721-9329-3FCD767C7AA5}"/>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78B8AC9D-D759-3107-9A3C-48AE04999350}"/>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503599EC-BA68-6DFD-23F3-037859CEE78C}"/>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43CABDCB-05C8-6388-88E7-9063E5853CEE}"/>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7EE955A0-2E55-32DF-C2B7-D4E2F619DCBD}"/>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FB4EC052-5997-E446-84D5-82F838260B2F}"/>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83F5C832-CB6B-ED7C-3C14-5F9F5AB8FE18}"/>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83DCA451-9672-53B6-9065-16DD5249ED1F}"/>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5B2ED156-1042-BEAD-D7AF-05CE47DA70FA}"/>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System Architecture: Measurements to Decisions</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Three running services and one traceable path from raw data to an engineer's decision.</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03 / 10</a:t>
            </a:r>
          </a:p>
        </p:txBody>
      </p:sp>
      <p:sp>
        <p:nvSpPr>
          <p:cNvPr id="95" name="Rectangle 94"/>
          <p:cNvSpPr/>
          <p:nvPr/>
        </p:nvSpPr>
        <p:spPr>
          <a:xfrm>
            <a:off x="548640" y="160020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5800" y="1709928"/>
            <a:ext cx="1965960" cy="1197864"/>
          </a:xfrm>
          <a:prstGeom prst="rect">
            <a:avLst/>
          </a:prstGeom>
          <a:noFill/>
        </p:spPr>
        <p:txBody>
          <a:bodyPr wrap="square" lIns="0" rIns="0" tIns="0" bIns="0" anchor="t">
            <a:spAutoFit/>
          </a:bodyPr>
          <a:lstStyle/>
          <a:p>
            <a:pPr algn="l"/>
            <a:r>
              <a:rPr sz="1100" b="1">
                <a:solidFill>
                  <a:srgbClr val="D46A12"/>
                </a:solidFill>
                <a:latin typeface="Arial"/>
              </a:rPr>
              <a:t>SCADA SOURCE</a:t>
            </a:r>
          </a:p>
          <a:p>
            <a:pPr algn="l">
              <a:spcBef>
                <a:spcPts val="400"/>
              </a:spcBef>
            </a:pPr>
            <a:r>
              <a:rPr sz="1200" b="0">
                <a:solidFill>
                  <a:srgbClr val="1E1E1E"/>
                </a:solidFill>
                <a:latin typeface="Arial"/>
              </a:rPr>
              <a:t>Local replay or uploaded file</a:t>
            </a:r>
          </a:p>
          <a:p>
            <a:pPr algn="l">
              <a:spcBef>
                <a:spcPts val="400"/>
              </a:spcBef>
            </a:pPr>
            <a:r>
              <a:rPr sz="1100" b="0">
                <a:solidFill>
                  <a:srgbClr val="555555"/>
                </a:solidFill>
                <a:latin typeface="Arial"/>
              </a:rPr>
              <a:t>CSV, TSV, TXT, XLSX, JSON. Live gateway planned.</a:t>
            </a:r>
          </a:p>
        </p:txBody>
      </p:sp>
      <p:sp>
        <p:nvSpPr>
          <p:cNvPr id="97" name="Rectangle 96"/>
          <p:cNvSpPr/>
          <p:nvPr/>
        </p:nvSpPr>
        <p:spPr>
          <a:xfrm>
            <a:off x="3520440" y="1600200"/>
            <a:ext cx="2240280" cy="14173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657600" y="1709928"/>
            <a:ext cx="1965960" cy="1197864"/>
          </a:xfrm>
          <a:prstGeom prst="rect">
            <a:avLst/>
          </a:prstGeom>
          <a:noFill/>
        </p:spPr>
        <p:txBody>
          <a:bodyPr wrap="square" lIns="0" rIns="0" tIns="0" bIns="0" anchor="t">
            <a:spAutoFit/>
          </a:bodyPr>
          <a:lstStyle/>
          <a:p>
            <a:pPr algn="l"/>
            <a:r>
              <a:rPr sz="1100" b="1">
                <a:solidFill>
                  <a:srgbClr val="D46A12"/>
                </a:solidFill>
                <a:latin typeface="Arial"/>
              </a:rPr>
              <a:t>SPRING BOOT  ·  :8080</a:t>
            </a:r>
          </a:p>
          <a:p>
            <a:pPr algn="l">
              <a:spcBef>
                <a:spcPts val="400"/>
              </a:spcBef>
            </a:pPr>
            <a:r>
              <a:rPr sz="1200" b="0">
                <a:solidFill>
                  <a:srgbClr val="1E1E1E"/>
                </a:solidFill>
                <a:latin typeface="Arial"/>
              </a:rPr>
              <a:t>Session control and API proxy</a:t>
            </a:r>
          </a:p>
          <a:p>
            <a:pPr algn="l">
              <a:spcBef>
                <a:spcPts val="400"/>
              </a:spcBef>
            </a:pPr>
            <a:r>
              <a:rPr sz="1100" b="0">
                <a:solidFill>
                  <a:srgbClr val="555555"/>
                </a:solidFill>
                <a:latin typeface="Arial"/>
              </a:rPr>
              <a:t>Everything runs locally today</a:t>
            </a:r>
          </a:p>
        </p:txBody>
      </p:sp>
      <p:sp>
        <p:nvSpPr>
          <p:cNvPr id="99" name="Rectangle 98"/>
          <p:cNvSpPr/>
          <p:nvPr/>
        </p:nvSpPr>
        <p:spPr>
          <a:xfrm>
            <a:off x="6492240" y="1600200"/>
            <a:ext cx="2240280" cy="14173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629400" y="1709928"/>
            <a:ext cx="1965960" cy="1197864"/>
          </a:xfrm>
          <a:prstGeom prst="rect">
            <a:avLst/>
          </a:prstGeom>
          <a:noFill/>
        </p:spPr>
        <p:txBody>
          <a:bodyPr wrap="square" lIns="0" rIns="0" tIns="0" bIns="0" anchor="t">
            <a:spAutoFit/>
          </a:bodyPr>
          <a:lstStyle/>
          <a:p>
            <a:pPr algn="l"/>
            <a:r>
              <a:rPr sz="1100" b="1">
                <a:solidFill>
                  <a:srgbClr val="D46A12"/>
                </a:solidFill>
                <a:latin typeface="Arial"/>
              </a:rPr>
              <a:t>PYTHON ML  ·  :8765</a:t>
            </a:r>
          </a:p>
          <a:p>
            <a:pPr algn="l">
              <a:spcBef>
                <a:spcPts val="400"/>
              </a:spcBef>
            </a:pPr>
            <a:r>
              <a:rPr sz="1200" b="0">
                <a:solidFill>
                  <a:srgbClr val="1E1E1E"/>
                </a:solidFill>
                <a:latin typeface="Arial"/>
              </a:rPr>
              <a:t>Normalise, validate, infer</a:t>
            </a:r>
          </a:p>
          <a:p>
            <a:pPr algn="l">
              <a:spcBef>
                <a:spcPts val="400"/>
              </a:spcBef>
            </a:pPr>
            <a:r>
              <a:rPr sz="1100" b="0">
                <a:solidFill>
                  <a:srgbClr val="555555"/>
                </a:solidFill>
                <a:latin typeface="Arial"/>
              </a:rPr>
              <a:t>Thermal physics + rating-specific models</a:t>
            </a:r>
          </a:p>
        </p:txBody>
      </p:sp>
      <p:sp>
        <p:nvSpPr>
          <p:cNvPr id="101" name="Rectangle 100"/>
          <p:cNvSpPr/>
          <p:nvPr/>
        </p:nvSpPr>
        <p:spPr>
          <a:xfrm>
            <a:off x="9464040" y="160020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601200" y="1709928"/>
            <a:ext cx="1965960" cy="1197864"/>
          </a:xfrm>
          <a:prstGeom prst="rect">
            <a:avLst/>
          </a:prstGeom>
          <a:noFill/>
        </p:spPr>
        <p:txBody>
          <a:bodyPr wrap="square" lIns="0" rIns="0" tIns="0" bIns="0" anchor="t">
            <a:spAutoFit/>
          </a:bodyPr>
          <a:lstStyle/>
          <a:p>
            <a:pPr algn="l"/>
            <a:r>
              <a:rPr sz="1100" b="1">
                <a:solidFill>
                  <a:srgbClr val="D46A12"/>
                </a:solidFill>
                <a:latin typeface="Arial"/>
              </a:rPr>
              <a:t>TWIN INTELLIGENCE</a:t>
            </a:r>
          </a:p>
          <a:p>
            <a:pPr algn="l">
              <a:spcBef>
                <a:spcPts val="400"/>
              </a:spcBef>
            </a:pPr>
            <a:r>
              <a:rPr sz="1200" b="0">
                <a:solidFill>
                  <a:srgbClr val="1E1E1E"/>
                </a:solidFill>
                <a:latin typeface="Arial"/>
              </a:rPr>
              <a:t>Five investigation modules</a:t>
            </a:r>
          </a:p>
          <a:p>
            <a:pPr algn="l">
              <a:spcBef>
                <a:spcPts val="400"/>
              </a:spcBef>
            </a:pPr>
            <a:r>
              <a:rPr sz="1100" b="0">
                <a:solidFill>
                  <a:srgbClr val="555555"/>
                </a:solidFill>
                <a:latin typeface="Arial"/>
              </a:rPr>
              <a:t>100 kVA transformer</a:t>
            </a:r>
          </a:p>
        </p:txBody>
      </p:sp>
      <p:cxnSp>
        <p:nvCxnSpPr>
          <p:cNvPr id="103" name="Connector 102"/>
          <p:cNvCxnSpPr/>
          <p:nvPr/>
        </p:nvCxnSpPr>
        <p:spPr>
          <a:xfrm>
            <a:off x="2807208" y="2308860"/>
            <a:ext cx="694944"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779008" y="2308860"/>
            <a:ext cx="694944"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750808" y="2308860"/>
            <a:ext cx="694944"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548640" y="361188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85800" y="3721608"/>
            <a:ext cx="1965960" cy="1197864"/>
          </a:xfrm>
          <a:prstGeom prst="rect">
            <a:avLst/>
          </a:prstGeom>
          <a:noFill/>
        </p:spPr>
        <p:txBody>
          <a:bodyPr wrap="square" lIns="0" rIns="0" tIns="0" bIns="0" anchor="t">
            <a:spAutoFit/>
          </a:bodyPr>
          <a:lstStyle/>
          <a:p>
            <a:pPr algn="l"/>
            <a:r>
              <a:rPr sz="1100" b="1">
                <a:solidFill>
                  <a:srgbClr val="D46A12"/>
                </a:solidFill>
                <a:latin typeface="Arial"/>
              </a:rPr>
              <a:t>INPUT CONTRACT</a:t>
            </a:r>
          </a:p>
          <a:p>
            <a:pPr algn="l">
              <a:spcBef>
                <a:spcPts val="400"/>
              </a:spcBef>
            </a:pPr>
            <a:r>
              <a:rPr sz="1200" b="0">
                <a:solidFill>
                  <a:srgbClr val="1E1E1E"/>
                </a:solidFill>
                <a:latin typeface="Arial"/>
              </a:rPr>
              <a:t>Schema, units and time order must be valid before anything is replayed</a:t>
            </a:r>
          </a:p>
        </p:txBody>
      </p:sp>
      <p:sp>
        <p:nvSpPr>
          <p:cNvPr id="108" name="Rectangle 107"/>
          <p:cNvSpPr/>
          <p:nvPr/>
        </p:nvSpPr>
        <p:spPr>
          <a:xfrm>
            <a:off x="3520440" y="361188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657600" y="3721608"/>
            <a:ext cx="1965960" cy="1197864"/>
          </a:xfrm>
          <a:prstGeom prst="rect">
            <a:avLst/>
          </a:prstGeom>
          <a:noFill/>
        </p:spPr>
        <p:txBody>
          <a:bodyPr wrap="square" lIns="0" rIns="0" tIns="0" bIns="0" anchor="t">
            <a:spAutoFit/>
          </a:bodyPr>
          <a:lstStyle/>
          <a:p>
            <a:pPr algn="l"/>
            <a:r>
              <a:rPr sz="1100" b="1">
                <a:solidFill>
                  <a:srgbClr val="D46A12"/>
                </a:solidFill>
                <a:latin typeface="Arial"/>
              </a:rPr>
              <a:t>REACT + VITE  ·  :5173</a:t>
            </a:r>
          </a:p>
          <a:p>
            <a:pPr algn="l">
              <a:spcBef>
                <a:spcPts val="400"/>
              </a:spcBef>
            </a:pPr>
            <a:r>
              <a:rPr sz="1200" b="0">
                <a:solidFill>
                  <a:srgbClr val="1E1E1E"/>
                </a:solidFill>
                <a:latin typeface="Arial"/>
              </a:rPr>
              <a:t>Trends, alarms, evidence and a local assistant</a:t>
            </a:r>
          </a:p>
        </p:txBody>
      </p:sp>
      <p:sp>
        <p:nvSpPr>
          <p:cNvPr id="110" name="Rectangle 109"/>
          <p:cNvSpPr/>
          <p:nvPr/>
        </p:nvSpPr>
        <p:spPr>
          <a:xfrm>
            <a:off x="6492240" y="361188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629400" y="3721608"/>
            <a:ext cx="1965960" cy="1197864"/>
          </a:xfrm>
          <a:prstGeom prst="rect">
            <a:avLst/>
          </a:prstGeom>
          <a:noFill/>
        </p:spPr>
        <p:txBody>
          <a:bodyPr wrap="square" lIns="0" rIns="0" tIns="0" bIns="0" anchor="t">
            <a:spAutoFit/>
          </a:bodyPr>
          <a:lstStyle/>
          <a:p>
            <a:pPr algn="l"/>
            <a:r>
              <a:rPr sz="1100" b="1">
                <a:solidFill>
                  <a:srgbClr val="D46A12"/>
                </a:solidFill>
                <a:latin typeface="Arial"/>
              </a:rPr>
              <a:t>LOCAL ASSISTANT</a:t>
            </a:r>
          </a:p>
          <a:p>
            <a:pPr algn="l">
              <a:spcBef>
                <a:spcPts val="400"/>
              </a:spcBef>
            </a:pPr>
            <a:r>
              <a:rPr sz="1200" b="0">
                <a:solidFill>
                  <a:srgbClr val="1E1E1E"/>
                </a:solidFill>
                <a:latin typeface="Arial"/>
              </a:rPr>
              <a:t>Answers from a fresh summary of the backend. It is not an external chatbot.</a:t>
            </a:r>
          </a:p>
        </p:txBody>
      </p:sp>
      <p:sp>
        <p:nvSpPr>
          <p:cNvPr id="112" name="Rectangle 111"/>
          <p:cNvSpPr/>
          <p:nvPr/>
        </p:nvSpPr>
        <p:spPr>
          <a:xfrm>
            <a:off x="9464040" y="3611880"/>
            <a:ext cx="2240280" cy="14173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601200" y="3721608"/>
            <a:ext cx="1965960" cy="1197864"/>
          </a:xfrm>
          <a:prstGeom prst="rect">
            <a:avLst/>
          </a:prstGeom>
          <a:noFill/>
        </p:spPr>
        <p:txBody>
          <a:bodyPr wrap="square" lIns="0" rIns="0" tIns="0" bIns="0" anchor="t">
            <a:spAutoFit/>
          </a:bodyPr>
          <a:lstStyle/>
          <a:p>
            <a:pPr algn="l"/>
            <a:r>
              <a:rPr sz="1100" b="1">
                <a:solidFill>
                  <a:srgbClr val="D46A12"/>
                </a:solidFill>
                <a:latin typeface="Arial"/>
              </a:rPr>
              <a:t>SQLITE</a:t>
            </a:r>
          </a:p>
          <a:p>
            <a:pPr algn="l">
              <a:spcBef>
                <a:spcPts val="400"/>
              </a:spcBef>
            </a:pPr>
            <a:r>
              <a:rPr sz="1200" b="0">
                <a:solidFill>
                  <a:srgbClr val="1E1E1E"/>
                </a:solidFill>
                <a:latin typeface="Arial"/>
              </a:rPr>
              <a:t>Incident history and the maintenance records engineers enter</a:t>
            </a:r>
          </a:p>
        </p:txBody>
      </p:sp>
      <p:cxnSp>
        <p:nvCxnSpPr>
          <p:cNvPr id="114" name="Connector 113"/>
          <p:cNvCxnSpPr/>
          <p:nvPr/>
        </p:nvCxnSpPr>
        <p:spPr>
          <a:xfrm>
            <a:off x="4640580" y="3035808"/>
            <a:ext cx="0" cy="557784"/>
          </a:xfrm>
          <a:prstGeom prst="line">
            <a:avLst/>
          </a:prstGeom>
          <a:ln w="19050">
            <a:solidFill>
              <a:srgbClr val="D46A1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750308" y="3200400"/>
            <a:ext cx="1463040" cy="457200"/>
          </a:xfrm>
          <a:prstGeom prst="rect">
            <a:avLst/>
          </a:prstGeom>
          <a:noFill/>
        </p:spPr>
        <p:txBody>
          <a:bodyPr wrap="square" lIns="0" rIns="0" tIns="0" bIns="0" anchor="t">
            <a:spAutoFit/>
          </a:bodyPr>
          <a:lstStyle/>
          <a:p>
            <a:pPr algn="l"/>
            <a:r>
              <a:rPr sz="1050" b="0">
                <a:solidFill>
                  <a:srgbClr val="555555"/>
                </a:solidFill>
                <a:latin typeface="Arial"/>
              </a:rPr>
              <a:t>REST requests</a:t>
            </a:r>
          </a:p>
          <a:p>
            <a:pPr algn="l">
              <a:spcBef>
                <a:spcPts val="100"/>
              </a:spcBef>
            </a:pPr>
            <a:r>
              <a:rPr sz="1050" b="1">
                <a:solidFill>
                  <a:srgbClr val="D46A12"/>
                </a:solidFill>
                <a:latin typeface="Arial"/>
              </a:rPr>
              <a:t>SSE replay stream</a:t>
            </a:r>
          </a:p>
        </p:txBody>
      </p:sp>
      <p:cxnSp>
        <p:nvCxnSpPr>
          <p:cNvPr id="116" name="Connector 115"/>
          <p:cNvCxnSpPr/>
          <p:nvPr/>
        </p:nvCxnSpPr>
        <p:spPr>
          <a:xfrm>
            <a:off x="10584180" y="3035808"/>
            <a:ext cx="0" cy="557784"/>
          </a:xfrm>
          <a:prstGeom prst="line">
            <a:avLst/>
          </a:prstGeom>
          <a:ln w="19050">
            <a:solidFill>
              <a:srgbClr val="D46A1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548640" y="5303520"/>
            <a:ext cx="11155680" cy="6400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13232" y="5303520"/>
            <a:ext cx="10881360" cy="640080"/>
          </a:xfrm>
          <a:prstGeom prst="rect">
            <a:avLst/>
          </a:prstGeom>
          <a:noFill/>
        </p:spPr>
        <p:txBody>
          <a:bodyPr wrap="square" lIns="0" rIns="0" tIns="0" bIns="0" anchor="ctr">
            <a:spAutoFit/>
          </a:bodyPr>
          <a:lstStyle/>
          <a:p>
            <a:pPr algn="l"/>
            <a:r>
              <a:rPr sz="1200" b="1">
                <a:solidFill>
                  <a:srgbClr val="D46A12"/>
                </a:solidFill>
                <a:latin typeface="Arial"/>
              </a:rPr>
              <a:t>Why this split: </a:t>
            </a:r>
            <a:r>
              <a:rPr sz="1200" b="0">
                <a:solidFill>
                  <a:srgbClr val="1E1E1E"/>
                </a:solidFill>
                <a:latin typeface="Arial"/>
              </a:rPr>
              <a:t>Python owns the data science, Spring Boot owns sessions and the API, React stays a thin evidence view. A live SCADA feed can replace the replay source without touching the rest.</a:t>
            </a:r>
          </a:p>
        </p:txBody>
      </p:sp>
    </p:spTree>
    <p:extLst>
      <p:ext uri="{BB962C8B-B14F-4D97-AF65-F5344CB8AC3E}">
        <p14:creationId xmlns:p14="http://schemas.microsoft.com/office/powerpoint/2010/main" val="16312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7CD9-9E05-0EAD-367E-E76A5F971FBD}"/>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795ABAB2-9A93-72A7-6045-5DF0F90AFD15}"/>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66EE0A98-957F-369F-D02C-AA5F33A9A0AC}"/>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4AEBAB46-86EE-B353-81E6-E8B97F66F780}"/>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474363EA-34C2-203F-C926-3732D11DFEFC}"/>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46674497-D707-CDB6-F923-7D81AB596F50}"/>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ED6CF46D-B529-3028-6863-A8DDE759CC4C}"/>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46E1FA91-F9C7-501F-8CC7-0BAE788DC666}"/>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F59A8CA3-8649-E276-627C-257B9E8CA18B}"/>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0A87C427-1001-07A1-A182-8E1A8B705D02}"/>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0250FA19-DEBB-B1C1-DB92-5C7E25FC1F61}"/>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3E2E5292-0C8C-EC99-6924-7C4771498A2F}"/>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CC12BB1D-7E4C-DBD0-22CF-E1D6D9CD3AB4}"/>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E06118EA-B030-6191-CE1C-3CA49CA5624D}"/>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BBD7D928-A5BF-7EB7-AD82-151FA2E0D8F2}"/>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163A63D5-7BE6-4A88-4CE1-CA02D373CF54}"/>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C218C25E-8400-8717-B8A7-19A81FAE7BBE}"/>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9B73D78A-877E-B2DA-1340-1C1FC49606B7}"/>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A666DE98-FBFA-4E91-4DBD-5F41E1487AD8}"/>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39916DE0-09F2-94EA-49B4-49A856CDD53B}"/>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91F148E5-F64D-FAE2-8C2F-5DFAFF3EDC9B}"/>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18F6154E-9E6B-0DFF-B379-F055860F7FB8}"/>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D64BFAA0-529F-C6B8-EF99-DDEB7419CC73}"/>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02C39899-8D11-628D-3AAD-F687C01697D1}"/>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CDE26581-05A7-C2DD-E133-FADF5A3376B8}"/>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A5E21F2F-A939-1C2A-7721-9363B26AA0F3}"/>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04B03A8F-61CB-779A-1162-EA600D208ECC}"/>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ED15B6F8-6178-50B7-19D3-8A120E89142E}"/>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7C0866F3-DFBE-F9EF-D3B2-33B92C0B8C4D}"/>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EE5200D3-2AFE-7674-BE53-B2F0A9F57732}"/>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CD72D789-E880-E10C-8FD7-46E4A7122F12}"/>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321A5D66-AA89-7FFD-7273-055D7E810F47}"/>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4CD981D9-4F72-3EDD-698E-FB2CC04257B7}"/>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A7343851-33E9-5C75-9A45-C874D4B4A770}"/>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B30B9F7B-3FD3-12CD-96D8-71C43F54907B}"/>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C9FFC6B9-29B2-557C-27F8-23949A16498E}"/>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2EC6A8B0-9DAA-2343-E861-ECCDA5BBC2BC}"/>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B0EA78A4-35E4-19CF-4D3A-AFC118DE65D9}"/>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DCA6DE6F-A851-928C-EFFD-187D19FC95BB}"/>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AF24C236-BE0B-93CD-AF69-1152E19517CF}"/>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CBC9FF6E-5FD4-C8D7-AC59-846B67317D42}"/>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81652A07-1057-3689-EB43-52C62240216F}"/>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05E11F9B-F431-1169-CB74-ADD038B66C9C}"/>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E10BB336-04C3-2B19-FD91-E409E12625C8}"/>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A1B60917-7655-DFB3-D176-EC3D70C8F5DC}"/>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5B279641-6627-B56A-E498-0A0FB6AF5881}"/>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2E93E8F1-4F2F-461D-81D9-D3B46A1DF822}"/>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7B7EE696-727A-FF09-5B4C-EFD3B3AC7790}"/>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C892E8E5-8020-AC0D-172F-E6B984F3DCDA}"/>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517A5D82-7541-E78E-1030-EB0C1DC40FA0}"/>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89E09CE6-73FF-1407-2B8D-9D8CE695031C}"/>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B0B10F29-1593-F2D0-6F75-C6FB2C56EF2F}"/>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E19AFBC2-CCB6-45CF-8830-2FF7AC26276F}"/>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42466DFC-A79C-283D-3DF0-B9D63A4BF8AC}"/>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40847A95-2427-A662-C4FF-B2CA467B6A4D}"/>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70FE6072-98D9-3C3C-0AE3-CCEA34990DC1}"/>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BCA571F3-DB2C-68A6-8C6B-B7E1237D454F}"/>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8AFBB209-F633-4B66-F46D-4F9CF1D4FFAB}"/>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2E7035FC-1402-0C27-826C-9473FFB69475}"/>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12FD36DD-AA0D-1D86-DB6F-87BFB7B11951}"/>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8791E4C4-9D55-22A7-8D68-1A5BC7C69A68}"/>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6DCCFE44-6041-8008-4288-C056D47F10B6}"/>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DEE0E9B2-CF19-A7AC-E470-92E1DE2C8DF2}"/>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43C78A0F-E971-F1F1-4C20-EE16B9D110FA}"/>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98764254-1EFC-D520-1F00-9DDA45A1E749}"/>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7AFA98DC-C35A-3967-BCF9-C930EDD2D56F}"/>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8EA948D5-4361-6797-ACFD-282448892491}"/>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DD775EA2-8B73-7F67-087A-B21D8CA98DE1}"/>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B0FE2C52-ED25-C352-7635-B8400AC1C2DB}"/>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Inside VoltMind: Physics First, Then ML</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The model flags departures from expected behaviour. Engineers interpret the evidence.</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04 / 10</a:t>
            </a:r>
          </a:p>
        </p:txBody>
      </p:sp>
      <p:sp>
        <p:nvSpPr>
          <p:cNvPr id="95" name="Rectangle 94"/>
          <p:cNvSpPr/>
          <p:nvPr/>
        </p:nvSpPr>
        <p:spPr>
          <a:xfrm>
            <a:off x="548640" y="1463040"/>
            <a:ext cx="2011680" cy="11430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5800" y="1572768"/>
            <a:ext cx="1737360" cy="923544"/>
          </a:xfrm>
          <a:prstGeom prst="rect">
            <a:avLst/>
          </a:prstGeom>
          <a:noFill/>
        </p:spPr>
        <p:txBody>
          <a:bodyPr wrap="square" lIns="0" rIns="0" tIns="0" bIns="0" anchor="t">
            <a:spAutoFit/>
          </a:bodyPr>
          <a:lstStyle/>
          <a:p>
            <a:pPr algn="l"/>
            <a:r>
              <a:rPr sz="1100" b="1">
                <a:solidFill>
                  <a:srgbClr val="D46A12"/>
                </a:solidFill>
                <a:latin typeface="Arial"/>
              </a:rPr>
              <a:t>1  MEASURE</a:t>
            </a:r>
          </a:p>
          <a:p>
            <a:pPr algn="l">
              <a:spcBef>
                <a:spcPts val="400"/>
              </a:spcBef>
            </a:pPr>
            <a:r>
              <a:rPr sz="1150" b="0">
                <a:solidFill>
                  <a:srgbClr val="1E1E1E"/>
                </a:solidFill>
                <a:latin typeface="Arial"/>
              </a:rPr>
              <a:t>3-phase voltage and current, ambient, top-oil</a:t>
            </a:r>
          </a:p>
        </p:txBody>
      </p:sp>
      <p:cxnSp>
        <p:nvCxnSpPr>
          <p:cNvPr id="97" name="Connector 96"/>
          <p:cNvCxnSpPr/>
          <p:nvPr/>
        </p:nvCxnSpPr>
        <p:spPr>
          <a:xfrm>
            <a:off x="2569464" y="2029968"/>
            <a:ext cx="25603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2834640" y="1463040"/>
            <a:ext cx="2011680" cy="114300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971800" y="1572768"/>
            <a:ext cx="1737360" cy="923544"/>
          </a:xfrm>
          <a:prstGeom prst="rect">
            <a:avLst/>
          </a:prstGeom>
          <a:noFill/>
        </p:spPr>
        <p:txBody>
          <a:bodyPr wrap="square" lIns="0" rIns="0" tIns="0" bIns="0" anchor="t">
            <a:spAutoFit/>
          </a:bodyPr>
          <a:lstStyle/>
          <a:p>
            <a:pPr algn="l"/>
            <a:r>
              <a:rPr sz="1100" b="1">
                <a:solidFill>
                  <a:srgbClr val="D46A12"/>
                </a:solidFill>
                <a:latin typeface="Arial"/>
              </a:rPr>
              <a:t>2  EXPECT</a:t>
            </a:r>
          </a:p>
          <a:p>
            <a:pPr algn="l">
              <a:spcBef>
                <a:spcPts val="400"/>
              </a:spcBef>
            </a:pPr>
            <a:r>
              <a:rPr sz="1150" b="0">
                <a:solidFill>
                  <a:srgbClr val="1E1E1E"/>
                </a:solidFill>
                <a:latin typeface="Arial"/>
              </a:rPr>
              <a:t>First-order top-oil model, calibrated per asset</a:t>
            </a:r>
          </a:p>
        </p:txBody>
      </p:sp>
      <p:cxnSp>
        <p:nvCxnSpPr>
          <p:cNvPr id="100" name="Connector 99"/>
          <p:cNvCxnSpPr/>
          <p:nvPr/>
        </p:nvCxnSpPr>
        <p:spPr>
          <a:xfrm>
            <a:off x="4855464" y="2029968"/>
            <a:ext cx="25603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120640" y="1463040"/>
            <a:ext cx="2011680" cy="11430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257800" y="1572768"/>
            <a:ext cx="1737360" cy="923544"/>
          </a:xfrm>
          <a:prstGeom prst="rect">
            <a:avLst/>
          </a:prstGeom>
          <a:noFill/>
        </p:spPr>
        <p:txBody>
          <a:bodyPr wrap="square" lIns="0" rIns="0" tIns="0" bIns="0" anchor="t">
            <a:spAutoFit/>
          </a:bodyPr>
          <a:lstStyle/>
          <a:p>
            <a:pPr algn="l"/>
            <a:r>
              <a:rPr sz="1100" b="1">
                <a:solidFill>
                  <a:srgbClr val="D46A12"/>
                </a:solidFill>
                <a:latin typeface="Arial"/>
              </a:rPr>
              <a:t>3  RESIDUAL</a:t>
            </a:r>
          </a:p>
          <a:p>
            <a:pPr algn="l">
              <a:spcBef>
                <a:spcPts val="400"/>
              </a:spcBef>
            </a:pPr>
            <a:r>
              <a:rPr sz="1150" b="0">
                <a:solidFill>
                  <a:srgbClr val="1E1E1E"/>
                </a:solidFill>
                <a:latin typeface="Arial"/>
              </a:rPr>
              <a:t>Actual minus expected, past readings only</a:t>
            </a:r>
          </a:p>
        </p:txBody>
      </p:sp>
      <p:cxnSp>
        <p:nvCxnSpPr>
          <p:cNvPr id="103" name="Connector 102"/>
          <p:cNvCxnSpPr/>
          <p:nvPr/>
        </p:nvCxnSpPr>
        <p:spPr>
          <a:xfrm>
            <a:off x="7141464" y="2029968"/>
            <a:ext cx="25603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7406640" y="1463040"/>
            <a:ext cx="2011680" cy="114300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543800" y="1572768"/>
            <a:ext cx="1737360" cy="923544"/>
          </a:xfrm>
          <a:prstGeom prst="rect">
            <a:avLst/>
          </a:prstGeom>
          <a:noFill/>
        </p:spPr>
        <p:txBody>
          <a:bodyPr wrap="square" lIns="0" rIns="0" tIns="0" bIns="0" anchor="t">
            <a:spAutoFit/>
          </a:bodyPr>
          <a:lstStyle/>
          <a:p>
            <a:pPr algn="l"/>
            <a:r>
              <a:rPr sz="1100" b="1">
                <a:solidFill>
                  <a:srgbClr val="D46A12"/>
                </a:solidFill>
                <a:latin typeface="Arial"/>
              </a:rPr>
              <a:t>4  CLASSIFY</a:t>
            </a:r>
          </a:p>
          <a:p>
            <a:pPr algn="l">
              <a:spcBef>
                <a:spcPts val="400"/>
              </a:spcBef>
            </a:pPr>
            <a:r>
              <a:rPr sz="1150" b="0">
                <a:solidFill>
                  <a:srgbClr val="1E1E1E"/>
                </a:solidFill>
                <a:latin typeface="Arial"/>
              </a:rPr>
              <a:t>Logistic Regression on those 4 features</a:t>
            </a:r>
          </a:p>
        </p:txBody>
      </p:sp>
      <p:cxnSp>
        <p:nvCxnSpPr>
          <p:cNvPr id="106" name="Connector 105"/>
          <p:cNvCxnSpPr/>
          <p:nvPr/>
        </p:nvCxnSpPr>
        <p:spPr>
          <a:xfrm>
            <a:off x="9427464" y="2029968"/>
            <a:ext cx="256032" cy="0"/>
          </a:xfrm>
          <a:prstGeom prst="line">
            <a:avLst/>
          </a:prstGeom>
          <a:ln w="15875">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9692640" y="1463040"/>
            <a:ext cx="2011680" cy="11430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829800" y="1572768"/>
            <a:ext cx="1737360" cy="923544"/>
          </a:xfrm>
          <a:prstGeom prst="rect">
            <a:avLst/>
          </a:prstGeom>
          <a:noFill/>
        </p:spPr>
        <p:txBody>
          <a:bodyPr wrap="square" lIns="0" rIns="0" tIns="0" bIns="0" anchor="t">
            <a:spAutoFit/>
          </a:bodyPr>
          <a:lstStyle/>
          <a:p>
            <a:pPr algn="l"/>
            <a:r>
              <a:rPr sz="1100" b="1">
                <a:solidFill>
                  <a:srgbClr val="D46A12"/>
                </a:solidFill>
                <a:latin typeface="Arial"/>
              </a:rPr>
              <a:t>5  ASSESS</a:t>
            </a:r>
          </a:p>
          <a:p>
            <a:pPr algn="l">
              <a:spcBef>
                <a:spcPts val="400"/>
              </a:spcBef>
            </a:pPr>
            <a:r>
              <a:rPr sz="1150" b="0">
                <a:solidFill>
                  <a:srgbClr val="1E1E1E"/>
                </a:solidFill>
                <a:latin typeface="Arial"/>
              </a:rPr>
              <a:t>Health Index, confidence, or "not assessed"</a:t>
            </a:r>
          </a:p>
        </p:txBody>
      </p:sp>
      <p:sp>
        <p:nvSpPr>
          <p:cNvPr id="109" name="Rectangle 108"/>
          <p:cNvSpPr/>
          <p:nvPr/>
        </p:nvSpPr>
        <p:spPr>
          <a:xfrm>
            <a:off x="548640" y="2788920"/>
            <a:ext cx="6583680" cy="3200400"/>
          </a:xfrm>
          <a:prstGeom prst="rect">
            <a:avLst/>
          </a:prstGeom>
          <a:solidFill>
            <a:srgbClr val="FFFFFF"/>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0" name="Chart 109"/>
          <p:cNvGraphicFramePr>
            <a:graphicFrameLocks noGrp="1"/>
          </p:cNvGraphicFramePr>
          <p:nvPr/>
        </p:nvGraphicFramePr>
        <p:xfrm>
          <a:off x="640080" y="3108960"/>
          <a:ext cx="6400800" cy="2834640"/>
        </p:xfrm>
        <a:graphic>
          <a:graphicData uri="http://schemas.openxmlformats.org/drawingml/2006/chart">
            <c:chart xmlns:c="http://schemas.openxmlformats.org/drawingml/2006/chart" r:id="rId4"/>
          </a:graphicData>
        </a:graphic>
      </p:graphicFrame>
      <p:sp>
        <p:nvSpPr>
          <p:cNvPr id="111" name="TextBox 110"/>
          <p:cNvSpPr txBox="1"/>
          <p:nvPr/>
        </p:nvSpPr>
        <p:spPr>
          <a:xfrm>
            <a:off x="731520" y="2880360"/>
            <a:ext cx="4206240" cy="274320"/>
          </a:xfrm>
          <a:prstGeom prst="rect">
            <a:avLst/>
          </a:prstGeom>
          <a:noFill/>
        </p:spPr>
        <p:txBody>
          <a:bodyPr wrap="square" lIns="0" rIns="0" tIns="0" bIns="0" anchor="t">
            <a:spAutoFit/>
          </a:bodyPr>
          <a:lstStyle/>
          <a:p>
            <a:pPr algn="l"/>
            <a:r>
              <a:rPr sz="1050" b="1">
                <a:solidFill>
                  <a:srgbClr val="D46A12"/>
                </a:solidFill>
                <a:latin typeface="Arial"/>
              </a:rPr>
              <a:t>ONE DAY OF SYNTHETIC REPLAY  ·  100 kVA  ·  1 Jan 2026</a:t>
            </a:r>
          </a:p>
        </p:txBody>
      </p:sp>
      <p:sp>
        <p:nvSpPr>
          <p:cNvPr id="112" name="TextBox 111"/>
          <p:cNvSpPr txBox="1"/>
          <p:nvPr/>
        </p:nvSpPr>
        <p:spPr>
          <a:xfrm>
            <a:off x="4572000" y="3063240"/>
            <a:ext cx="2468880" cy="566928"/>
          </a:xfrm>
          <a:prstGeom prst="rect">
            <a:avLst/>
          </a:prstGeom>
          <a:noFill/>
        </p:spPr>
        <p:txBody>
          <a:bodyPr wrap="square" lIns="0" rIns="0" tIns="0" bIns="0" anchor="t">
            <a:spAutoFit/>
          </a:bodyPr>
          <a:lstStyle/>
          <a:p>
            <a:pPr algn="r"/>
            <a:r>
              <a:rPr sz="1100" b="1">
                <a:solidFill>
                  <a:srgbClr val="1E1E1E"/>
                </a:solidFill>
                <a:latin typeface="Arial"/>
              </a:rPr>
              <a:t>Peak gap 10.0 °C at 21:45</a:t>
            </a:r>
          </a:p>
          <a:p>
            <a:pPr algn="r"/>
            <a:r>
              <a:rPr sz="1050" b="0">
                <a:solidFill>
                  <a:srgbClr val="555555"/>
                </a:solidFill>
                <a:latin typeface="Arial"/>
              </a:rPr>
              <a:t>Above 2 °C from 12:35 onward</a:t>
            </a:r>
          </a:p>
        </p:txBody>
      </p:sp>
      <p:sp>
        <p:nvSpPr>
          <p:cNvPr id="113" name="Rectangle 112"/>
          <p:cNvSpPr/>
          <p:nvPr/>
        </p:nvSpPr>
        <p:spPr>
          <a:xfrm>
            <a:off x="7360920" y="2788920"/>
            <a:ext cx="4343400" cy="15544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498080" y="2898648"/>
            <a:ext cx="4069080" cy="1335024"/>
          </a:xfrm>
          <a:prstGeom prst="rect">
            <a:avLst/>
          </a:prstGeom>
          <a:noFill/>
        </p:spPr>
        <p:txBody>
          <a:bodyPr wrap="square" lIns="0" rIns="0" tIns="0" bIns="0" anchor="t">
            <a:spAutoFit/>
          </a:bodyPr>
          <a:lstStyle/>
          <a:p>
            <a:pPr algn="l"/>
            <a:r>
              <a:rPr sz="1100" b="1">
                <a:solidFill>
                  <a:srgbClr val="D46A12"/>
                </a:solidFill>
                <a:latin typeface="Arial"/>
              </a:rPr>
              <a:t>THE FOUR RESIDUAL FEATURES</a:t>
            </a:r>
          </a:p>
          <a:p>
            <a:pPr algn="l">
              <a:spcBef>
                <a:spcPts val="400"/>
              </a:spcBef>
            </a:pPr>
            <a:r>
              <a:rPr sz="1300" b="0">
                <a:solidFill>
                  <a:srgbClr val="1E1E1E"/>
                </a:solidFill>
                <a:latin typeface="Arial"/>
              </a:rPr>
              <a:t>Residual now</a:t>
            </a:r>
          </a:p>
          <a:p>
            <a:pPr algn="l">
              <a:spcBef>
                <a:spcPts val="400"/>
              </a:spcBef>
            </a:pPr>
            <a:r>
              <a:rPr sz="1300" b="0">
                <a:solidFill>
                  <a:srgbClr val="1E1E1E"/>
                </a:solidFill>
                <a:latin typeface="Arial"/>
              </a:rPr>
              <a:t>Mean of last 30 min and last 60 min</a:t>
            </a:r>
          </a:p>
          <a:p>
            <a:pPr algn="l">
              <a:spcBef>
                <a:spcPts val="400"/>
              </a:spcBef>
            </a:pPr>
            <a:r>
              <a:rPr sz="1300" b="0">
                <a:solidFill>
                  <a:srgbClr val="1E1E1E"/>
                </a:solidFill>
                <a:latin typeface="Arial"/>
              </a:rPr>
              <a:t>Change over the last 30 min</a:t>
            </a:r>
          </a:p>
          <a:p>
            <a:pPr algn="l">
              <a:spcBef>
                <a:spcPts val="400"/>
              </a:spcBef>
            </a:pPr>
            <a:r>
              <a:rPr sz="1150" b="0">
                <a:solidFill>
                  <a:srgbClr val="555555"/>
                </a:solidFill>
                <a:latin typeface="Arial"/>
              </a:rPr>
              <a:t>Only past readings are used (causal).</a:t>
            </a:r>
          </a:p>
        </p:txBody>
      </p:sp>
      <p:sp>
        <p:nvSpPr>
          <p:cNvPr id="115" name="Rectangle 114"/>
          <p:cNvSpPr/>
          <p:nvPr/>
        </p:nvSpPr>
        <p:spPr>
          <a:xfrm>
            <a:off x="7360920" y="4480560"/>
            <a:ext cx="4343400" cy="15087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498080" y="4590288"/>
            <a:ext cx="4069080" cy="1289304"/>
          </a:xfrm>
          <a:prstGeom prst="rect">
            <a:avLst/>
          </a:prstGeom>
          <a:noFill/>
        </p:spPr>
        <p:txBody>
          <a:bodyPr wrap="square" lIns="0" rIns="0" tIns="0" bIns="0" anchor="t">
            <a:spAutoFit/>
          </a:bodyPr>
          <a:lstStyle/>
          <a:p>
            <a:pPr algn="l"/>
            <a:r>
              <a:rPr sz="1100" b="1">
                <a:solidFill>
                  <a:srgbClr val="D46A12"/>
                </a:solidFill>
                <a:latin typeface="Arial"/>
              </a:rPr>
              <a:t>RUNS IN PARALLEL</a:t>
            </a:r>
          </a:p>
          <a:p>
            <a:pPr algn="l">
              <a:spcBef>
                <a:spcPts val="400"/>
              </a:spcBef>
            </a:pPr>
            <a:r>
              <a:rPr sz="1300" b="0">
                <a:solidFill>
                  <a:srgbClr val="1E1E1E"/>
                </a:solidFill>
                <a:latin typeface="Arial"/>
              </a:rPr>
              <a:t>Electrical and data-quality checks: missing sensors, outage, overload, undervoltage, imbalance</a:t>
            </a:r>
          </a:p>
          <a:p>
            <a:pPr algn="l">
              <a:spcBef>
                <a:spcPts val="400"/>
              </a:spcBef>
            </a:pPr>
            <a:r>
              <a:rPr sz="1150" b="0">
                <a:solidFill>
                  <a:srgbClr val="555555"/>
                </a:solidFill>
                <a:latin typeface="Arial"/>
              </a:rPr>
              <a:t>Health Index updates every 24 readings (2 h). Alarms stay immediate. It is an observation index, not a failure probability.</a:t>
            </a:r>
          </a:p>
        </p:txBody>
      </p:sp>
    </p:spTree>
    <p:extLst>
      <p:ext uri="{BB962C8B-B14F-4D97-AF65-F5344CB8AC3E}">
        <p14:creationId xmlns:p14="http://schemas.microsoft.com/office/powerpoint/2010/main" val="2069167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6D5B-330F-2029-527A-625775B6E706}"/>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43DD26CC-6B1A-8ED9-B417-B76DF0F8B9D9}"/>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96DCED97-15D2-4D2F-7D65-8AE06DCF75B2}"/>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0BC633F7-C5D9-D601-1014-7281DF1C574C}"/>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658F2CA2-C899-8A15-C4ED-6D4DBA18A6FA}"/>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328CC072-E252-115B-206A-E78C2EC55042}"/>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79D69AF9-FB42-D6A7-961D-053EAEEB606C}"/>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2B823715-089B-D5D6-A474-5A0820699DEA}"/>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A0CB54F7-A25C-F2A0-9381-055733FE3920}"/>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6C976ACC-CD5E-0F65-E65F-3E99D1EDD23F}"/>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AE6E6807-665C-9D2D-F03A-20CE895CD305}"/>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A14E2960-80BE-C8C5-A8B2-062FDE8188FC}"/>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E7326F10-B00D-9654-8E7D-4C6617771FFB}"/>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F97E741B-EDDD-88B2-1E75-DD278C1CC4EA}"/>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E1F09A69-FE04-BE4C-8526-D8185638378C}"/>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C498F1DC-B989-8904-AC10-2CD71924E090}"/>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A5F8487C-A72E-DEF8-2312-480C686917D1}"/>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099012DC-344F-2C67-784B-4BFC78FE7FFB}"/>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E801D8F0-2A3F-34DB-0FD1-277479238409}"/>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5C2BCA09-0884-D9B3-9D85-019492DC7D5A}"/>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3F439B70-E545-053D-01D7-29AB86B07C9A}"/>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7C927D0A-A571-02F9-82CE-AD5E7BB38DEB}"/>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DDB92B1B-6A69-2F46-D961-5D132CA2DE18}"/>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151C1BF1-9DAF-0E90-76A7-D05F152CCB31}"/>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5D62A7F7-0FEB-6EAD-6E29-072FCE25836D}"/>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76CD8A25-27C7-0E9B-F7A1-AEA2DDCABBA7}"/>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5FD86665-B4B0-B2C1-87EB-F5F1AE71B808}"/>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DE4F2A3F-3E98-A4AC-152A-A942A18F06A2}"/>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4BF13F6F-2ABC-0FCA-AA4C-0A590F591D99}"/>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BDC54CA6-D5C4-BFC1-DC9D-8A9BFF7F6EC5}"/>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0A150A86-4A0A-FE72-B798-618A26CCD1F4}"/>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E0361463-BE0A-FF7E-0045-7CA6E4DA42B3}"/>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B2B83319-20D9-951A-DF4F-8601AD32CB30}"/>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1A90D281-DC6A-6431-355F-7877737D986E}"/>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5D9CB772-CCCB-87AE-152B-CA0475E2DA31}"/>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7530899D-797A-AF3D-6F57-08F4D255357F}"/>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8D0E307B-D9D5-6C03-7B81-D4F5F5248A85}"/>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58794294-CD42-B76D-3FA1-6F6C85B73A3A}"/>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DFE85614-8174-7ECD-6B6F-69D68AC2B290}"/>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DD8F4219-7D85-BAC6-FE5B-7768B13D33DC}"/>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A2AA7F78-A69C-47C0-0D2D-0C4566ED6CAC}"/>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945F8DCB-1E8A-8109-7CB5-2C0B172944AB}"/>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874B652A-867D-26CE-8813-B49A5217832A}"/>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A3977082-288A-BA77-224D-3CAE9B84BA79}"/>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3416DBD4-1003-02B0-6F74-19D905A6EAED}"/>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6798E3C7-6B3D-4F9A-D271-64F78DAE8FD2}"/>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515171A2-D577-C415-4DD7-F9E10FB94F22}"/>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EB540B74-ABE9-9AD7-667E-907F42352C0E}"/>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CC32795B-E7F1-453B-7A85-9A60C7A83705}"/>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C69733B6-06F3-8F0F-E58B-E24B1EE303B2}"/>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ACABB04B-82B6-A202-DFB5-E6BD31FBDCFC}"/>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2573D0B2-CCFB-8740-B205-D08F8CB7F0AE}"/>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FB3B0746-1FE1-9FD4-167D-C2E30DE6E0AB}"/>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B7BAD3B0-83D9-A3D3-6EC5-12382C4BD8FD}"/>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8B342DA6-716E-0101-C63C-46370243BD73}"/>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1CCF8913-CA8E-7649-8E0F-14F1CE071E02}"/>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EAE00500-5DAF-4521-657F-5020D818F4AD}"/>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C210D5D8-62B8-674A-9149-1137973C5167}"/>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1387224F-C3C9-98B6-59F4-0CF11DE9DA3A}"/>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0E3D4FBD-5CBC-E374-FA2B-8632DF80BA35}"/>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5A49D352-A526-D554-960C-1F1416CB7CA5}"/>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F49B5211-DA1F-C7AC-7A10-D0AE39350AF3}"/>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B7E676C3-EA48-00B6-6217-6039A98752D3}"/>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F628F7BA-0C21-5588-F1FB-E3C1EBBF8ABA}"/>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1A509F4E-1116-321B-4649-CB2706B5F850}"/>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D0A0FBFE-D885-F79A-F92F-E9CCD1DB51EF}"/>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2C38208E-A4AA-E55D-0868-0B4F8867F4AA}"/>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0B033725-F14F-9DC5-58EE-5D692BAE58DB}"/>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C64545EE-A6C9-873D-CB26-AA3438ACE3E5}"/>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Our SCADA Datasets</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580,608 rows across three ratings. All synthetic. None are field measurements.</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05 / 10</a:t>
            </a:r>
          </a:p>
        </p:txBody>
      </p:sp>
      <p:sp>
        <p:nvSpPr>
          <p:cNvPr id="95" name="Rectangle 94"/>
          <p:cNvSpPr/>
          <p:nvPr/>
        </p:nvSpPr>
        <p:spPr>
          <a:xfrm>
            <a:off x="548640" y="1508760"/>
            <a:ext cx="3611880" cy="192024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31520" y="1627632"/>
            <a:ext cx="2011680" cy="365760"/>
          </a:xfrm>
          <a:prstGeom prst="rect">
            <a:avLst/>
          </a:prstGeom>
          <a:noFill/>
        </p:spPr>
        <p:txBody>
          <a:bodyPr wrap="square" lIns="0" rIns="0" tIns="0" bIns="0" anchor="t">
            <a:spAutoFit/>
          </a:bodyPr>
          <a:lstStyle/>
          <a:p>
            <a:pPr algn="l"/>
            <a:r>
              <a:rPr sz="1800" b="1">
                <a:solidFill>
                  <a:srgbClr val="1E1E1E"/>
                </a:solidFill>
                <a:latin typeface="Arial"/>
              </a:rPr>
              <a:t>100 kVA</a:t>
            </a:r>
          </a:p>
        </p:txBody>
      </p:sp>
      <p:sp>
        <p:nvSpPr>
          <p:cNvPr id="97" name="TextBox 96"/>
          <p:cNvSpPr txBox="1"/>
          <p:nvPr/>
        </p:nvSpPr>
        <p:spPr>
          <a:xfrm>
            <a:off x="2743200" y="1682496"/>
            <a:ext cx="1234440" cy="274320"/>
          </a:xfrm>
          <a:prstGeom prst="rect">
            <a:avLst/>
          </a:prstGeom>
          <a:noFill/>
        </p:spPr>
        <p:txBody>
          <a:bodyPr wrap="square" lIns="0" rIns="0" tIns="0" bIns="0" anchor="t">
            <a:spAutoFit/>
          </a:bodyPr>
          <a:lstStyle/>
          <a:p>
            <a:pPr algn="r"/>
            <a:r>
              <a:rPr sz="1050" b="1">
                <a:solidFill>
                  <a:srgbClr val="D46A12"/>
                </a:solidFill>
                <a:latin typeface="Arial"/>
              </a:rPr>
              <a:t>FLAGSHIP</a:t>
            </a:r>
          </a:p>
        </p:txBody>
      </p:sp>
      <p:sp>
        <p:nvSpPr>
          <p:cNvPr id="98" name="TextBox 97"/>
          <p:cNvSpPr txBox="1"/>
          <p:nvPr/>
        </p:nvSpPr>
        <p:spPr>
          <a:xfrm>
            <a:off x="731520" y="2011680"/>
            <a:ext cx="3291840" cy="685800"/>
          </a:xfrm>
          <a:prstGeom prst="rect">
            <a:avLst/>
          </a:prstGeom>
          <a:noFill/>
        </p:spPr>
        <p:txBody>
          <a:bodyPr wrap="square" lIns="0" rIns="0" tIns="0" bIns="0" anchor="t">
            <a:spAutoFit/>
          </a:bodyPr>
          <a:lstStyle/>
          <a:p>
            <a:pPr algn="l"/>
            <a:r>
              <a:rPr sz="4000" b="1">
                <a:solidFill>
                  <a:srgbClr val="D46A12"/>
                </a:solidFill>
                <a:latin typeface="Arial"/>
              </a:rPr>
              <a:t>241,920</a:t>
            </a:r>
          </a:p>
        </p:txBody>
      </p:sp>
      <p:sp>
        <p:nvSpPr>
          <p:cNvPr id="99" name="TextBox 98"/>
          <p:cNvSpPr txBox="1"/>
          <p:nvPr/>
        </p:nvSpPr>
        <p:spPr>
          <a:xfrm>
            <a:off x="731520" y="2724912"/>
            <a:ext cx="3291840" cy="640080"/>
          </a:xfrm>
          <a:prstGeom prst="rect">
            <a:avLst/>
          </a:prstGeom>
          <a:noFill/>
        </p:spPr>
        <p:txBody>
          <a:bodyPr wrap="square" lIns="0" rIns="0" tIns="0" bIns="0" anchor="t">
            <a:spAutoFit/>
          </a:bodyPr>
          <a:lstStyle/>
          <a:p>
            <a:pPr algn="l"/>
            <a:r>
              <a:rPr sz="1200" b="0">
                <a:solidFill>
                  <a:srgbClr val="1E1E1E"/>
                </a:solidFill>
                <a:latin typeface="Arial"/>
              </a:rPr>
              <a:t>rows  ·  60 replays × 14 days</a:t>
            </a:r>
          </a:p>
          <a:p>
            <a:pPr algn="l">
              <a:spcBef>
                <a:spcPts val="300"/>
              </a:spcBef>
            </a:pPr>
            <a:r>
              <a:rPr sz="1100" b="0">
                <a:solidFill>
                  <a:srgbClr val="555555"/>
                </a:solidFill>
                <a:latin typeface="Arial"/>
              </a:rPr>
              <a:t>5-minute readings, 288 per day</a:t>
            </a:r>
          </a:p>
        </p:txBody>
      </p:sp>
      <p:sp>
        <p:nvSpPr>
          <p:cNvPr id="100" name="Rectangle 99"/>
          <p:cNvSpPr/>
          <p:nvPr/>
        </p:nvSpPr>
        <p:spPr>
          <a:xfrm>
            <a:off x="4320540" y="1508760"/>
            <a:ext cx="3611880" cy="1920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03420" y="1627632"/>
            <a:ext cx="2011680" cy="365760"/>
          </a:xfrm>
          <a:prstGeom prst="rect">
            <a:avLst/>
          </a:prstGeom>
          <a:noFill/>
        </p:spPr>
        <p:txBody>
          <a:bodyPr wrap="square" lIns="0" rIns="0" tIns="0" bIns="0" anchor="t">
            <a:spAutoFit/>
          </a:bodyPr>
          <a:lstStyle/>
          <a:p>
            <a:pPr algn="l"/>
            <a:r>
              <a:rPr sz="1800" b="1">
                <a:solidFill>
                  <a:srgbClr val="1E1E1E"/>
                </a:solidFill>
                <a:latin typeface="Arial"/>
              </a:rPr>
              <a:t>250 kVA</a:t>
            </a:r>
          </a:p>
        </p:txBody>
      </p:sp>
      <p:sp>
        <p:nvSpPr>
          <p:cNvPr id="102" name="TextBox 101"/>
          <p:cNvSpPr txBox="1"/>
          <p:nvPr/>
        </p:nvSpPr>
        <p:spPr>
          <a:xfrm>
            <a:off x="4503420" y="2011680"/>
            <a:ext cx="3291840" cy="685800"/>
          </a:xfrm>
          <a:prstGeom prst="rect">
            <a:avLst/>
          </a:prstGeom>
          <a:noFill/>
        </p:spPr>
        <p:txBody>
          <a:bodyPr wrap="square" lIns="0" rIns="0" tIns="0" bIns="0" anchor="t">
            <a:spAutoFit/>
          </a:bodyPr>
          <a:lstStyle/>
          <a:p>
            <a:pPr algn="l"/>
            <a:r>
              <a:rPr sz="4000" b="1">
                <a:solidFill>
                  <a:srgbClr val="D46A12"/>
                </a:solidFill>
                <a:latin typeface="Arial"/>
              </a:rPr>
              <a:t>145,152</a:t>
            </a:r>
          </a:p>
        </p:txBody>
      </p:sp>
      <p:sp>
        <p:nvSpPr>
          <p:cNvPr id="103" name="TextBox 102"/>
          <p:cNvSpPr txBox="1"/>
          <p:nvPr/>
        </p:nvSpPr>
        <p:spPr>
          <a:xfrm>
            <a:off x="4503420" y="2724912"/>
            <a:ext cx="3291840" cy="640080"/>
          </a:xfrm>
          <a:prstGeom prst="rect">
            <a:avLst/>
          </a:prstGeom>
          <a:noFill/>
        </p:spPr>
        <p:txBody>
          <a:bodyPr wrap="square" lIns="0" rIns="0" tIns="0" bIns="0" anchor="t">
            <a:spAutoFit/>
          </a:bodyPr>
          <a:lstStyle/>
          <a:p>
            <a:pPr algn="l"/>
            <a:r>
              <a:rPr sz="1200" b="0">
                <a:solidFill>
                  <a:srgbClr val="1E1E1E"/>
                </a:solidFill>
                <a:latin typeface="Arial"/>
              </a:rPr>
              <a:t>rows  ·  24 replays × 21 days</a:t>
            </a:r>
          </a:p>
          <a:p>
            <a:pPr algn="l">
              <a:spcBef>
                <a:spcPts val="300"/>
              </a:spcBef>
            </a:pPr>
            <a:r>
              <a:rPr sz="1100" b="0">
                <a:solidFill>
                  <a:srgbClr val="555555"/>
                </a:solidFill>
                <a:latin typeface="Arial"/>
              </a:rPr>
              <a:t>5-minute readings, 288 per day</a:t>
            </a:r>
          </a:p>
        </p:txBody>
      </p:sp>
      <p:sp>
        <p:nvSpPr>
          <p:cNvPr id="104" name="Rectangle 103"/>
          <p:cNvSpPr/>
          <p:nvPr/>
        </p:nvSpPr>
        <p:spPr>
          <a:xfrm>
            <a:off x="8092440" y="1508760"/>
            <a:ext cx="3611880" cy="19202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275319" y="1627632"/>
            <a:ext cx="2011680" cy="365760"/>
          </a:xfrm>
          <a:prstGeom prst="rect">
            <a:avLst/>
          </a:prstGeom>
          <a:noFill/>
        </p:spPr>
        <p:txBody>
          <a:bodyPr wrap="square" lIns="0" rIns="0" tIns="0" bIns="0" anchor="t">
            <a:spAutoFit/>
          </a:bodyPr>
          <a:lstStyle/>
          <a:p>
            <a:pPr algn="l"/>
            <a:r>
              <a:rPr sz="1800" b="1">
                <a:solidFill>
                  <a:srgbClr val="1E1E1E"/>
                </a:solidFill>
                <a:latin typeface="Arial"/>
              </a:rPr>
              <a:t>630 kVA</a:t>
            </a:r>
          </a:p>
        </p:txBody>
      </p:sp>
      <p:sp>
        <p:nvSpPr>
          <p:cNvPr id="106" name="TextBox 105"/>
          <p:cNvSpPr txBox="1"/>
          <p:nvPr/>
        </p:nvSpPr>
        <p:spPr>
          <a:xfrm>
            <a:off x="8275319" y="2011680"/>
            <a:ext cx="3291840" cy="685800"/>
          </a:xfrm>
          <a:prstGeom prst="rect">
            <a:avLst/>
          </a:prstGeom>
          <a:noFill/>
        </p:spPr>
        <p:txBody>
          <a:bodyPr wrap="square" lIns="0" rIns="0" tIns="0" bIns="0" anchor="t">
            <a:spAutoFit/>
          </a:bodyPr>
          <a:lstStyle/>
          <a:p>
            <a:pPr algn="l"/>
            <a:r>
              <a:rPr sz="4000" b="1">
                <a:solidFill>
                  <a:srgbClr val="D46A12"/>
                </a:solidFill>
                <a:latin typeface="Arial"/>
              </a:rPr>
              <a:t>193,536</a:t>
            </a:r>
          </a:p>
        </p:txBody>
      </p:sp>
      <p:sp>
        <p:nvSpPr>
          <p:cNvPr id="107" name="TextBox 106"/>
          <p:cNvSpPr txBox="1"/>
          <p:nvPr/>
        </p:nvSpPr>
        <p:spPr>
          <a:xfrm>
            <a:off x="8275319" y="2724912"/>
            <a:ext cx="3291840" cy="640080"/>
          </a:xfrm>
          <a:prstGeom prst="rect">
            <a:avLst/>
          </a:prstGeom>
          <a:noFill/>
        </p:spPr>
        <p:txBody>
          <a:bodyPr wrap="square" lIns="0" rIns="0" tIns="0" bIns="0" anchor="t">
            <a:spAutoFit/>
          </a:bodyPr>
          <a:lstStyle/>
          <a:p>
            <a:pPr algn="l"/>
            <a:r>
              <a:rPr sz="1200" b="0">
                <a:solidFill>
                  <a:srgbClr val="1E1E1E"/>
                </a:solidFill>
                <a:latin typeface="Arial"/>
              </a:rPr>
              <a:t>rows  ·  24 replays × 28 days</a:t>
            </a:r>
          </a:p>
          <a:p>
            <a:pPr algn="l">
              <a:spcBef>
                <a:spcPts val="300"/>
              </a:spcBef>
            </a:pPr>
            <a:r>
              <a:rPr sz="1100" b="0">
                <a:solidFill>
                  <a:srgbClr val="555555"/>
                </a:solidFill>
                <a:latin typeface="Arial"/>
              </a:rPr>
              <a:t>5-minute readings, 288 per day</a:t>
            </a:r>
          </a:p>
        </p:txBody>
      </p:sp>
      <p:sp>
        <p:nvSpPr>
          <p:cNvPr id="108" name="Rectangle 107"/>
          <p:cNvSpPr/>
          <p:nvPr/>
        </p:nvSpPr>
        <p:spPr>
          <a:xfrm>
            <a:off x="548640" y="3611880"/>
            <a:ext cx="2651760" cy="23774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85800" y="3721608"/>
            <a:ext cx="2377440" cy="2157984"/>
          </a:xfrm>
          <a:prstGeom prst="rect">
            <a:avLst/>
          </a:prstGeom>
          <a:noFill/>
        </p:spPr>
        <p:txBody>
          <a:bodyPr wrap="square" lIns="0" rIns="0" tIns="0" bIns="0" anchor="t">
            <a:spAutoFit/>
          </a:bodyPr>
          <a:lstStyle/>
          <a:p>
            <a:pPr algn="l"/>
            <a:r>
              <a:rPr sz="1100" b="1">
                <a:solidFill>
                  <a:srgbClr val="D46A12"/>
                </a:solidFill>
                <a:latin typeface="Arial"/>
              </a:rPr>
              <a:t>EACH ROW HOLDS</a:t>
            </a:r>
          </a:p>
          <a:p>
            <a:pPr algn="l">
              <a:spcBef>
                <a:spcPts val="400"/>
              </a:spcBef>
            </a:pPr>
            <a:r>
              <a:rPr sz="1300" b="0">
                <a:solidFill>
                  <a:srgbClr val="1E1E1E"/>
                </a:solidFill>
                <a:latin typeface="Arial"/>
              </a:rPr>
              <a:t>Timestamp and communication status</a:t>
            </a:r>
          </a:p>
          <a:p>
            <a:pPr algn="l">
              <a:spcBef>
                <a:spcPts val="400"/>
              </a:spcBef>
            </a:pPr>
            <a:r>
              <a:rPr sz="1300" b="0">
                <a:solidFill>
                  <a:srgbClr val="1E1E1E"/>
                </a:solidFill>
                <a:latin typeface="Arial"/>
              </a:rPr>
              <a:t>Three-phase voltage and current</a:t>
            </a:r>
          </a:p>
          <a:p>
            <a:pPr algn="l">
              <a:spcBef>
                <a:spcPts val="400"/>
              </a:spcBef>
            </a:pPr>
            <a:r>
              <a:rPr sz="1300" b="0">
                <a:solidFill>
                  <a:srgbClr val="1E1E1E"/>
                </a:solidFill>
                <a:latin typeface="Arial"/>
              </a:rPr>
              <a:t>Ambient and top-oil temperature</a:t>
            </a:r>
          </a:p>
          <a:p>
            <a:pPr algn="l">
              <a:spcBef>
                <a:spcPts val="400"/>
              </a:spcBef>
            </a:pPr>
            <a:r>
              <a:rPr sz="1300" b="0">
                <a:solidFill>
                  <a:srgbClr val="1E1E1E"/>
                </a:solidFill>
                <a:latin typeface="Arial"/>
              </a:rPr>
              <a:t>Optional oil level and R-terminal temperature</a:t>
            </a:r>
          </a:p>
        </p:txBody>
      </p:sp>
      <p:sp>
        <p:nvSpPr>
          <p:cNvPr id="110" name="Rectangle 109"/>
          <p:cNvSpPr/>
          <p:nvPr/>
        </p:nvSpPr>
        <p:spPr>
          <a:xfrm>
            <a:off x="3383280" y="3611880"/>
            <a:ext cx="2651760" cy="23774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520440" y="3721608"/>
            <a:ext cx="2377440" cy="2157984"/>
          </a:xfrm>
          <a:prstGeom prst="rect">
            <a:avLst/>
          </a:prstGeom>
          <a:noFill/>
        </p:spPr>
        <p:txBody>
          <a:bodyPr wrap="square" lIns="0" rIns="0" tIns="0" bIns="0" anchor="t">
            <a:spAutoFit/>
          </a:bodyPr>
          <a:lstStyle/>
          <a:p>
            <a:pPr algn="l"/>
            <a:r>
              <a:rPr sz="1100" b="1">
                <a:solidFill>
                  <a:srgbClr val="D46A12"/>
                </a:solidFill>
                <a:latin typeface="Arial"/>
              </a:rPr>
              <a:t>SCENARIO DESIGN</a:t>
            </a:r>
          </a:p>
          <a:p>
            <a:pPr algn="l">
              <a:spcBef>
                <a:spcPts val="400"/>
              </a:spcBef>
            </a:pPr>
            <a:r>
              <a:rPr sz="1300" b="0">
                <a:solidFill>
                  <a:srgbClr val="1E1E1E"/>
                </a:solidFill>
                <a:latin typeface="Arial"/>
              </a:rPr>
              <a:t>Healthy running mixed with labelled events: thermal, electrical, sensor, communication, data quality, oil level and terminal.</a:t>
            </a:r>
          </a:p>
        </p:txBody>
      </p:sp>
      <p:sp>
        <p:nvSpPr>
          <p:cNvPr id="112" name="Rectangle 111"/>
          <p:cNvSpPr/>
          <p:nvPr/>
        </p:nvSpPr>
        <p:spPr>
          <a:xfrm>
            <a:off x="6217920" y="3611880"/>
            <a:ext cx="2651760" cy="23774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355080" y="3721608"/>
            <a:ext cx="2377440" cy="2157984"/>
          </a:xfrm>
          <a:prstGeom prst="rect">
            <a:avLst/>
          </a:prstGeom>
          <a:noFill/>
        </p:spPr>
        <p:txBody>
          <a:bodyPr wrap="square" lIns="0" rIns="0" tIns="0" bIns="0" anchor="t">
            <a:spAutoFit/>
          </a:bodyPr>
          <a:lstStyle/>
          <a:p>
            <a:pPr algn="l"/>
            <a:r>
              <a:rPr sz="1100" b="1">
                <a:solidFill>
                  <a:srgbClr val="D46A12"/>
                </a:solidFill>
                <a:latin typeface="Arial"/>
              </a:rPr>
              <a:t>WHY SYNTHETIC</a:t>
            </a:r>
          </a:p>
          <a:p>
            <a:pPr algn="l">
              <a:spcBef>
                <a:spcPts val="400"/>
              </a:spcBef>
            </a:pPr>
            <a:r>
              <a:rPr sz="1300" b="0">
                <a:solidFill>
                  <a:srgbClr val="1E1E1E"/>
                </a:solidFill>
                <a:latin typeface="Arial"/>
              </a:rPr>
              <a:t>Every injected event has a known start and type, so detection can be scored honestly. Real SCADA rarely comes with that ground truth.</a:t>
            </a:r>
          </a:p>
        </p:txBody>
      </p:sp>
      <p:sp>
        <p:nvSpPr>
          <p:cNvPr id="114" name="Rectangle 113"/>
          <p:cNvSpPr/>
          <p:nvPr/>
        </p:nvSpPr>
        <p:spPr>
          <a:xfrm>
            <a:off x="9052560" y="3611880"/>
            <a:ext cx="2651760" cy="23774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189720" y="3721608"/>
            <a:ext cx="2377440" cy="2157984"/>
          </a:xfrm>
          <a:prstGeom prst="rect">
            <a:avLst/>
          </a:prstGeom>
          <a:noFill/>
        </p:spPr>
        <p:txBody>
          <a:bodyPr wrap="square" lIns="0" rIns="0" tIns="0" bIns="0" anchor="t">
            <a:spAutoFit/>
          </a:bodyPr>
          <a:lstStyle/>
          <a:p>
            <a:pPr algn="l"/>
            <a:r>
              <a:rPr sz="1100" b="1">
                <a:solidFill>
                  <a:srgbClr val="D46A12"/>
                </a:solidFill>
                <a:latin typeface="Arial"/>
              </a:rPr>
              <a:t>FIELDS ARE NOT INPUTS</a:t>
            </a:r>
          </a:p>
          <a:p>
            <a:pPr algn="l">
              <a:spcBef>
                <a:spcPts val="400"/>
              </a:spcBef>
            </a:pPr>
            <a:r>
              <a:rPr sz="1300" b="0">
                <a:solidFill>
                  <a:srgbClr val="1E1E1E"/>
                </a:solidFill>
                <a:latin typeface="Arial"/>
              </a:rPr>
              <a:t>Scenario and offline channels sit in the files but never feed the classifier.</a:t>
            </a:r>
          </a:p>
          <a:p>
            <a:pPr algn="l">
              <a:spcBef>
                <a:spcPts val="400"/>
              </a:spcBef>
            </a:pPr>
            <a:r>
              <a:rPr sz="1150" b="0">
                <a:solidFill>
                  <a:srgbClr val="555555"/>
                </a:solidFill>
                <a:latin typeface="Arial"/>
              </a:rPr>
              <a:t>It sees only four residual features.</a:t>
            </a:r>
          </a:p>
        </p:txBody>
      </p:sp>
    </p:spTree>
    <p:extLst>
      <p:ext uri="{BB962C8B-B14F-4D97-AF65-F5344CB8AC3E}">
        <p14:creationId xmlns:p14="http://schemas.microsoft.com/office/powerpoint/2010/main" val="2463901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7302E-2D75-FAAD-93E1-EB336CD386C4}"/>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A9149D0F-597E-7102-8A26-F39DB9ABAE75}"/>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D7890E16-8AC3-8625-9AA1-DAC74901D77A}"/>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2A9477E6-1416-FF60-660E-58E4E9B5D942}"/>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C4459416-EBCA-9388-169C-9A4ECB3B5C5B}"/>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B9531EB0-1414-E94A-474B-F09EEF8EC1C7}"/>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FC903810-8B74-A02B-4302-74FE667D5846}"/>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423D6045-7212-37A8-53C2-2F94C60F085F}"/>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8236C147-DF8C-62DE-4A93-E4493F5EEEA7}"/>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5BDBB899-2BD9-69E7-4FC6-77EE75278F84}"/>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59B42370-DFDA-1084-F097-F3C99B9D6793}"/>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0E227D22-736D-E520-6C1B-72967362FA22}"/>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0082E226-D4A5-EBDB-3CCD-256DDFE27208}"/>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6E9A5CC5-EA54-E6F0-21E5-9C2A801F21E1}"/>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C4CE0403-BC0B-D6F3-33DA-221D647A895A}"/>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6EDE9F59-E827-BBCF-910B-06419744A519}"/>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DF544EAC-7FA3-57F4-F200-7F4A9D0C3A14}"/>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E859E322-E887-61FB-36F8-BD3233070F80}"/>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3B19D7E5-A8CF-96A2-4F99-83DB4A99C6CD}"/>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71FBDEB5-6821-CDDC-E0A0-3303FCCB7A3B}"/>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484E4EEB-3D18-FF79-E01D-21730248AA57}"/>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2F269295-7831-B009-648E-C77A2EAB60D0}"/>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A83AAD06-EE49-0BA8-8792-89CD5330C80C}"/>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B2ADF073-1EB3-E2C7-2F98-4603338DDAF4}"/>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FB297613-AE57-5329-58A4-D0351AC11E46}"/>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C58D841E-E831-9E44-9A29-F3B2509508BA}"/>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53EEB4B5-F7A0-2902-9166-876CF25D3023}"/>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F369AA7B-992A-20FD-266B-4DDE3C4B8C16}"/>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07CB79AD-EFE8-0CF3-E18A-A1B4ED2D8965}"/>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47987A4A-DA62-B307-1E02-6A28ABB5005F}"/>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B82D28F5-510D-AE4C-1600-C4FF59049988}"/>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970C4FF3-67E9-9658-C1E9-5E49929577C3}"/>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015DEE25-19E3-95C4-0F28-14A9CE97BB7D}"/>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B305EBA1-2EA0-851E-1DFA-764CD2DE5C3F}"/>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75BE60D6-5D59-8E01-FB16-5D1410DC050C}"/>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7C8063D2-02BE-9B90-F675-DE98E4D3CC97}"/>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8FBB912D-0361-D44F-6DDD-CFEFEFB03BED}"/>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53438249-2C0A-ED6D-E58F-6B6C6ACC2A8C}"/>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54438467-5614-C155-EDBB-5C910D94BB75}"/>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719BE108-4F5D-4AD4-E9D5-0CE639FCA080}"/>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1D1D33C4-D35D-620B-F7BA-3182367ED2EC}"/>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DCD180FF-FE4C-2262-819F-5458217451F1}"/>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AA68AC22-AFC8-7193-7577-0398B229BD72}"/>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535CE3CB-8529-9774-CABB-36FC60860246}"/>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961AE149-1708-0F0B-7723-91644471C7C5}"/>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F68F9D25-D9B3-4297-8EF8-4BFA2883F698}"/>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CB591D10-ED96-0AC9-3395-82EADC0072F3}"/>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7F27F832-B6F3-DBF6-9834-C8C691309B87}"/>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DD1A6EE6-FCF9-A3F4-DE0B-24F0EC5B305E}"/>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FB87D1D6-B3E4-E7ED-9EEE-7C9047C96552}"/>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A5437515-3896-626C-182B-46D31EC7022C}"/>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8EA49664-655B-253B-2A6D-8C8105E2ADBF}"/>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B56D8E58-7391-AC7C-7A57-6F657C2ADE18}"/>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687F8265-70BB-978D-903D-55EDA63C9402}"/>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99E8FD15-7CA2-5842-1870-399588E62C94}"/>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575DA900-1084-2980-3537-0FB857ED4CF9}"/>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69DE0767-C4E4-1BBB-E60C-BFCDA5703827}"/>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F21FCB60-9E29-4402-3518-7D95883E2ABE}"/>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A9E4764E-3B13-ACF4-2C10-2BF9D4F7C154}"/>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6DE82E77-3393-0284-AA8F-E27D9F99FD6B}"/>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CF2BF4DD-B289-E8A6-E9C0-61F016380A8D}"/>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7CE59608-F0B0-6043-D00A-675ACD555475}"/>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9CA074D5-AE5A-6B94-2AE6-E01619A871AE}"/>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71CCBC50-A8F6-B79F-829F-68ABB83EAFFB}"/>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63AC952D-135F-4C43-376A-7C253084E685}"/>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50678004-77BF-D289-5EBD-11E87A7A5F33}"/>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FF62F28F-269E-631F-8374-1F2843D4C378}"/>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AE4CCD0A-F2F7-697D-259C-1083064C52F2}"/>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44FCBD1F-454C-326D-AF83-BFC799545935}"/>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Three Transformers, Three Rating-Specific Detectors</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Each rating has its own locked runtime. Two use trained ML; 630 kVA is physics-based.</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06 / 10</a:t>
            </a:r>
          </a:p>
        </p:txBody>
      </p:sp>
      <p:sp>
        <p:nvSpPr>
          <p:cNvPr id="95" name="Rectangle 94"/>
          <p:cNvSpPr/>
          <p:nvPr/>
        </p:nvSpPr>
        <p:spPr>
          <a:xfrm>
            <a:off x="548640" y="1463040"/>
            <a:ext cx="1737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286000" y="1463040"/>
            <a:ext cx="3108960" cy="457200"/>
          </a:xfrm>
          <a:prstGeom prst="rect">
            <a:avLst/>
          </a:prstGeom>
          <a:solidFill>
            <a:srgbClr val="D4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423160" y="1463040"/>
            <a:ext cx="2834640" cy="457200"/>
          </a:xfrm>
          <a:prstGeom prst="rect">
            <a:avLst/>
          </a:prstGeom>
          <a:noFill/>
        </p:spPr>
        <p:txBody>
          <a:bodyPr wrap="square" lIns="0" rIns="0" tIns="0" bIns="0" anchor="ctr">
            <a:spAutoFit/>
          </a:bodyPr>
          <a:lstStyle/>
          <a:p>
            <a:pPr algn="l"/>
            <a:r>
              <a:rPr sz="1200" b="1">
                <a:solidFill>
                  <a:srgbClr val="FFFFFF"/>
                </a:solidFill>
                <a:latin typeface="Arial"/>
              </a:rPr>
              <a:t>100 kVA  ·  FLAGSHIP</a:t>
            </a:r>
          </a:p>
        </p:txBody>
      </p:sp>
      <p:sp>
        <p:nvSpPr>
          <p:cNvPr id="98" name="Rectangle 97"/>
          <p:cNvSpPr/>
          <p:nvPr/>
        </p:nvSpPr>
        <p:spPr>
          <a:xfrm>
            <a:off x="5394960" y="1463040"/>
            <a:ext cx="3108960"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532120" y="1463040"/>
            <a:ext cx="2834640" cy="457200"/>
          </a:xfrm>
          <a:prstGeom prst="rect">
            <a:avLst/>
          </a:prstGeom>
          <a:noFill/>
        </p:spPr>
        <p:txBody>
          <a:bodyPr wrap="square" lIns="0" rIns="0" tIns="0" bIns="0" anchor="ctr">
            <a:spAutoFit/>
          </a:bodyPr>
          <a:lstStyle/>
          <a:p>
            <a:pPr algn="l"/>
            <a:r>
              <a:rPr sz="1200" b="1">
                <a:solidFill>
                  <a:srgbClr val="FFFFFF"/>
                </a:solidFill>
                <a:latin typeface="Arial"/>
              </a:rPr>
              <a:t>250 kVA</a:t>
            </a:r>
          </a:p>
        </p:txBody>
      </p:sp>
      <p:sp>
        <p:nvSpPr>
          <p:cNvPr id="100" name="Rectangle 99"/>
          <p:cNvSpPr/>
          <p:nvPr/>
        </p:nvSpPr>
        <p:spPr>
          <a:xfrm>
            <a:off x="8503920" y="1463040"/>
            <a:ext cx="3108960"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641080" y="1463040"/>
            <a:ext cx="2834640" cy="457200"/>
          </a:xfrm>
          <a:prstGeom prst="rect">
            <a:avLst/>
          </a:prstGeom>
          <a:noFill/>
        </p:spPr>
        <p:txBody>
          <a:bodyPr wrap="square" lIns="0" rIns="0" tIns="0" bIns="0" anchor="ctr">
            <a:spAutoFit/>
          </a:bodyPr>
          <a:lstStyle/>
          <a:p>
            <a:pPr algn="l"/>
            <a:r>
              <a:rPr sz="1200" b="1">
                <a:solidFill>
                  <a:srgbClr val="FFFFFF"/>
                </a:solidFill>
                <a:latin typeface="Arial"/>
              </a:rPr>
              <a:t>630 kVA</a:t>
            </a:r>
          </a:p>
        </p:txBody>
      </p:sp>
      <p:sp>
        <p:nvSpPr>
          <p:cNvPr id="102" name="Rectangle 101"/>
          <p:cNvSpPr/>
          <p:nvPr/>
        </p:nvSpPr>
        <p:spPr>
          <a:xfrm>
            <a:off x="548640" y="1920240"/>
            <a:ext cx="17373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58368" y="1920240"/>
            <a:ext cx="1554480" cy="731520"/>
          </a:xfrm>
          <a:prstGeom prst="rect">
            <a:avLst/>
          </a:prstGeom>
          <a:noFill/>
        </p:spPr>
        <p:txBody>
          <a:bodyPr wrap="square" lIns="0" rIns="0" tIns="0" bIns="0" anchor="ctr">
            <a:spAutoFit/>
          </a:bodyPr>
          <a:lstStyle/>
          <a:p>
            <a:pPr algn="l"/>
            <a:r>
              <a:rPr sz="1200" b="1">
                <a:solidFill>
                  <a:srgbClr val="1E1E1E"/>
                </a:solidFill>
                <a:latin typeface="Arial"/>
              </a:rPr>
              <a:t>Detector</a:t>
            </a:r>
          </a:p>
        </p:txBody>
      </p:sp>
      <p:sp>
        <p:nvSpPr>
          <p:cNvPr id="104" name="Rectangle 103"/>
          <p:cNvSpPr/>
          <p:nvPr/>
        </p:nvSpPr>
        <p:spPr>
          <a:xfrm>
            <a:off x="2286000" y="1920240"/>
            <a:ext cx="3108960" cy="7315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423160" y="1920240"/>
            <a:ext cx="2834640" cy="731520"/>
          </a:xfrm>
          <a:prstGeom prst="rect">
            <a:avLst/>
          </a:prstGeom>
          <a:noFill/>
        </p:spPr>
        <p:txBody>
          <a:bodyPr wrap="square" lIns="0" rIns="0" tIns="0" bIns="0" anchor="ctr">
            <a:spAutoFit/>
          </a:bodyPr>
          <a:lstStyle/>
          <a:p>
            <a:pPr algn="l"/>
            <a:r>
              <a:rPr sz="1200" b="1">
                <a:solidFill>
                  <a:srgbClr val="1E1E1E"/>
                </a:solidFill>
                <a:latin typeface="Arial"/>
              </a:rPr>
              <a:t>Logistic Regression</a:t>
            </a:r>
          </a:p>
          <a:p>
            <a:pPr algn="l">
              <a:spcBef>
                <a:spcPts val="200"/>
              </a:spcBef>
            </a:pPr>
            <a:r>
              <a:rPr sz="1150" b="0">
                <a:solidFill>
                  <a:srgbClr val="555555"/>
                </a:solidFill>
                <a:latin typeface="Arial"/>
              </a:rPr>
              <a:t>4 thermal features</a:t>
            </a:r>
          </a:p>
        </p:txBody>
      </p:sp>
      <p:sp>
        <p:nvSpPr>
          <p:cNvPr id="106" name="Rectangle 105"/>
          <p:cNvSpPr/>
          <p:nvPr/>
        </p:nvSpPr>
        <p:spPr>
          <a:xfrm>
            <a:off x="5394960" y="192024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532120" y="1920240"/>
            <a:ext cx="2834640" cy="731520"/>
          </a:xfrm>
          <a:prstGeom prst="rect">
            <a:avLst/>
          </a:prstGeom>
          <a:noFill/>
        </p:spPr>
        <p:txBody>
          <a:bodyPr wrap="square" lIns="0" rIns="0" tIns="0" bIns="0" anchor="ctr">
            <a:spAutoFit/>
          </a:bodyPr>
          <a:lstStyle/>
          <a:p>
            <a:pPr algn="l"/>
            <a:r>
              <a:rPr sz="1200" b="1">
                <a:solidFill>
                  <a:srgbClr val="1E1E1E"/>
                </a:solidFill>
                <a:latin typeface="Arial"/>
              </a:rPr>
              <a:t>Histogram Gradient Boosting</a:t>
            </a:r>
          </a:p>
          <a:p>
            <a:pPr algn="l">
              <a:spcBef>
                <a:spcPts val="200"/>
              </a:spcBef>
            </a:pPr>
            <a:r>
              <a:rPr sz="1150" b="0">
                <a:solidFill>
                  <a:srgbClr val="555555"/>
                </a:solidFill>
                <a:latin typeface="Arial"/>
              </a:rPr>
              <a:t>13 features</a:t>
            </a:r>
          </a:p>
        </p:txBody>
      </p:sp>
      <p:sp>
        <p:nvSpPr>
          <p:cNvPr id="108" name="Rectangle 107"/>
          <p:cNvSpPr/>
          <p:nvPr/>
        </p:nvSpPr>
        <p:spPr>
          <a:xfrm>
            <a:off x="8503920" y="192024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641080" y="1920240"/>
            <a:ext cx="2834640" cy="731520"/>
          </a:xfrm>
          <a:prstGeom prst="rect">
            <a:avLst/>
          </a:prstGeom>
          <a:noFill/>
        </p:spPr>
        <p:txBody>
          <a:bodyPr wrap="square" lIns="0" rIns="0" tIns="0" bIns="0" anchor="ctr">
            <a:spAutoFit/>
          </a:bodyPr>
          <a:lstStyle/>
          <a:p>
            <a:pPr algn="l"/>
            <a:r>
              <a:rPr sz="1200" b="1">
                <a:solidFill>
                  <a:srgbClr val="1E1E1E"/>
                </a:solidFill>
                <a:latin typeface="Arial"/>
              </a:rPr>
              <a:t>Physics-based causal detector</a:t>
            </a:r>
          </a:p>
          <a:p>
            <a:pPr algn="l">
              <a:spcBef>
                <a:spcPts val="200"/>
              </a:spcBef>
            </a:pPr>
            <a:r>
              <a:rPr sz="1150" b="0">
                <a:solidFill>
                  <a:srgbClr val="555555"/>
                </a:solidFill>
                <a:latin typeface="Arial"/>
              </a:rPr>
              <a:t>No trained classifier</a:t>
            </a:r>
          </a:p>
        </p:txBody>
      </p:sp>
      <p:sp>
        <p:nvSpPr>
          <p:cNvPr id="110" name="Rectangle 109"/>
          <p:cNvSpPr/>
          <p:nvPr/>
        </p:nvSpPr>
        <p:spPr>
          <a:xfrm>
            <a:off x="548640" y="2651760"/>
            <a:ext cx="17373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58368" y="2651760"/>
            <a:ext cx="1554480" cy="731520"/>
          </a:xfrm>
          <a:prstGeom prst="rect">
            <a:avLst/>
          </a:prstGeom>
          <a:noFill/>
        </p:spPr>
        <p:txBody>
          <a:bodyPr wrap="square" lIns="0" rIns="0" tIns="0" bIns="0" anchor="ctr">
            <a:spAutoFit/>
          </a:bodyPr>
          <a:lstStyle/>
          <a:p>
            <a:pPr algn="l"/>
            <a:r>
              <a:rPr sz="1200" b="1">
                <a:solidFill>
                  <a:srgbClr val="1E1E1E"/>
                </a:solidFill>
                <a:latin typeface="Arial"/>
              </a:rPr>
              <a:t>Delivered data</a:t>
            </a:r>
          </a:p>
        </p:txBody>
      </p:sp>
      <p:sp>
        <p:nvSpPr>
          <p:cNvPr id="112" name="Rectangle 111"/>
          <p:cNvSpPr/>
          <p:nvPr/>
        </p:nvSpPr>
        <p:spPr>
          <a:xfrm>
            <a:off x="2286000" y="2651760"/>
            <a:ext cx="3108960" cy="7315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423160" y="2651760"/>
            <a:ext cx="2834640" cy="731520"/>
          </a:xfrm>
          <a:prstGeom prst="rect">
            <a:avLst/>
          </a:prstGeom>
          <a:noFill/>
        </p:spPr>
        <p:txBody>
          <a:bodyPr wrap="square" lIns="0" rIns="0" tIns="0" bIns="0" anchor="ctr">
            <a:spAutoFit/>
          </a:bodyPr>
          <a:lstStyle/>
          <a:p>
            <a:pPr algn="l"/>
            <a:r>
              <a:rPr sz="1200" b="0">
                <a:solidFill>
                  <a:srgbClr val="1E1E1E"/>
                </a:solidFill>
                <a:latin typeface="Arial"/>
              </a:rPr>
              <a:t>241,920 rows</a:t>
            </a:r>
          </a:p>
          <a:p>
            <a:pPr algn="l">
              <a:spcBef>
                <a:spcPts val="200"/>
              </a:spcBef>
            </a:pPr>
            <a:r>
              <a:rPr sz="1150" b="0">
                <a:solidFill>
                  <a:srgbClr val="555555"/>
                </a:solidFill>
                <a:latin typeface="Arial"/>
              </a:rPr>
              <a:t>60 replays × 14 days</a:t>
            </a:r>
          </a:p>
        </p:txBody>
      </p:sp>
      <p:sp>
        <p:nvSpPr>
          <p:cNvPr id="114" name="Rectangle 113"/>
          <p:cNvSpPr/>
          <p:nvPr/>
        </p:nvSpPr>
        <p:spPr>
          <a:xfrm>
            <a:off x="5394960" y="265176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32120" y="2651760"/>
            <a:ext cx="2834640" cy="731520"/>
          </a:xfrm>
          <a:prstGeom prst="rect">
            <a:avLst/>
          </a:prstGeom>
          <a:noFill/>
        </p:spPr>
        <p:txBody>
          <a:bodyPr wrap="square" lIns="0" rIns="0" tIns="0" bIns="0" anchor="ctr">
            <a:spAutoFit/>
          </a:bodyPr>
          <a:lstStyle/>
          <a:p>
            <a:pPr algn="l"/>
            <a:r>
              <a:rPr sz="1200" b="0">
                <a:solidFill>
                  <a:srgbClr val="1E1E1E"/>
                </a:solidFill>
                <a:latin typeface="Arial"/>
              </a:rPr>
              <a:t>145,152 rows</a:t>
            </a:r>
          </a:p>
          <a:p>
            <a:pPr algn="l">
              <a:spcBef>
                <a:spcPts val="200"/>
              </a:spcBef>
            </a:pPr>
            <a:r>
              <a:rPr sz="1150" b="0">
                <a:solidFill>
                  <a:srgbClr val="555555"/>
                </a:solidFill>
                <a:latin typeface="Arial"/>
              </a:rPr>
              <a:t>24 replays × 21 days</a:t>
            </a:r>
          </a:p>
        </p:txBody>
      </p:sp>
      <p:sp>
        <p:nvSpPr>
          <p:cNvPr id="116" name="Rectangle 115"/>
          <p:cNvSpPr/>
          <p:nvPr/>
        </p:nvSpPr>
        <p:spPr>
          <a:xfrm>
            <a:off x="8503920" y="265176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641080" y="2651760"/>
            <a:ext cx="2834640" cy="731520"/>
          </a:xfrm>
          <a:prstGeom prst="rect">
            <a:avLst/>
          </a:prstGeom>
          <a:noFill/>
        </p:spPr>
        <p:txBody>
          <a:bodyPr wrap="square" lIns="0" rIns="0" tIns="0" bIns="0" anchor="ctr">
            <a:spAutoFit/>
          </a:bodyPr>
          <a:lstStyle/>
          <a:p>
            <a:pPr algn="l"/>
            <a:r>
              <a:rPr sz="1200" b="0">
                <a:solidFill>
                  <a:srgbClr val="1E1E1E"/>
                </a:solidFill>
                <a:latin typeface="Arial"/>
              </a:rPr>
              <a:t>193,536 rows</a:t>
            </a:r>
          </a:p>
          <a:p>
            <a:pPr algn="l">
              <a:spcBef>
                <a:spcPts val="200"/>
              </a:spcBef>
            </a:pPr>
            <a:r>
              <a:rPr sz="1150" b="0">
                <a:solidFill>
                  <a:srgbClr val="555555"/>
                </a:solidFill>
                <a:latin typeface="Arial"/>
              </a:rPr>
              <a:t>24 replays × 28 days</a:t>
            </a:r>
          </a:p>
        </p:txBody>
      </p:sp>
      <p:sp>
        <p:nvSpPr>
          <p:cNvPr id="118" name="Rectangle 117"/>
          <p:cNvSpPr/>
          <p:nvPr/>
        </p:nvSpPr>
        <p:spPr>
          <a:xfrm>
            <a:off x="548640" y="3383280"/>
            <a:ext cx="17373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58368" y="3383280"/>
            <a:ext cx="1554480" cy="731520"/>
          </a:xfrm>
          <a:prstGeom prst="rect">
            <a:avLst/>
          </a:prstGeom>
          <a:noFill/>
        </p:spPr>
        <p:txBody>
          <a:bodyPr wrap="square" lIns="0" rIns="0" tIns="0" bIns="0" anchor="ctr">
            <a:spAutoFit/>
          </a:bodyPr>
          <a:lstStyle/>
          <a:p>
            <a:pPr algn="l"/>
            <a:r>
              <a:rPr sz="1200" b="1">
                <a:solidFill>
                  <a:srgbClr val="1E1E1E"/>
                </a:solidFill>
                <a:latin typeface="Arial"/>
              </a:rPr>
              <a:t>Rating treatment</a:t>
            </a:r>
          </a:p>
        </p:txBody>
      </p:sp>
      <p:sp>
        <p:nvSpPr>
          <p:cNvPr id="120" name="Rectangle 119"/>
          <p:cNvSpPr/>
          <p:nvPr/>
        </p:nvSpPr>
        <p:spPr>
          <a:xfrm>
            <a:off x="2286000" y="3383280"/>
            <a:ext cx="3108960" cy="7315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423160" y="3383280"/>
            <a:ext cx="2834640" cy="731520"/>
          </a:xfrm>
          <a:prstGeom prst="rect">
            <a:avLst/>
          </a:prstGeom>
          <a:noFill/>
        </p:spPr>
        <p:txBody>
          <a:bodyPr wrap="square" lIns="0" rIns="0" tIns="0" bIns="0" anchor="ctr">
            <a:spAutoFit/>
          </a:bodyPr>
          <a:lstStyle/>
          <a:p>
            <a:pPr algn="l"/>
            <a:r>
              <a:rPr sz="1200" b="0">
                <a:solidFill>
                  <a:srgbClr val="1E1E1E"/>
                </a:solidFill>
                <a:latin typeface="Arial"/>
              </a:rPr>
              <a:t>Asset-bound calibration</a:t>
            </a:r>
          </a:p>
          <a:p>
            <a:pPr algn="l">
              <a:spcBef>
                <a:spcPts val="200"/>
              </a:spcBef>
            </a:pPr>
            <a:r>
              <a:rPr sz="1150" b="0">
                <a:solidFill>
                  <a:srgbClr val="555555"/>
                </a:solidFill>
                <a:latin typeface="Arial"/>
              </a:rPr>
              <a:t>and guarded inference</a:t>
            </a:r>
          </a:p>
        </p:txBody>
      </p:sp>
      <p:sp>
        <p:nvSpPr>
          <p:cNvPr id="122" name="Rectangle 121"/>
          <p:cNvSpPr/>
          <p:nvPr/>
        </p:nvSpPr>
        <p:spPr>
          <a:xfrm>
            <a:off x="5394960" y="338328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532120" y="3383280"/>
            <a:ext cx="2834640" cy="731520"/>
          </a:xfrm>
          <a:prstGeom prst="rect">
            <a:avLst/>
          </a:prstGeom>
          <a:noFill/>
        </p:spPr>
        <p:txBody>
          <a:bodyPr wrap="square" lIns="0" rIns="0" tIns="0" bIns="0" anchor="ctr">
            <a:spAutoFit/>
          </a:bodyPr>
          <a:lstStyle/>
          <a:p>
            <a:pPr algn="l"/>
            <a:r>
              <a:rPr sz="1200" b="0">
                <a:solidFill>
                  <a:srgbClr val="1E1E1E"/>
                </a:solidFill>
                <a:latin typeface="Arial"/>
              </a:rPr>
              <a:t>Frozen nominal features</a:t>
            </a:r>
          </a:p>
          <a:p>
            <a:pPr algn="l">
              <a:spcBef>
                <a:spcPts val="200"/>
              </a:spcBef>
            </a:pPr>
            <a:r>
              <a:rPr sz="1150" b="0">
                <a:solidFill>
                  <a:srgbClr val="555555"/>
                </a:solidFill>
                <a:latin typeface="Arial"/>
              </a:rPr>
              <a:t>plus electrical screens</a:t>
            </a:r>
          </a:p>
        </p:txBody>
      </p:sp>
      <p:sp>
        <p:nvSpPr>
          <p:cNvPr id="124" name="Rectangle 123"/>
          <p:cNvSpPr/>
          <p:nvPr/>
        </p:nvSpPr>
        <p:spPr>
          <a:xfrm>
            <a:off x="8503920" y="338328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641080" y="3383280"/>
            <a:ext cx="2834640" cy="731520"/>
          </a:xfrm>
          <a:prstGeom prst="rect">
            <a:avLst/>
          </a:prstGeom>
          <a:noFill/>
        </p:spPr>
        <p:txBody>
          <a:bodyPr wrap="square" lIns="0" rIns="0" tIns="0" bIns="0" anchor="ctr">
            <a:spAutoFit/>
          </a:bodyPr>
          <a:lstStyle/>
          <a:p>
            <a:pPr algn="l"/>
            <a:r>
              <a:rPr sz="1200" b="0">
                <a:solidFill>
                  <a:srgbClr val="1E1E1E"/>
                </a:solidFill>
                <a:latin typeface="Arial"/>
              </a:rPr>
              <a:t>Rating-specific dynamics</a:t>
            </a:r>
          </a:p>
          <a:p>
            <a:pPr algn="l">
              <a:spcBef>
                <a:spcPts val="200"/>
              </a:spcBef>
            </a:pPr>
            <a:r>
              <a:rPr sz="1150" b="0">
                <a:solidFill>
                  <a:srgbClr val="555555"/>
                </a:solidFill>
                <a:latin typeface="Arial"/>
              </a:rPr>
              <a:t>and time-constant warm-up</a:t>
            </a:r>
          </a:p>
        </p:txBody>
      </p:sp>
      <p:sp>
        <p:nvSpPr>
          <p:cNvPr id="126" name="Rectangle 125"/>
          <p:cNvSpPr/>
          <p:nvPr/>
        </p:nvSpPr>
        <p:spPr>
          <a:xfrm>
            <a:off x="548640" y="4114800"/>
            <a:ext cx="17373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58368" y="4114800"/>
            <a:ext cx="1554480" cy="731520"/>
          </a:xfrm>
          <a:prstGeom prst="rect">
            <a:avLst/>
          </a:prstGeom>
          <a:noFill/>
        </p:spPr>
        <p:txBody>
          <a:bodyPr wrap="square" lIns="0" rIns="0" tIns="0" bIns="0" anchor="ctr">
            <a:spAutoFit/>
          </a:bodyPr>
          <a:lstStyle/>
          <a:p>
            <a:pPr algn="l"/>
            <a:r>
              <a:rPr sz="1200" b="1">
                <a:solidFill>
                  <a:srgbClr val="1E1E1E"/>
                </a:solidFill>
                <a:latin typeface="Arial"/>
              </a:rPr>
              <a:t>Advanced modules</a:t>
            </a:r>
          </a:p>
        </p:txBody>
      </p:sp>
      <p:sp>
        <p:nvSpPr>
          <p:cNvPr id="128" name="Rectangle 127"/>
          <p:cNvSpPr/>
          <p:nvPr/>
        </p:nvSpPr>
        <p:spPr>
          <a:xfrm>
            <a:off x="2286000" y="4114800"/>
            <a:ext cx="3108960" cy="73152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423160" y="4114800"/>
            <a:ext cx="2834640" cy="731520"/>
          </a:xfrm>
          <a:prstGeom prst="rect">
            <a:avLst/>
          </a:prstGeom>
          <a:noFill/>
        </p:spPr>
        <p:txBody>
          <a:bodyPr wrap="square" lIns="0" rIns="0" tIns="0" bIns="0" anchor="ctr">
            <a:spAutoFit/>
          </a:bodyPr>
          <a:lstStyle/>
          <a:p>
            <a:pPr algn="l"/>
            <a:r>
              <a:rPr sz="1200" b="0">
                <a:solidFill>
                  <a:srgbClr val="1E1E1E"/>
                </a:solidFill>
                <a:latin typeface="Arial"/>
              </a:rPr>
              <a:t>All five investigation</a:t>
            </a:r>
          </a:p>
          <a:p>
            <a:pPr algn="l">
              <a:spcBef>
                <a:spcPts val="200"/>
              </a:spcBef>
            </a:pPr>
            <a:r>
              <a:rPr sz="1150" b="0">
                <a:solidFill>
                  <a:srgbClr val="555555"/>
                </a:solidFill>
                <a:latin typeface="Arial"/>
              </a:rPr>
              <a:t>modules built</a:t>
            </a:r>
          </a:p>
        </p:txBody>
      </p:sp>
      <p:sp>
        <p:nvSpPr>
          <p:cNvPr id="130" name="Rectangle 129"/>
          <p:cNvSpPr/>
          <p:nvPr/>
        </p:nvSpPr>
        <p:spPr>
          <a:xfrm>
            <a:off x="5394960" y="411480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532120" y="4114800"/>
            <a:ext cx="2834640" cy="731520"/>
          </a:xfrm>
          <a:prstGeom prst="rect">
            <a:avLst/>
          </a:prstGeom>
          <a:noFill/>
        </p:spPr>
        <p:txBody>
          <a:bodyPr wrap="square" lIns="0" rIns="0" tIns="0" bIns="0" anchor="ctr">
            <a:spAutoFit/>
          </a:bodyPr>
          <a:lstStyle/>
          <a:p>
            <a:pPr algn="l"/>
            <a:r>
              <a:rPr sz="1200" b="0">
                <a:solidFill>
                  <a:srgbClr val="1E1E1E"/>
                </a:solidFill>
                <a:latin typeface="Arial"/>
              </a:rPr>
              <a:t>Shared monitoring UI</a:t>
            </a:r>
          </a:p>
          <a:p>
            <a:pPr algn="l">
              <a:spcBef>
                <a:spcPts val="200"/>
              </a:spcBef>
            </a:pPr>
            <a:r>
              <a:rPr sz="1150" b="0">
                <a:solidFill>
                  <a:srgbClr val="555555"/>
                </a:solidFill>
                <a:latin typeface="Arial"/>
              </a:rPr>
              <a:t>Extension planned</a:t>
            </a:r>
          </a:p>
        </p:txBody>
      </p:sp>
      <p:sp>
        <p:nvSpPr>
          <p:cNvPr id="132" name="Rectangle 131"/>
          <p:cNvSpPr/>
          <p:nvPr/>
        </p:nvSpPr>
        <p:spPr>
          <a:xfrm>
            <a:off x="8503920" y="4114800"/>
            <a:ext cx="3108960" cy="73152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641080" y="4114800"/>
            <a:ext cx="2834640" cy="731520"/>
          </a:xfrm>
          <a:prstGeom prst="rect">
            <a:avLst/>
          </a:prstGeom>
          <a:noFill/>
        </p:spPr>
        <p:txBody>
          <a:bodyPr wrap="square" lIns="0" rIns="0" tIns="0" bIns="0" anchor="ctr">
            <a:spAutoFit/>
          </a:bodyPr>
          <a:lstStyle/>
          <a:p>
            <a:pPr algn="l"/>
            <a:r>
              <a:rPr sz="1200" b="0">
                <a:solidFill>
                  <a:srgbClr val="1E1E1E"/>
                </a:solidFill>
                <a:latin typeface="Arial"/>
              </a:rPr>
              <a:t>Shared monitoring UI</a:t>
            </a:r>
          </a:p>
          <a:p>
            <a:pPr algn="l">
              <a:spcBef>
                <a:spcPts val="200"/>
              </a:spcBef>
            </a:pPr>
            <a:r>
              <a:rPr sz="1150" b="0">
                <a:solidFill>
                  <a:srgbClr val="555555"/>
                </a:solidFill>
                <a:latin typeface="Arial"/>
              </a:rPr>
              <a:t>Extension planned</a:t>
            </a:r>
          </a:p>
        </p:txBody>
      </p:sp>
      <p:sp>
        <p:nvSpPr>
          <p:cNvPr id="134" name="Rectangle 133"/>
          <p:cNvSpPr/>
          <p:nvPr/>
        </p:nvSpPr>
        <p:spPr>
          <a:xfrm>
            <a:off x="548640" y="4937760"/>
            <a:ext cx="5486400" cy="10515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85800" y="5047488"/>
            <a:ext cx="5212080" cy="832103"/>
          </a:xfrm>
          <a:prstGeom prst="rect">
            <a:avLst/>
          </a:prstGeom>
          <a:noFill/>
        </p:spPr>
        <p:txBody>
          <a:bodyPr wrap="square" lIns="0" rIns="0" tIns="0" bIns="0" anchor="t">
            <a:spAutoFit/>
          </a:bodyPr>
          <a:lstStyle/>
          <a:p>
            <a:pPr algn="l"/>
            <a:r>
              <a:rPr sz="1100" b="1">
                <a:solidFill>
                  <a:srgbClr val="D46A12"/>
                </a:solidFill>
                <a:latin typeface="Arial"/>
              </a:rPr>
              <a:t>WHY THEY DIFFER</a:t>
            </a:r>
          </a:p>
          <a:p>
            <a:pPr algn="l">
              <a:spcBef>
                <a:spcPts val="400"/>
              </a:spcBef>
            </a:pPr>
            <a:r>
              <a:rPr sz="1150" b="0">
                <a:solidFill>
                  <a:srgbClr val="1E1E1E"/>
                </a:solidFill>
                <a:latin typeface="Arial"/>
              </a:rPr>
              <a:t>Ratings have different thermal time constants and rated currents (100 kVA at 433 V is about 133 A per phase), so one shared model would be wrong.</a:t>
            </a:r>
          </a:p>
        </p:txBody>
      </p:sp>
      <p:sp>
        <p:nvSpPr>
          <p:cNvPr id="136" name="Rectangle 135"/>
          <p:cNvSpPr/>
          <p:nvPr/>
        </p:nvSpPr>
        <p:spPr>
          <a:xfrm>
            <a:off x="6172200" y="4937760"/>
            <a:ext cx="5532120" cy="10515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309360" y="5047488"/>
            <a:ext cx="5257800" cy="832103"/>
          </a:xfrm>
          <a:prstGeom prst="rect">
            <a:avLst/>
          </a:prstGeom>
          <a:noFill/>
        </p:spPr>
        <p:txBody>
          <a:bodyPr wrap="square" lIns="0" rIns="0" tIns="0" bIns="0" anchor="t">
            <a:spAutoFit/>
          </a:bodyPr>
          <a:lstStyle/>
          <a:p>
            <a:pPr algn="l"/>
            <a:r>
              <a:rPr sz="1100" b="1">
                <a:solidFill>
                  <a:srgbClr val="D46A12"/>
                </a:solidFill>
                <a:latin typeface="Arial"/>
              </a:rPr>
              <a:t>KEPT SEPARATE</a:t>
            </a:r>
          </a:p>
          <a:p>
            <a:pPr algn="l">
              <a:spcBef>
                <a:spcPts val="400"/>
              </a:spcBef>
            </a:pPr>
            <a:r>
              <a:rPr sz="1150" b="0">
                <a:solidFill>
                  <a:srgbClr val="1E1E1E"/>
                </a:solidFill>
                <a:latin typeface="Arial"/>
              </a:rPr>
              <a:t>Oil-level and terminal-temperature analysis are optional add-ons, not part of the core thermal classifier. No cross-rating accuracy ranking is claimed.</a:t>
            </a:r>
          </a:p>
        </p:txBody>
      </p:sp>
    </p:spTree>
    <p:extLst>
      <p:ext uri="{BB962C8B-B14F-4D97-AF65-F5344CB8AC3E}">
        <p14:creationId xmlns:p14="http://schemas.microsoft.com/office/powerpoint/2010/main" val="3474041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D70A2-E0A2-9487-7CCA-6A26093AFC19}"/>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98488CCE-0360-89B6-4046-FC26F65019A6}"/>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BAD9C57B-F6F3-960B-2E54-39726392A636}"/>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A917A33C-214C-F10D-7E5C-987AD50391FE}"/>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EC3E9E8C-7064-DF57-7125-35D14D08007D}"/>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92063938-2B2C-517B-2CDC-F732699DB84F}"/>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ADD863B3-FB63-A98A-CCFA-1758440FD1C9}"/>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51F07EC8-90E2-DA15-707C-65B7FC2CFD27}"/>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9A86EC5F-AB85-57CD-4F55-F52F87912928}"/>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3745C451-DF2A-D011-4BDF-DEDBD36770EB}"/>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0EE90816-27AE-4CA1-D5CA-B11516F96955}"/>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1BF5418E-414D-51B5-2C32-DE776CFBAE4F}"/>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F6BF817E-4E0A-211E-B5D1-E331A5044B46}"/>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1284878E-07F5-35FF-AB6A-8C583D38BB4D}"/>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36691215-60A8-ADF3-88D5-CB797C3423E7}"/>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3AF2E568-168F-385D-F29F-EEE9A769E496}"/>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04C7D755-00BE-DE6D-BE16-D04A10DF0827}"/>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12D03173-C8C9-DD78-3E1D-E9E28BC4BC72}"/>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EE1DD2A1-6B9E-D03B-333E-1858313267DF}"/>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2A0C8DA7-CBA5-AB3A-D584-570DCF84CCFF}"/>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DF0890F7-66D2-6B37-1F4F-0A30409C2321}"/>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B32AFFEA-FD9A-2F79-9E47-D714003A461F}"/>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9B626AD2-72C5-8E56-8C21-A2A3B27329DE}"/>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AE67FF56-6A28-972F-B870-BCF2FA72511D}"/>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8A7C628D-367C-2438-830E-61460EB8EA95}"/>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2AC24FCB-A920-D9CA-2C26-6691239AEC5E}"/>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90F5F315-D533-7ED4-9681-0FB3FAB679FD}"/>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57EA9C90-7C4C-F7ED-69D6-64CE220E141C}"/>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8FE02E4B-C682-93FC-A9B7-A80CA20CAE99}"/>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25FA78AE-4C52-FB27-8025-69B1196331ED}"/>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8E2C82E3-07CC-11DB-C250-0E4A17183065}"/>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42D23AF0-6963-EF75-741F-5B1D39BAE295}"/>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31328205-FD64-B57C-0B39-0C7C52575642}"/>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610ECCB6-6F35-30D5-B6C6-7AFFCA84D53D}"/>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D3BEF712-73F7-7038-36E1-46CC9EE387AD}"/>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80B2598D-7B0C-8CC1-DFEA-29DC290FC200}"/>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3E591962-DB40-284D-B566-8DB7C60BF092}"/>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BCF06EF0-34B0-7918-16F7-00E49A94B6CA}"/>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0B330414-9CB0-A401-50C0-AA89AB6086A4}"/>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138ACE30-0624-7441-6071-7D7B81A2880C}"/>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221A5561-609A-88C1-61A5-EA4040664608}"/>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E2FBAEAA-FFFF-CD29-B835-B292CCADAAB8}"/>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470BFB1C-375B-4472-DD78-C9E4B3B844AF}"/>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B3DD64F8-94E6-E046-0CE3-0497403EFEE3}"/>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59C51C64-E2BC-ABA7-013B-56C440BF5DFB}"/>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741E4C15-1BDD-2A38-365B-84332E0593CF}"/>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2AB4D1BF-5B6E-D9E0-0407-6A3F0EF9797B}"/>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39930258-8C08-9BF0-C690-6B226F151D9C}"/>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2BC90832-65CE-FAA0-EBF7-607832CD991C}"/>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1103DFF6-520A-8211-C90F-612849485B8F}"/>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0ED754C8-5A56-992A-3698-9C00A80420D1}"/>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83AB0F12-D007-4721-81B3-6A743217636F}"/>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CBBA7C50-5BA1-336E-DB71-F15D9A0CACCD}"/>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5B6AF748-0DB5-75A7-5C84-4F1994E545F2}"/>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0A62C875-6D2D-7148-79C8-241B7F6C720B}"/>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D09828A8-A639-AA4C-B7A6-ABD38C2BC463}"/>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BBEEDDC3-482E-1AE9-D404-B6C9C0798BA8}"/>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2914BF7C-03D1-E2CA-D20F-47177772834C}"/>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488BB7EF-DA3B-5B06-1A6A-27CF93E6E56A}"/>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C6A8A76C-34A1-4423-6AEE-3D2C12B46C62}"/>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FA048D6A-89FE-2F47-B3BB-41C6948A3E1E}"/>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3511C570-B961-D039-CFFF-032A863F90B9}"/>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31DF58B6-A448-98C3-2326-E7BB952390D3}"/>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0AAA1796-6968-AB2D-4111-12BF0CC745E2}"/>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0C022182-8995-6E53-7145-5E3EE44E09DE}"/>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BADC8D44-03EB-3A8F-5655-6323D0C9063F}"/>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0A639275-314A-CA16-B5FC-E27108A3760F}"/>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C02B4B9C-6B0F-F5B0-6955-8A79D8D70298}"/>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21962611-4A17-D0D2-7B70-B0A226FB22DF}"/>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VoltMind in Action: A Working Application</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Screenshot from the running prototype: 4,032-reading replay on 100 kVA synthetic data.</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07 / 10</a:t>
            </a:r>
          </a:p>
        </p:txBody>
      </p:sp>
      <p:sp>
        <p:nvSpPr>
          <p:cNvPr id="95" name="Rectangle 94"/>
          <p:cNvSpPr/>
          <p:nvPr/>
        </p:nvSpPr>
        <p:spPr>
          <a:xfrm>
            <a:off x="512063" y="1472184"/>
            <a:ext cx="7022592" cy="3984615"/>
          </a:xfrm>
          <a:prstGeom prst="rect">
            <a:avLst/>
          </a:prstGeom>
          <a:solidFill>
            <a:srgbClr val="FFFFFF"/>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Dashboard screenshot" descr="VoltMind Live Twin dashboard showing actual and expected top-oil temperature, thermal deviation and the Insights assistant panel"/>
          <p:cNvPicPr>
            <a:picLocks noChangeAspect="1"/>
          </p:cNvPicPr>
          <p:nvPr/>
        </p:nvPicPr>
        <p:blipFill>
          <a:blip r:embed="rId4"/>
          <a:stretch>
            <a:fillRect/>
          </a:stretch>
        </p:blipFill>
        <p:spPr>
          <a:xfrm>
            <a:off x="548640" y="1508760"/>
            <a:ext cx="6949440" cy="3911463"/>
          </a:xfrm>
          <a:prstGeom prst="rect">
            <a:avLst/>
          </a:prstGeom>
        </p:spPr>
      </p:pic>
      <p:sp>
        <p:nvSpPr>
          <p:cNvPr id="97" name="Oval 96"/>
          <p:cNvSpPr/>
          <p:nvPr/>
        </p:nvSpPr>
        <p:spPr>
          <a:xfrm>
            <a:off x="1325265" y="1538252"/>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325265" y="1538252"/>
            <a:ext cx="292608" cy="292608"/>
          </a:xfrm>
          <a:prstGeom prst="rect">
            <a:avLst/>
          </a:prstGeom>
          <a:noFill/>
        </p:spPr>
        <p:txBody>
          <a:bodyPr wrap="square" lIns="0" rIns="0" tIns="0" bIns="0" anchor="ctr">
            <a:spAutoFit/>
          </a:bodyPr>
          <a:lstStyle/>
          <a:p>
            <a:pPr algn="ctr"/>
            <a:r>
              <a:rPr sz="1100" b="1">
                <a:solidFill>
                  <a:srgbClr val="FFFFFF"/>
                </a:solidFill>
                <a:latin typeface="Arial"/>
              </a:rPr>
              <a:t>1</a:t>
            </a:r>
          </a:p>
        </p:txBody>
      </p:sp>
      <p:sp>
        <p:nvSpPr>
          <p:cNvPr id="99" name="Oval 98"/>
          <p:cNvSpPr/>
          <p:nvPr/>
        </p:nvSpPr>
        <p:spPr>
          <a:xfrm>
            <a:off x="556157" y="1911818"/>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56157" y="1911818"/>
            <a:ext cx="292608" cy="292608"/>
          </a:xfrm>
          <a:prstGeom prst="rect">
            <a:avLst/>
          </a:prstGeom>
          <a:noFill/>
        </p:spPr>
        <p:txBody>
          <a:bodyPr wrap="square" lIns="0" rIns="0" tIns="0" bIns="0" anchor="ctr">
            <a:spAutoFit/>
          </a:bodyPr>
          <a:lstStyle/>
          <a:p>
            <a:pPr algn="ctr"/>
            <a:r>
              <a:rPr sz="1100" b="1">
                <a:solidFill>
                  <a:srgbClr val="FFFFFF"/>
                </a:solidFill>
                <a:latin typeface="Arial"/>
              </a:rPr>
              <a:t>2</a:t>
            </a:r>
          </a:p>
        </p:txBody>
      </p:sp>
      <p:sp>
        <p:nvSpPr>
          <p:cNvPr id="101" name="Oval 100"/>
          <p:cNvSpPr/>
          <p:nvPr/>
        </p:nvSpPr>
        <p:spPr>
          <a:xfrm>
            <a:off x="4247875" y="3257757"/>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247875" y="3257757"/>
            <a:ext cx="292608" cy="292608"/>
          </a:xfrm>
          <a:prstGeom prst="rect">
            <a:avLst/>
          </a:prstGeom>
          <a:noFill/>
        </p:spPr>
        <p:txBody>
          <a:bodyPr wrap="square" lIns="0" rIns="0" tIns="0" bIns="0" anchor="ctr">
            <a:spAutoFit/>
          </a:bodyPr>
          <a:lstStyle/>
          <a:p>
            <a:pPr algn="ctr"/>
            <a:r>
              <a:rPr sz="1100" b="1">
                <a:solidFill>
                  <a:srgbClr val="FFFFFF"/>
                </a:solidFill>
                <a:latin typeface="Arial"/>
              </a:rPr>
              <a:t>3</a:t>
            </a:r>
          </a:p>
        </p:txBody>
      </p:sp>
      <p:sp>
        <p:nvSpPr>
          <p:cNvPr id="103" name="Oval 102"/>
          <p:cNvSpPr/>
          <p:nvPr/>
        </p:nvSpPr>
        <p:spPr>
          <a:xfrm>
            <a:off x="4797238" y="1867869"/>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797238" y="1867869"/>
            <a:ext cx="292608" cy="292608"/>
          </a:xfrm>
          <a:prstGeom prst="rect">
            <a:avLst/>
          </a:prstGeom>
          <a:noFill/>
        </p:spPr>
        <p:txBody>
          <a:bodyPr wrap="square" lIns="0" rIns="0" tIns="0" bIns="0" anchor="ctr">
            <a:spAutoFit/>
          </a:bodyPr>
          <a:lstStyle/>
          <a:p>
            <a:pPr algn="ctr"/>
            <a:r>
              <a:rPr sz="1100" b="1">
                <a:solidFill>
                  <a:srgbClr val="FFFFFF"/>
                </a:solidFill>
                <a:latin typeface="Arial"/>
              </a:rPr>
              <a:t>4</a:t>
            </a:r>
          </a:p>
        </p:txBody>
      </p:sp>
      <p:sp>
        <p:nvSpPr>
          <p:cNvPr id="105" name="Rectangle 104"/>
          <p:cNvSpPr/>
          <p:nvPr/>
        </p:nvSpPr>
        <p:spPr>
          <a:xfrm>
            <a:off x="7772400" y="1463040"/>
            <a:ext cx="3931920" cy="10058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946136" y="1618488"/>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946136" y="1618488"/>
            <a:ext cx="292608" cy="292608"/>
          </a:xfrm>
          <a:prstGeom prst="rect">
            <a:avLst/>
          </a:prstGeom>
          <a:noFill/>
        </p:spPr>
        <p:txBody>
          <a:bodyPr wrap="square" lIns="0" rIns="0" tIns="0" bIns="0" anchor="ctr">
            <a:spAutoFit/>
          </a:bodyPr>
          <a:lstStyle/>
          <a:p>
            <a:pPr algn="ctr"/>
            <a:r>
              <a:rPr sz="1100" b="1">
                <a:solidFill>
                  <a:srgbClr val="FFFFFF"/>
                </a:solidFill>
                <a:latin typeface="Arial"/>
              </a:rPr>
              <a:t>1</a:t>
            </a:r>
          </a:p>
        </p:txBody>
      </p:sp>
      <p:sp>
        <p:nvSpPr>
          <p:cNvPr id="108" name="TextBox 107"/>
          <p:cNvSpPr txBox="1"/>
          <p:nvPr/>
        </p:nvSpPr>
        <p:spPr>
          <a:xfrm>
            <a:off x="8229600" y="1554480"/>
            <a:ext cx="3383280" cy="868680"/>
          </a:xfrm>
          <a:prstGeom prst="rect">
            <a:avLst/>
          </a:prstGeom>
          <a:noFill/>
        </p:spPr>
        <p:txBody>
          <a:bodyPr wrap="square" lIns="0" rIns="0" tIns="0" bIns="0" anchor="t">
            <a:spAutoFit/>
          </a:bodyPr>
          <a:lstStyle/>
          <a:p>
            <a:pPr algn="l"/>
            <a:r>
              <a:rPr sz="1100" b="1">
                <a:solidFill>
                  <a:srgbClr val="D46A12"/>
                </a:solidFill>
                <a:latin typeface="Arial"/>
              </a:rPr>
              <a:t>WORKSPACES</a:t>
            </a:r>
          </a:p>
          <a:p>
            <a:pPr algn="l">
              <a:spcBef>
                <a:spcPts val="200"/>
              </a:spcBef>
            </a:pPr>
            <a:r>
              <a:rPr sz="1150" b="0">
                <a:solidFill>
                  <a:srgbClr val="1E1E1E"/>
                </a:solidFill>
                <a:latin typeface="Arial"/>
              </a:rPr>
              <a:t>Overview, Live Twin, Analytics, Alerts, Maintenance, Assets, Intelligence Lab, Fault Investigation.</a:t>
            </a:r>
          </a:p>
        </p:txBody>
      </p:sp>
      <p:sp>
        <p:nvSpPr>
          <p:cNvPr id="109" name="Rectangle 108"/>
          <p:cNvSpPr/>
          <p:nvPr/>
        </p:nvSpPr>
        <p:spPr>
          <a:xfrm>
            <a:off x="7772400" y="2560320"/>
            <a:ext cx="3931920" cy="10058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7946136" y="2715768"/>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946136" y="2715768"/>
            <a:ext cx="292608" cy="292608"/>
          </a:xfrm>
          <a:prstGeom prst="rect">
            <a:avLst/>
          </a:prstGeom>
          <a:noFill/>
        </p:spPr>
        <p:txBody>
          <a:bodyPr wrap="square" lIns="0" rIns="0" tIns="0" bIns="0" anchor="ctr">
            <a:spAutoFit/>
          </a:bodyPr>
          <a:lstStyle/>
          <a:p>
            <a:pPr algn="ctr"/>
            <a:r>
              <a:rPr sz="1100" b="1">
                <a:solidFill>
                  <a:srgbClr val="FFFFFF"/>
                </a:solidFill>
                <a:latin typeface="Arial"/>
              </a:rPr>
              <a:t>2</a:t>
            </a:r>
          </a:p>
        </p:txBody>
      </p:sp>
      <p:sp>
        <p:nvSpPr>
          <p:cNvPr id="112" name="TextBox 111"/>
          <p:cNvSpPr txBox="1"/>
          <p:nvPr/>
        </p:nvSpPr>
        <p:spPr>
          <a:xfrm>
            <a:off x="8229600" y="2651760"/>
            <a:ext cx="3383280" cy="868680"/>
          </a:xfrm>
          <a:prstGeom prst="rect">
            <a:avLst/>
          </a:prstGeom>
          <a:noFill/>
        </p:spPr>
        <p:txBody>
          <a:bodyPr wrap="square" lIns="0" rIns="0" tIns="0" bIns="0" anchor="t">
            <a:spAutoFit/>
          </a:bodyPr>
          <a:lstStyle/>
          <a:p>
            <a:pPr algn="l"/>
            <a:r>
              <a:rPr sz="1100" b="1">
                <a:solidFill>
                  <a:srgbClr val="D46A12"/>
                </a:solidFill>
                <a:latin typeface="Arial"/>
              </a:rPr>
              <a:t>ACTUAL VS EXPECTED</a:t>
            </a:r>
          </a:p>
          <a:p>
            <a:pPr algn="l">
              <a:spcBef>
                <a:spcPts val="200"/>
              </a:spcBef>
            </a:pPr>
            <a:r>
              <a:rPr sz="1150" b="0">
                <a:solidFill>
                  <a:srgbClr val="1E1E1E"/>
                </a:solidFill>
                <a:latin typeface="Arial"/>
              </a:rPr>
              <a:t>Measured top-oil beside the thermal expectation and their deviation.</a:t>
            </a:r>
          </a:p>
        </p:txBody>
      </p:sp>
      <p:sp>
        <p:nvSpPr>
          <p:cNvPr id="113" name="Rectangle 112"/>
          <p:cNvSpPr/>
          <p:nvPr/>
        </p:nvSpPr>
        <p:spPr>
          <a:xfrm>
            <a:off x="7772400" y="3657600"/>
            <a:ext cx="3931920" cy="10058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946136" y="3813048"/>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946136" y="3813048"/>
            <a:ext cx="292608" cy="292608"/>
          </a:xfrm>
          <a:prstGeom prst="rect">
            <a:avLst/>
          </a:prstGeom>
          <a:noFill/>
        </p:spPr>
        <p:txBody>
          <a:bodyPr wrap="square" lIns="0" rIns="0" tIns="0" bIns="0" anchor="ctr">
            <a:spAutoFit/>
          </a:bodyPr>
          <a:lstStyle/>
          <a:p>
            <a:pPr algn="ctr"/>
            <a:r>
              <a:rPr sz="1100" b="1">
                <a:solidFill>
                  <a:srgbClr val="FFFFFF"/>
                </a:solidFill>
                <a:latin typeface="Arial"/>
              </a:rPr>
              <a:t>3</a:t>
            </a:r>
          </a:p>
        </p:txBody>
      </p:sp>
      <p:sp>
        <p:nvSpPr>
          <p:cNvPr id="116" name="TextBox 115"/>
          <p:cNvSpPr txBox="1"/>
          <p:nvPr/>
        </p:nvSpPr>
        <p:spPr>
          <a:xfrm>
            <a:off x="8229600" y="3749039"/>
            <a:ext cx="3383280" cy="868680"/>
          </a:xfrm>
          <a:prstGeom prst="rect">
            <a:avLst/>
          </a:prstGeom>
          <a:noFill/>
        </p:spPr>
        <p:txBody>
          <a:bodyPr wrap="square" lIns="0" rIns="0" tIns="0" bIns="0" anchor="t">
            <a:spAutoFit/>
          </a:bodyPr>
          <a:lstStyle/>
          <a:p>
            <a:pPr algn="l"/>
            <a:r>
              <a:rPr sz="1100" b="1">
                <a:solidFill>
                  <a:srgbClr val="D46A12"/>
                </a:solidFill>
                <a:latin typeface="Arial"/>
              </a:rPr>
              <a:t>THE TWIN COMPARISON</a:t>
            </a:r>
          </a:p>
          <a:p>
            <a:pPr algn="l">
              <a:spcBef>
                <a:spcPts val="200"/>
              </a:spcBef>
            </a:pPr>
            <a:r>
              <a:rPr sz="1150" b="0">
                <a:solidFill>
                  <a:srgbClr val="1E1E1E"/>
                </a:solidFill>
                <a:latin typeface="Arial"/>
              </a:rPr>
              <a:t>A widening gap matters more than a single temperature.</a:t>
            </a:r>
          </a:p>
        </p:txBody>
      </p:sp>
      <p:sp>
        <p:nvSpPr>
          <p:cNvPr id="117" name="Rectangle 116"/>
          <p:cNvSpPr/>
          <p:nvPr/>
        </p:nvSpPr>
        <p:spPr>
          <a:xfrm>
            <a:off x="7772400" y="4754880"/>
            <a:ext cx="3931920" cy="100584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946136" y="4910328"/>
            <a:ext cx="292608" cy="292608"/>
          </a:xfrm>
          <a:prstGeom prst="ellipse">
            <a:avLst/>
          </a:prstGeom>
          <a:solidFill>
            <a:srgbClr val="D46A1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946136" y="4910328"/>
            <a:ext cx="292608" cy="292608"/>
          </a:xfrm>
          <a:prstGeom prst="rect">
            <a:avLst/>
          </a:prstGeom>
          <a:noFill/>
        </p:spPr>
        <p:txBody>
          <a:bodyPr wrap="square" lIns="0" rIns="0" tIns="0" bIns="0" anchor="ctr">
            <a:spAutoFit/>
          </a:bodyPr>
          <a:lstStyle/>
          <a:p>
            <a:pPr algn="ctr"/>
            <a:r>
              <a:rPr sz="1100" b="1">
                <a:solidFill>
                  <a:srgbClr val="FFFFFF"/>
                </a:solidFill>
                <a:latin typeface="Arial"/>
              </a:rPr>
              <a:t>4</a:t>
            </a:r>
          </a:p>
        </p:txBody>
      </p:sp>
      <p:sp>
        <p:nvSpPr>
          <p:cNvPr id="120" name="TextBox 119"/>
          <p:cNvSpPr txBox="1"/>
          <p:nvPr/>
        </p:nvSpPr>
        <p:spPr>
          <a:xfrm>
            <a:off x="8229600" y="4846320"/>
            <a:ext cx="3383280" cy="868680"/>
          </a:xfrm>
          <a:prstGeom prst="rect">
            <a:avLst/>
          </a:prstGeom>
          <a:noFill/>
        </p:spPr>
        <p:txBody>
          <a:bodyPr wrap="square" lIns="0" rIns="0" tIns="0" bIns="0" anchor="t">
            <a:spAutoFit/>
          </a:bodyPr>
          <a:lstStyle/>
          <a:p>
            <a:pPr algn="l"/>
            <a:r>
              <a:rPr sz="1100" b="1">
                <a:solidFill>
                  <a:srgbClr val="D46A12"/>
                </a:solidFill>
                <a:latin typeface="Arial"/>
              </a:rPr>
              <a:t>EVIDENCE ASSISTANT</a:t>
            </a:r>
          </a:p>
          <a:p>
            <a:pPr algn="l">
              <a:spcBef>
                <a:spcPts val="200"/>
              </a:spcBef>
            </a:pPr>
            <a:r>
              <a:rPr sz="1150" b="0">
                <a:solidFill>
                  <a:srgbClr val="1E1E1E"/>
                </a:solidFill>
                <a:latin typeface="Arial"/>
              </a:rPr>
              <a:t>Answers from the local data: 4,032 of 4,032 readings replayed, 631 thermal-alert readings, 3,830 assessable.</a:t>
            </a:r>
          </a:p>
        </p:txBody>
      </p:sp>
      <p:sp>
        <p:nvSpPr>
          <p:cNvPr id="121" name="TextBox 120"/>
          <p:cNvSpPr txBox="1"/>
          <p:nvPr/>
        </p:nvSpPr>
        <p:spPr>
          <a:xfrm>
            <a:off x="7772400" y="5852160"/>
            <a:ext cx="3931920" cy="228600"/>
          </a:xfrm>
          <a:prstGeom prst="rect">
            <a:avLst/>
          </a:prstGeom>
          <a:noFill/>
        </p:spPr>
        <p:txBody>
          <a:bodyPr wrap="square" lIns="0" rIns="0" tIns="0" bIns="0" anchor="t">
            <a:spAutoFit/>
          </a:bodyPr>
          <a:lstStyle/>
          <a:p>
            <a:pPr algn="l"/>
            <a:r>
              <a:rPr sz="1050" b="0">
                <a:solidFill>
                  <a:srgbClr val="555555"/>
                </a:solidFill>
                <a:latin typeface="Arial"/>
              </a:rPr>
              <a:t>Alerts are evidence to investigate, not confirmed failures.</a:t>
            </a:r>
          </a:p>
        </p:txBody>
      </p:sp>
      <p:sp>
        <p:nvSpPr>
          <p:cNvPr id="122" name="Rectangle 121"/>
          <p:cNvSpPr/>
          <p:nvPr/>
        </p:nvSpPr>
        <p:spPr>
          <a:xfrm>
            <a:off x="548640" y="5532120"/>
            <a:ext cx="1316736" cy="3657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48640" y="5532120"/>
            <a:ext cx="1316736" cy="365760"/>
          </a:xfrm>
          <a:prstGeom prst="rect">
            <a:avLst/>
          </a:prstGeom>
          <a:noFill/>
        </p:spPr>
        <p:txBody>
          <a:bodyPr wrap="square" lIns="0" rIns="0" tIns="0" bIns="0" anchor="ctr">
            <a:spAutoFit/>
          </a:bodyPr>
          <a:lstStyle/>
          <a:p>
            <a:pPr algn="ctr"/>
            <a:r>
              <a:rPr sz="1100" b="1">
                <a:solidFill>
                  <a:srgbClr val="1E1E1E"/>
                </a:solidFill>
                <a:latin typeface="Arial"/>
              </a:rPr>
              <a:t>SELECT</a:t>
            </a:r>
          </a:p>
        </p:txBody>
      </p:sp>
      <p:sp>
        <p:nvSpPr>
          <p:cNvPr id="124" name="Rectangle 123"/>
          <p:cNvSpPr/>
          <p:nvPr/>
        </p:nvSpPr>
        <p:spPr>
          <a:xfrm>
            <a:off x="1956816" y="5532120"/>
            <a:ext cx="1316736" cy="3657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956816" y="5532120"/>
            <a:ext cx="1316736" cy="365760"/>
          </a:xfrm>
          <a:prstGeom prst="rect">
            <a:avLst/>
          </a:prstGeom>
          <a:noFill/>
        </p:spPr>
        <p:txBody>
          <a:bodyPr wrap="square" lIns="0" rIns="0" tIns="0" bIns="0" anchor="ctr">
            <a:spAutoFit/>
          </a:bodyPr>
          <a:lstStyle/>
          <a:p>
            <a:pPr algn="ctr"/>
            <a:r>
              <a:rPr sz="1100" b="1">
                <a:solidFill>
                  <a:srgbClr val="1E1E1E"/>
                </a:solidFill>
                <a:latin typeface="Arial"/>
              </a:rPr>
              <a:t>PROCESS</a:t>
            </a:r>
          </a:p>
        </p:txBody>
      </p:sp>
      <p:sp>
        <p:nvSpPr>
          <p:cNvPr id="126" name="Rectangle 125"/>
          <p:cNvSpPr/>
          <p:nvPr/>
        </p:nvSpPr>
        <p:spPr>
          <a:xfrm>
            <a:off x="3364992" y="5532120"/>
            <a:ext cx="1316736" cy="36576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4992" y="5532120"/>
            <a:ext cx="1316736" cy="365760"/>
          </a:xfrm>
          <a:prstGeom prst="rect">
            <a:avLst/>
          </a:prstGeom>
          <a:noFill/>
        </p:spPr>
        <p:txBody>
          <a:bodyPr wrap="square" lIns="0" rIns="0" tIns="0" bIns="0" anchor="ctr">
            <a:spAutoFit/>
          </a:bodyPr>
          <a:lstStyle/>
          <a:p>
            <a:pPr algn="ctr"/>
            <a:r>
              <a:rPr sz="1100" b="1">
                <a:solidFill>
                  <a:srgbClr val="1E1E1E"/>
                </a:solidFill>
                <a:latin typeface="Arial"/>
              </a:rPr>
              <a:t>COMPARE</a:t>
            </a:r>
          </a:p>
        </p:txBody>
      </p:sp>
      <p:sp>
        <p:nvSpPr>
          <p:cNvPr id="128" name="Rectangle 127"/>
          <p:cNvSpPr/>
          <p:nvPr/>
        </p:nvSpPr>
        <p:spPr>
          <a:xfrm>
            <a:off x="4773168" y="5532120"/>
            <a:ext cx="1316736" cy="3657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773168" y="5532120"/>
            <a:ext cx="1316736" cy="365760"/>
          </a:xfrm>
          <a:prstGeom prst="rect">
            <a:avLst/>
          </a:prstGeom>
          <a:noFill/>
        </p:spPr>
        <p:txBody>
          <a:bodyPr wrap="square" lIns="0" rIns="0" tIns="0" bIns="0" anchor="ctr">
            <a:spAutoFit/>
          </a:bodyPr>
          <a:lstStyle/>
          <a:p>
            <a:pPr algn="ctr"/>
            <a:r>
              <a:rPr sz="1100" b="1">
                <a:solidFill>
                  <a:srgbClr val="1E1E1E"/>
                </a:solidFill>
                <a:latin typeface="Arial"/>
              </a:rPr>
              <a:t>DETECT</a:t>
            </a:r>
          </a:p>
        </p:txBody>
      </p:sp>
      <p:sp>
        <p:nvSpPr>
          <p:cNvPr id="130" name="Rectangle 129"/>
          <p:cNvSpPr/>
          <p:nvPr/>
        </p:nvSpPr>
        <p:spPr>
          <a:xfrm>
            <a:off x="6181344" y="5532120"/>
            <a:ext cx="1316736" cy="3657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181344" y="5532120"/>
            <a:ext cx="1316736" cy="365760"/>
          </a:xfrm>
          <a:prstGeom prst="rect">
            <a:avLst/>
          </a:prstGeom>
          <a:noFill/>
        </p:spPr>
        <p:txBody>
          <a:bodyPr wrap="square" lIns="0" rIns="0" tIns="0" bIns="0" anchor="ctr">
            <a:spAutoFit/>
          </a:bodyPr>
          <a:lstStyle/>
          <a:p>
            <a:pPr algn="ctr"/>
            <a:r>
              <a:rPr sz="1100" b="1">
                <a:solidFill>
                  <a:srgbClr val="1E1E1E"/>
                </a:solidFill>
                <a:latin typeface="Arial"/>
              </a:rPr>
              <a:t>EXPLAIN</a:t>
            </a:r>
          </a:p>
        </p:txBody>
      </p:sp>
    </p:spTree>
    <p:extLst>
      <p:ext uri="{BB962C8B-B14F-4D97-AF65-F5344CB8AC3E}">
        <p14:creationId xmlns:p14="http://schemas.microsoft.com/office/powerpoint/2010/main" val="1669721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6F589-9262-CDCE-C3EB-0E87B0DAC9A1}"/>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8B3EDCA4-5825-3607-3609-C2A125AFA4BA}"/>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BC70F256-268D-7F70-7B05-8C211FBACB1E}"/>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FF1E43D6-73A3-C4F0-C5C3-EAE6799ACFB7}"/>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9EE32DA8-678A-3241-5E64-4BC09451CD6D}"/>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92EA00EB-63CC-4FD1-165B-F31C646FA0CA}"/>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CA4181A2-1F71-E245-E702-42825777EAFD}"/>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458E2622-0721-5D5A-8C71-C4E1D48ED731}"/>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AC67B557-A72A-7A5C-8BB4-7CD7C7F58540}"/>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9B38AF3B-09CE-A654-90E5-AAB3C81E02D1}"/>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C45884EB-8F5D-89B7-C0B5-32332161015B}"/>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AF11E521-C73E-559D-5EED-2721CF3B26DC}"/>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0C5C9CC5-6D35-2462-8DA8-FC59BAAACB77}"/>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EDE5865A-7F3B-E4C5-4187-035E710B939B}"/>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18856E22-33CA-3EA7-4A3B-7A204CD264CB}"/>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B82D7139-1DB0-527A-C97D-35C319622483}"/>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8ED03B72-740A-277C-0821-A8ABED361852}"/>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EC3BCD48-0FA2-854A-0AF1-3725CC3D7427}"/>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92B4EF67-1132-614A-3F77-572A479B2FEC}"/>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5984C52F-2685-A86F-088A-A209D98196EE}"/>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85FA553D-6EDA-1C74-2FA3-D81580C1D86D}"/>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2CD6650C-1969-1C23-A03F-C10CBE1CD497}"/>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279F7C4E-CC85-DE37-3AB5-FA9F015D446C}"/>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082C84C7-61E9-1543-5454-3BB18390AC51}"/>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A5742D41-C177-928B-73C2-FE64D2197858}"/>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800FD90B-5CEB-6D11-17EA-6B675C840AE0}"/>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F34CB74A-3CD9-49C4-2F2A-733386673751}"/>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70597AE1-5A49-DD23-BC52-ACB93FF8F94B}"/>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8AD8AA8E-36A1-C7B6-BB53-7B5A590FCCB4}"/>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E4B8FF8F-620B-E9F1-E379-FB0A16DC7BFA}"/>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AE3A583C-5741-4BBE-721E-68E61989F321}"/>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117BBE05-086A-6DD6-425F-D52376F8B920}"/>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ACB28792-D227-045F-3CA6-D1CD09327BA3}"/>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77683356-09AB-4125-AC7A-5A7611210F0D}"/>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FABBBED4-BE16-C0BB-CE08-6AAC71F59016}"/>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D40CBD0D-56A3-D625-0283-5F473E8F5DC1}"/>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5B3357E2-284C-0BC2-DF10-DA9C917EF3FC}"/>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4E84BB13-8810-573A-E5D9-6572E22FA076}"/>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8BDE81DA-51B2-F146-40F7-608ECC086792}"/>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239DDF4D-BEB8-44D5-78E9-A49CC0A8F6F3}"/>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1D08AD65-9E84-5B3A-D1C7-5DBAB8608EDF}"/>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44BE9FF7-8128-CA40-7913-53DC36B59EB0}"/>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0FF98975-9BFB-4336-22DB-E33E65D6B4C6}"/>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70059581-0AED-E696-1898-8B2DC740F7F1}"/>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7D97EC71-0F1C-E5AC-4327-041A7B3762BC}"/>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92E37463-B99E-84F5-96B4-F335595CF4B4}"/>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A0A3569D-EB98-2260-2FB6-13DA2C37C560}"/>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82BCB30D-3F23-8100-29B3-78593B0A51A9}"/>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AF5B8545-76C5-D014-AA88-CECD02878D84}"/>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90E288A6-BA53-E003-04B2-FD4BF4043080}"/>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85B9AE4F-4D85-3BB3-7D3F-31E2221B3FD6}"/>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C4EFF48B-B379-6468-C4E2-68CE322C1C82}"/>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C8066CE8-E678-C0CD-EA15-AACD3391C56E}"/>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0EB88BBF-B085-77A1-6DBD-78228859D41C}"/>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09B551DE-F4A7-6160-68B2-ED612EEA5809}"/>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9C38FDE6-329F-A8FE-6FC2-519A0004C13D}"/>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CC786996-07C0-CAB6-738A-9B76EC055FB4}"/>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AEF605E1-CDAB-B8BE-DD3D-5C98A75FACFB}"/>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57F0B8CC-6314-27E8-1A52-8FBECDF3FA5A}"/>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D51E7C6D-C097-2803-1880-E203E0144DEC}"/>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DEAFF045-307E-45BC-2612-D7394597A366}"/>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3F1D6708-F199-6EAE-3DCE-3E4412428C42}"/>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702F4472-439B-9EC1-8E4F-8776DA1137CD}"/>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54F1EB04-B88A-661C-76A7-9CF4BFB668C6}"/>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E904C096-57DA-9A57-2BCD-4F69BFEE2AFD}"/>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BB0CA1C8-2B9D-9798-835D-76A20634ED7C}"/>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0540E654-CA24-1A9A-20AE-86FF9438153A}"/>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C529D2D8-32B1-BBC8-FAC5-EC5DEAB23E52}"/>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F06C3E77-B97E-9A23-DDB4-FE40994957E0}"/>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Why VoltMind Is Different</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Most dashboards stop at the alert. These five tools help an engineer decide what to do next.</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08 / 10</a:t>
            </a:r>
          </a:p>
        </p:txBody>
      </p:sp>
      <p:sp>
        <p:nvSpPr>
          <p:cNvPr id="95" name="Rectangle 94"/>
          <p:cNvSpPr/>
          <p:nvPr/>
        </p:nvSpPr>
        <p:spPr>
          <a:xfrm>
            <a:off x="548640" y="1508760"/>
            <a:ext cx="2103120" cy="3749039"/>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5800" y="1627632"/>
            <a:ext cx="548640" cy="365760"/>
          </a:xfrm>
          <a:prstGeom prst="rect">
            <a:avLst/>
          </a:prstGeom>
          <a:noFill/>
        </p:spPr>
        <p:txBody>
          <a:bodyPr wrap="square" lIns="0" rIns="0" tIns="0" bIns="0" anchor="t">
            <a:spAutoFit/>
          </a:bodyPr>
          <a:lstStyle/>
          <a:p>
            <a:pPr algn="l"/>
            <a:r>
              <a:rPr sz="2200" b="1">
                <a:solidFill>
                  <a:srgbClr val="D46A12"/>
                </a:solidFill>
                <a:latin typeface="Arial"/>
              </a:rPr>
              <a:t>1</a:t>
            </a:r>
          </a:p>
        </p:txBody>
      </p:sp>
      <p:sp>
        <p:nvSpPr>
          <p:cNvPr id="97" name="TextBox 96"/>
          <p:cNvSpPr txBox="1"/>
          <p:nvPr/>
        </p:nvSpPr>
        <p:spPr>
          <a:xfrm>
            <a:off x="685800" y="2057400"/>
            <a:ext cx="1828799" cy="502920"/>
          </a:xfrm>
          <a:prstGeom prst="rect">
            <a:avLst/>
          </a:prstGeom>
          <a:noFill/>
        </p:spPr>
        <p:txBody>
          <a:bodyPr wrap="square" lIns="0" rIns="0" tIns="0" bIns="0" anchor="t">
            <a:spAutoFit/>
          </a:bodyPr>
          <a:lstStyle/>
          <a:p>
            <a:pPr algn="l"/>
            <a:r>
              <a:rPr sz="1400" b="1">
                <a:solidFill>
                  <a:srgbClr val="1E1E1E"/>
                </a:solidFill>
                <a:latin typeface="Arial"/>
              </a:rPr>
              <a:t>What-If Simulator</a:t>
            </a:r>
          </a:p>
        </p:txBody>
      </p:sp>
      <p:sp>
        <p:nvSpPr>
          <p:cNvPr id="98" name="TextBox 97"/>
          <p:cNvSpPr txBox="1"/>
          <p:nvPr/>
        </p:nvSpPr>
        <p:spPr>
          <a:xfrm>
            <a:off x="685800" y="2651760"/>
            <a:ext cx="1828799" cy="731520"/>
          </a:xfrm>
          <a:prstGeom prst="rect">
            <a:avLst/>
          </a:prstGeom>
          <a:noFill/>
        </p:spPr>
        <p:txBody>
          <a:bodyPr wrap="square" lIns="0" rIns="0" tIns="0" bIns="0" anchor="t">
            <a:spAutoFit/>
          </a:bodyPr>
          <a:lstStyle/>
          <a:p>
            <a:pPr algn="l"/>
            <a:r>
              <a:rPr sz="1200" b="1">
                <a:solidFill>
                  <a:srgbClr val="D46A12"/>
                </a:solidFill>
                <a:latin typeface="Arial"/>
              </a:rPr>
              <a:t>“What happens if we reduce load?”</a:t>
            </a:r>
          </a:p>
        </p:txBody>
      </p:sp>
      <p:sp>
        <p:nvSpPr>
          <p:cNvPr id="99" name="TextBox 98"/>
          <p:cNvSpPr txBox="1"/>
          <p:nvPr/>
        </p:nvSpPr>
        <p:spPr>
          <a:xfrm>
            <a:off x="685800" y="3429000"/>
            <a:ext cx="1828799" cy="1005840"/>
          </a:xfrm>
          <a:prstGeom prst="rect">
            <a:avLst/>
          </a:prstGeom>
          <a:noFill/>
        </p:spPr>
        <p:txBody>
          <a:bodyPr wrap="square" lIns="0" rIns="0" tIns="0" bIns="0" anchor="t">
            <a:spAutoFit/>
          </a:bodyPr>
          <a:lstStyle/>
          <a:p>
            <a:pPr algn="l"/>
            <a:r>
              <a:rPr sz="1200" b="0">
                <a:solidFill>
                  <a:srgbClr val="1E1E1E"/>
                </a:solidFill>
                <a:latin typeface="Arial"/>
              </a:rPr>
              <a:t>Compares the baseline thermal response with a reduced-load one at constant ambient.</a:t>
            </a:r>
          </a:p>
        </p:txBody>
      </p:sp>
      <p:sp>
        <p:nvSpPr>
          <p:cNvPr id="100" name="TextBox 99"/>
          <p:cNvSpPr txBox="1"/>
          <p:nvPr/>
        </p:nvSpPr>
        <p:spPr>
          <a:xfrm>
            <a:off x="685800" y="4434840"/>
            <a:ext cx="1828799" cy="731520"/>
          </a:xfrm>
          <a:prstGeom prst="rect">
            <a:avLst/>
          </a:prstGeom>
          <a:noFill/>
        </p:spPr>
        <p:txBody>
          <a:bodyPr wrap="square" lIns="0" rIns="0" tIns="0" bIns="0" anchor="t">
            <a:spAutoFit/>
          </a:bodyPr>
          <a:lstStyle/>
          <a:p>
            <a:pPr algn="l"/>
            <a:r>
              <a:rPr sz="1000" b="1">
                <a:solidFill>
                  <a:srgbClr val="555555"/>
                </a:solidFill>
                <a:latin typeface="Arial"/>
              </a:rPr>
              <a:t>LIMIT  </a:t>
            </a:r>
            <a:r>
              <a:rPr sz="1100" b="0">
                <a:solidFill>
                  <a:srgbClr val="555555"/>
                </a:solidFill>
                <a:latin typeface="Arial"/>
              </a:rPr>
              <a:t>Not a failure forecast. Controls nothing.</a:t>
            </a:r>
          </a:p>
        </p:txBody>
      </p:sp>
      <p:sp>
        <p:nvSpPr>
          <p:cNvPr id="101" name="Rectangle 100"/>
          <p:cNvSpPr/>
          <p:nvPr/>
        </p:nvSpPr>
        <p:spPr>
          <a:xfrm>
            <a:off x="2811779" y="1508760"/>
            <a:ext cx="2103120" cy="3749039"/>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48939" y="1627632"/>
            <a:ext cx="548640" cy="365760"/>
          </a:xfrm>
          <a:prstGeom prst="rect">
            <a:avLst/>
          </a:prstGeom>
          <a:noFill/>
        </p:spPr>
        <p:txBody>
          <a:bodyPr wrap="square" lIns="0" rIns="0" tIns="0" bIns="0" anchor="t">
            <a:spAutoFit/>
          </a:bodyPr>
          <a:lstStyle/>
          <a:p>
            <a:pPr algn="l"/>
            <a:r>
              <a:rPr sz="2200" b="1">
                <a:solidFill>
                  <a:srgbClr val="D46A12"/>
                </a:solidFill>
                <a:latin typeface="Arial"/>
              </a:rPr>
              <a:t>2</a:t>
            </a:r>
          </a:p>
        </p:txBody>
      </p:sp>
      <p:sp>
        <p:nvSpPr>
          <p:cNvPr id="103" name="TextBox 102"/>
          <p:cNvSpPr txBox="1"/>
          <p:nvPr/>
        </p:nvSpPr>
        <p:spPr>
          <a:xfrm>
            <a:off x="2948939" y="2057400"/>
            <a:ext cx="1828799" cy="502920"/>
          </a:xfrm>
          <a:prstGeom prst="rect">
            <a:avLst/>
          </a:prstGeom>
          <a:noFill/>
        </p:spPr>
        <p:txBody>
          <a:bodyPr wrap="square" lIns="0" rIns="0" tIns="0" bIns="0" anchor="t">
            <a:spAutoFit/>
          </a:bodyPr>
          <a:lstStyle/>
          <a:p>
            <a:pPr algn="l"/>
            <a:r>
              <a:rPr sz="1400" b="1">
                <a:solidFill>
                  <a:srgbClr val="1E1E1E"/>
                </a:solidFill>
                <a:latin typeface="Arial"/>
              </a:rPr>
              <a:t>Sensor Investigator</a:t>
            </a:r>
          </a:p>
        </p:txBody>
      </p:sp>
      <p:sp>
        <p:nvSpPr>
          <p:cNvPr id="104" name="TextBox 103"/>
          <p:cNvSpPr txBox="1"/>
          <p:nvPr/>
        </p:nvSpPr>
        <p:spPr>
          <a:xfrm>
            <a:off x="2948939" y="2651760"/>
            <a:ext cx="1828799" cy="731520"/>
          </a:xfrm>
          <a:prstGeom prst="rect">
            <a:avLst/>
          </a:prstGeom>
          <a:noFill/>
        </p:spPr>
        <p:txBody>
          <a:bodyPr wrap="square" lIns="0" rIns="0" tIns="0" bIns="0" anchor="t">
            <a:spAutoFit/>
          </a:bodyPr>
          <a:lstStyle/>
          <a:p>
            <a:pPr algn="l"/>
            <a:r>
              <a:rPr sz="1200" b="1">
                <a:solidFill>
                  <a:srgbClr val="D46A12"/>
                </a:solidFill>
                <a:latin typeface="Arial"/>
              </a:rPr>
              <a:t>“Is it the transformer or the sensor?”</a:t>
            </a:r>
          </a:p>
        </p:txBody>
      </p:sp>
      <p:sp>
        <p:nvSpPr>
          <p:cNvPr id="105" name="TextBox 104"/>
          <p:cNvSpPr txBox="1"/>
          <p:nvPr/>
        </p:nvSpPr>
        <p:spPr>
          <a:xfrm>
            <a:off x="2948939" y="3429000"/>
            <a:ext cx="1828799" cy="1005840"/>
          </a:xfrm>
          <a:prstGeom prst="rect">
            <a:avLst/>
          </a:prstGeom>
          <a:noFill/>
        </p:spPr>
        <p:txBody>
          <a:bodyPr wrap="square" lIns="0" rIns="0" tIns="0" bIns="0" anchor="t">
            <a:spAutoFit/>
          </a:bodyPr>
          <a:lstStyle/>
          <a:p>
            <a:pPr algn="l"/>
            <a:r>
              <a:rPr sz="1200" b="0">
                <a:solidFill>
                  <a:srgbClr val="1E1E1E"/>
                </a:solidFill>
                <a:latin typeface="Arial"/>
              </a:rPr>
              <a:t>Keeps sensor explanations and physical explanations side by side.</a:t>
            </a:r>
          </a:p>
        </p:txBody>
      </p:sp>
      <p:sp>
        <p:nvSpPr>
          <p:cNvPr id="106" name="TextBox 105"/>
          <p:cNvSpPr txBox="1"/>
          <p:nvPr/>
        </p:nvSpPr>
        <p:spPr>
          <a:xfrm>
            <a:off x="2948939" y="4434840"/>
            <a:ext cx="1828799" cy="731520"/>
          </a:xfrm>
          <a:prstGeom prst="rect">
            <a:avLst/>
          </a:prstGeom>
          <a:noFill/>
        </p:spPr>
        <p:txBody>
          <a:bodyPr wrap="square" lIns="0" rIns="0" tIns="0" bIns="0" anchor="t">
            <a:spAutoFit/>
          </a:bodyPr>
          <a:lstStyle/>
          <a:p>
            <a:pPr algn="l"/>
            <a:r>
              <a:rPr sz="1000" b="1">
                <a:solidFill>
                  <a:srgbClr val="555555"/>
                </a:solidFill>
                <a:latin typeface="Arial"/>
              </a:rPr>
              <a:t>LIMIT  </a:t>
            </a:r>
            <a:r>
              <a:rPr sz="1100" b="0">
                <a:solidFill>
                  <a:srgbClr val="555555"/>
                </a:solidFill>
                <a:latin typeface="Arial"/>
              </a:rPr>
              <a:t>Slow sensor bias can look like real heating.</a:t>
            </a:r>
          </a:p>
        </p:txBody>
      </p:sp>
      <p:sp>
        <p:nvSpPr>
          <p:cNvPr id="107" name="Rectangle 106"/>
          <p:cNvSpPr/>
          <p:nvPr/>
        </p:nvSpPr>
        <p:spPr>
          <a:xfrm>
            <a:off x="5074919" y="1508760"/>
            <a:ext cx="2103120" cy="3749039"/>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212079" y="1627632"/>
            <a:ext cx="548640" cy="365760"/>
          </a:xfrm>
          <a:prstGeom prst="rect">
            <a:avLst/>
          </a:prstGeom>
          <a:noFill/>
        </p:spPr>
        <p:txBody>
          <a:bodyPr wrap="square" lIns="0" rIns="0" tIns="0" bIns="0" anchor="t">
            <a:spAutoFit/>
          </a:bodyPr>
          <a:lstStyle/>
          <a:p>
            <a:pPr algn="l"/>
            <a:r>
              <a:rPr sz="2200" b="1">
                <a:solidFill>
                  <a:srgbClr val="D46A12"/>
                </a:solidFill>
                <a:latin typeface="Arial"/>
              </a:rPr>
              <a:t>3</a:t>
            </a:r>
          </a:p>
        </p:txBody>
      </p:sp>
      <p:sp>
        <p:nvSpPr>
          <p:cNvPr id="109" name="TextBox 108"/>
          <p:cNvSpPr txBox="1"/>
          <p:nvPr/>
        </p:nvSpPr>
        <p:spPr>
          <a:xfrm>
            <a:off x="5212079" y="2057400"/>
            <a:ext cx="1828799" cy="502920"/>
          </a:xfrm>
          <a:prstGeom prst="rect">
            <a:avLst/>
          </a:prstGeom>
          <a:noFill/>
        </p:spPr>
        <p:txBody>
          <a:bodyPr wrap="square" lIns="0" rIns="0" tIns="0" bIns="0" anchor="t">
            <a:spAutoFit/>
          </a:bodyPr>
          <a:lstStyle/>
          <a:p>
            <a:pPr algn="l"/>
            <a:r>
              <a:rPr sz="1400" b="1">
                <a:solidFill>
                  <a:srgbClr val="1E1E1E"/>
                </a:solidFill>
                <a:latin typeface="Arial"/>
              </a:rPr>
              <a:t>Fault Evidence Report</a:t>
            </a:r>
          </a:p>
        </p:txBody>
      </p:sp>
      <p:sp>
        <p:nvSpPr>
          <p:cNvPr id="110" name="TextBox 109"/>
          <p:cNvSpPr txBox="1"/>
          <p:nvPr/>
        </p:nvSpPr>
        <p:spPr>
          <a:xfrm>
            <a:off x="5212079" y="2651760"/>
            <a:ext cx="1828799" cy="731520"/>
          </a:xfrm>
          <a:prstGeom prst="rect">
            <a:avLst/>
          </a:prstGeom>
          <a:noFill/>
        </p:spPr>
        <p:txBody>
          <a:bodyPr wrap="square" lIns="0" rIns="0" tIns="0" bIns="0" anchor="t">
            <a:spAutoFit/>
          </a:bodyPr>
          <a:lstStyle/>
          <a:p>
            <a:pPr algn="l"/>
            <a:r>
              <a:rPr sz="1200" b="1">
                <a:solidFill>
                  <a:srgbClr val="D46A12"/>
                </a:solidFill>
                <a:latin typeface="Arial"/>
              </a:rPr>
              <a:t>“Why was this alert raised?”</a:t>
            </a:r>
          </a:p>
        </p:txBody>
      </p:sp>
      <p:sp>
        <p:nvSpPr>
          <p:cNvPr id="111" name="TextBox 110"/>
          <p:cNvSpPr txBox="1"/>
          <p:nvPr/>
        </p:nvSpPr>
        <p:spPr>
          <a:xfrm>
            <a:off x="5212079" y="3429000"/>
            <a:ext cx="1828799" cy="1005840"/>
          </a:xfrm>
          <a:prstGeom prst="rect">
            <a:avLst/>
          </a:prstGeom>
          <a:noFill/>
        </p:spPr>
        <p:txBody>
          <a:bodyPr wrap="square" lIns="0" rIns="0" tIns="0" bIns="0" anchor="t">
            <a:spAutoFit/>
          </a:bodyPr>
          <a:lstStyle/>
          <a:p>
            <a:pPr algn="l"/>
            <a:r>
              <a:rPr sz="1200" b="0">
                <a:solidFill>
                  <a:srgbClr val="1E1E1E"/>
                </a:solidFill>
                <a:latin typeface="Arial"/>
              </a:rPr>
              <a:t>Records onset, readings, scores, data quality and calibration in a downloadable report.</a:t>
            </a:r>
          </a:p>
        </p:txBody>
      </p:sp>
      <p:sp>
        <p:nvSpPr>
          <p:cNvPr id="112" name="TextBox 111"/>
          <p:cNvSpPr txBox="1"/>
          <p:nvPr/>
        </p:nvSpPr>
        <p:spPr>
          <a:xfrm>
            <a:off x="5212079" y="4434840"/>
            <a:ext cx="1828799" cy="731520"/>
          </a:xfrm>
          <a:prstGeom prst="rect">
            <a:avLst/>
          </a:prstGeom>
          <a:noFill/>
        </p:spPr>
        <p:txBody>
          <a:bodyPr wrap="square" lIns="0" rIns="0" tIns="0" bIns="0" anchor="t">
            <a:spAutoFit/>
          </a:bodyPr>
          <a:lstStyle/>
          <a:p>
            <a:pPr algn="l"/>
            <a:r>
              <a:rPr sz="1000" b="1">
                <a:solidFill>
                  <a:srgbClr val="555555"/>
                </a:solidFill>
                <a:latin typeface="Arial"/>
              </a:rPr>
              <a:t>LIMIT  </a:t>
            </a:r>
            <a:r>
              <a:rPr sz="1100" b="0">
                <a:solidFill>
                  <a:srgbClr val="555555"/>
                </a:solidFill>
                <a:latin typeface="Arial"/>
              </a:rPr>
              <a:t>Evidence for review, not a confirmed fault.</a:t>
            </a:r>
          </a:p>
        </p:txBody>
      </p:sp>
      <p:sp>
        <p:nvSpPr>
          <p:cNvPr id="113" name="Rectangle 112"/>
          <p:cNvSpPr/>
          <p:nvPr/>
        </p:nvSpPr>
        <p:spPr>
          <a:xfrm>
            <a:off x="7338059" y="1508760"/>
            <a:ext cx="2103120" cy="3749039"/>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475219" y="1627632"/>
            <a:ext cx="548640" cy="365760"/>
          </a:xfrm>
          <a:prstGeom prst="rect">
            <a:avLst/>
          </a:prstGeom>
          <a:noFill/>
        </p:spPr>
        <p:txBody>
          <a:bodyPr wrap="square" lIns="0" rIns="0" tIns="0" bIns="0" anchor="t">
            <a:spAutoFit/>
          </a:bodyPr>
          <a:lstStyle/>
          <a:p>
            <a:pPr algn="l"/>
            <a:r>
              <a:rPr sz="2200" b="1">
                <a:solidFill>
                  <a:srgbClr val="D46A12"/>
                </a:solidFill>
                <a:latin typeface="Arial"/>
              </a:rPr>
              <a:t>4</a:t>
            </a:r>
          </a:p>
        </p:txBody>
      </p:sp>
      <p:sp>
        <p:nvSpPr>
          <p:cNvPr id="115" name="TextBox 114"/>
          <p:cNvSpPr txBox="1"/>
          <p:nvPr/>
        </p:nvSpPr>
        <p:spPr>
          <a:xfrm>
            <a:off x="7475219" y="2057400"/>
            <a:ext cx="1828799" cy="502920"/>
          </a:xfrm>
          <a:prstGeom prst="rect">
            <a:avLst/>
          </a:prstGeom>
          <a:noFill/>
        </p:spPr>
        <p:txBody>
          <a:bodyPr wrap="square" lIns="0" rIns="0" tIns="0" bIns="0" anchor="t">
            <a:spAutoFit/>
          </a:bodyPr>
          <a:lstStyle/>
          <a:p>
            <a:pPr algn="l"/>
            <a:r>
              <a:rPr sz="1400" b="1">
                <a:solidFill>
                  <a:srgbClr val="1E1E1E"/>
                </a:solidFill>
                <a:latin typeface="Arial"/>
              </a:rPr>
              <a:t>Falsification Twin</a:t>
            </a:r>
          </a:p>
        </p:txBody>
      </p:sp>
      <p:sp>
        <p:nvSpPr>
          <p:cNvPr id="116" name="TextBox 115"/>
          <p:cNvSpPr txBox="1"/>
          <p:nvPr/>
        </p:nvSpPr>
        <p:spPr>
          <a:xfrm>
            <a:off x="7475219" y="2651760"/>
            <a:ext cx="1828799" cy="731520"/>
          </a:xfrm>
          <a:prstGeom prst="rect">
            <a:avLst/>
          </a:prstGeom>
          <a:noFill/>
        </p:spPr>
        <p:txBody>
          <a:bodyPr wrap="square" lIns="0" rIns="0" tIns="0" bIns="0" anchor="t">
            <a:spAutoFit/>
          </a:bodyPr>
          <a:lstStyle/>
          <a:p>
            <a:pPr algn="l"/>
            <a:r>
              <a:rPr sz="1200" b="1">
                <a:solidFill>
                  <a:srgbClr val="D46A12"/>
                </a:solidFill>
                <a:latin typeface="Arial"/>
              </a:rPr>
              <a:t>“Did the repair actually work?”</a:t>
            </a:r>
          </a:p>
        </p:txBody>
      </p:sp>
      <p:sp>
        <p:nvSpPr>
          <p:cNvPr id="117" name="TextBox 116"/>
          <p:cNvSpPr txBox="1"/>
          <p:nvPr/>
        </p:nvSpPr>
        <p:spPr>
          <a:xfrm>
            <a:off x="7475219" y="3429000"/>
            <a:ext cx="1828799" cy="1005840"/>
          </a:xfrm>
          <a:prstGeom prst="rect">
            <a:avLst/>
          </a:prstGeom>
          <a:noFill/>
        </p:spPr>
        <p:txBody>
          <a:bodyPr wrap="square" lIns="0" rIns="0" tIns="0" bIns="0" anchor="t">
            <a:spAutoFit/>
          </a:bodyPr>
          <a:lstStyle/>
          <a:p>
            <a:pPr algn="l"/>
            <a:r>
              <a:rPr sz="1200" b="0">
                <a:solidFill>
                  <a:srgbClr val="1E1E1E"/>
                </a:solidFill>
                <a:latin typeface="Arial"/>
              </a:rPr>
              <a:t>Tracks recurrence and compares matched before/after windows around logged maintenance.</a:t>
            </a:r>
          </a:p>
        </p:txBody>
      </p:sp>
      <p:sp>
        <p:nvSpPr>
          <p:cNvPr id="118" name="TextBox 117"/>
          <p:cNvSpPr txBox="1"/>
          <p:nvPr/>
        </p:nvSpPr>
        <p:spPr>
          <a:xfrm>
            <a:off x="7475219" y="4434840"/>
            <a:ext cx="1828799" cy="731520"/>
          </a:xfrm>
          <a:prstGeom prst="rect">
            <a:avLst/>
          </a:prstGeom>
          <a:noFill/>
        </p:spPr>
        <p:txBody>
          <a:bodyPr wrap="square" lIns="0" rIns="0" tIns="0" bIns="0" anchor="t">
            <a:spAutoFit/>
          </a:bodyPr>
          <a:lstStyle/>
          <a:p>
            <a:pPr algn="l"/>
            <a:r>
              <a:rPr sz="1000" b="1">
                <a:solidFill>
                  <a:srgbClr val="555555"/>
                </a:solidFill>
                <a:latin typeface="Arial"/>
              </a:rPr>
              <a:t>LIMIT  </a:t>
            </a:r>
            <a:r>
              <a:rPr sz="1100" b="0">
                <a:solidFill>
                  <a:srgbClr val="555555"/>
                </a:solidFill>
                <a:latin typeface="Arial"/>
              </a:rPr>
              <a:t>Shows association, not proof of cause.</a:t>
            </a:r>
          </a:p>
        </p:txBody>
      </p:sp>
      <p:sp>
        <p:nvSpPr>
          <p:cNvPr id="119" name="Rectangle 118"/>
          <p:cNvSpPr/>
          <p:nvPr/>
        </p:nvSpPr>
        <p:spPr>
          <a:xfrm>
            <a:off x="9601199" y="1508760"/>
            <a:ext cx="2103120" cy="3749039"/>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738359" y="1627632"/>
            <a:ext cx="548640" cy="365760"/>
          </a:xfrm>
          <a:prstGeom prst="rect">
            <a:avLst/>
          </a:prstGeom>
          <a:noFill/>
        </p:spPr>
        <p:txBody>
          <a:bodyPr wrap="square" lIns="0" rIns="0" tIns="0" bIns="0" anchor="t">
            <a:spAutoFit/>
          </a:bodyPr>
          <a:lstStyle/>
          <a:p>
            <a:pPr algn="l"/>
            <a:r>
              <a:rPr sz="2200" b="1">
                <a:solidFill>
                  <a:srgbClr val="D46A12"/>
                </a:solidFill>
                <a:latin typeface="Arial"/>
              </a:rPr>
              <a:t>5</a:t>
            </a:r>
          </a:p>
        </p:txBody>
      </p:sp>
      <p:sp>
        <p:nvSpPr>
          <p:cNvPr id="121" name="TextBox 120"/>
          <p:cNvSpPr txBox="1"/>
          <p:nvPr/>
        </p:nvSpPr>
        <p:spPr>
          <a:xfrm>
            <a:off x="9738359" y="2057400"/>
            <a:ext cx="1828799" cy="502920"/>
          </a:xfrm>
          <a:prstGeom prst="rect">
            <a:avLst/>
          </a:prstGeom>
          <a:noFill/>
        </p:spPr>
        <p:txBody>
          <a:bodyPr wrap="square" lIns="0" rIns="0" tIns="0" bIns="0" anchor="t">
            <a:spAutoFit/>
          </a:bodyPr>
          <a:lstStyle/>
          <a:p>
            <a:pPr algn="l"/>
            <a:r>
              <a:rPr sz="1400" b="1">
                <a:solidFill>
                  <a:srgbClr val="1E1E1E"/>
                </a:solidFill>
                <a:latin typeface="Arial"/>
              </a:rPr>
              <a:t>Thermal DNA</a:t>
            </a:r>
          </a:p>
        </p:txBody>
      </p:sp>
      <p:sp>
        <p:nvSpPr>
          <p:cNvPr id="122" name="TextBox 121"/>
          <p:cNvSpPr txBox="1"/>
          <p:nvPr/>
        </p:nvSpPr>
        <p:spPr>
          <a:xfrm>
            <a:off x="9738359" y="2651760"/>
            <a:ext cx="1828799" cy="731520"/>
          </a:xfrm>
          <a:prstGeom prst="rect">
            <a:avLst/>
          </a:prstGeom>
          <a:noFill/>
        </p:spPr>
        <p:txBody>
          <a:bodyPr wrap="square" lIns="0" rIns="0" tIns="0" bIns="0" anchor="t">
            <a:spAutoFit/>
          </a:bodyPr>
          <a:lstStyle/>
          <a:p>
            <a:pPr algn="l"/>
            <a:r>
              <a:rPr sz="1200" b="1">
                <a:solidFill>
                  <a:srgbClr val="D46A12"/>
                </a:solidFill>
                <a:latin typeface="Arial"/>
              </a:rPr>
              <a:t>“Is its heating and cooling response changing?”</a:t>
            </a:r>
          </a:p>
        </p:txBody>
      </p:sp>
      <p:sp>
        <p:nvSpPr>
          <p:cNvPr id="123" name="TextBox 122"/>
          <p:cNvSpPr txBox="1"/>
          <p:nvPr/>
        </p:nvSpPr>
        <p:spPr>
          <a:xfrm>
            <a:off x="9738359" y="3429000"/>
            <a:ext cx="1828799" cy="1005840"/>
          </a:xfrm>
          <a:prstGeom prst="rect">
            <a:avLst/>
          </a:prstGeom>
          <a:noFill/>
        </p:spPr>
        <p:txBody>
          <a:bodyPr wrap="square" lIns="0" rIns="0" tIns="0" bIns="0" anchor="t">
            <a:spAutoFit/>
          </a:bodyPr>
          <a:lstStyle/>
          <a:p>
            <a:pPr algn="l"/>
            <a:r>
              <a:rPr sz="1200" b="0">
                <a:solidFill>
                  <a:srgbClr val="1E1E1E"/>
                </a:solidFill>
                <a:latin typeface="Arial"/>
              </a:rPr>
              <a:t>Compares clean load-step responses against a verified healthy reference.</a:t>
            </a:r>
          </a:p>
        </p:txBody>
      </p:sp>
      <p:sp>
        <p:nvSpPr>
          <p:cNvPr id="124" name="TextBox 123"/>
          <p:cNvSpPr txBox="1"/>
          <p:nvPr/>
        </p:nvSpPr>
        <p:spPr>
          <a:xfrm>
            <a:off x="9738359" y="4434840"/>
            <a:ext cx="1828799" cy="731520"/>
          </a:xfrm>
          <a:prstGeom prst="rect">
            <a:avLst/>
          </a:prstGeom>
          <a:noFill/>
        </p:spPr>
        <p:txBody>
          <a:bodyPr wrap="square" lIns="0" rIns="0" tIns="0" bIns="0" anchor="t">
            <a:spAutoFit/>
          </a:bodyPr>
          <a:lstStyle/>
          <a:p>
            <a:pPr algn="l"/>
            <a:r>
              <a:rPr sz="1000" b="1">
                <a:solidFill>
                  <a:srgbClr val="555555"/>
                </a:solidFill>
                <a:latin typeface="Arial"/>
              </a:rPr>
              <a:t>LIMIT  </a:t>
            </a:r>
            <a:r>
              <a:rPr sz="1100" b="0">
                <a:solidFill>
                  <a:srgbClr val="555555"/>
                </a:solidFill>
                <a:latin typeface="Arial"/>
              </a:rPr>
              <a:t>Can stay "not ready". No damage baseline claimed.</a:t>
            </a:r>
          </a:p>
        </p:txBody>
      </p:sp>
      <p:sp>
        <p:nvSpPr>
          <p:cNvPr id="125" name="Rectangle 124"/>
          <p:cNvSpPr/>
          <p:nvPr/>
        </p:nvSpPr>
        <p:spPr>
          <a:xfrm>
            <a:off x="548640" y="5394960"/>
            <a:ext cx="11155680" cy="566928"/>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13232" y="5394960"/>
            <a:ext cx="10881360" cy="566928"/>
          </a:xfrm>
          <a:prstGeom prst="rect">
            <a:avLst/>
          </a:prstGeom>
          <a:noFill/>
        </p:spPr>
        <p:txBody>
          <a:bodyPr wrap="square" lIns="0" rIns="0" tIns="0" bIns="0" anchor="ctr">
            <a:spAutoFit/>
          </a:bodyPr>
          <a:lstStyle/>
          <a:p>
            <a:pPr algn="l"/>
            <a:r>
              <a:rPr sz="1200" b="1">
                <a:solidFill>
                  <a:srgbClr val="1E1E1E"/>
                </a:solidFill>
                <a:latin typeface="Arial"/>
              </a:rPr>
              <a:t>All five read the same twin: </a:t>
            </a:r>
            <a:r>
              <a:rPr sz="1200" b="0">
                <a:solidFill>
                  <a:srgbClr val="1E1E1E"/>
                </a:solidFill>
                <a:latin typeface="Arial"/>
              </a:rPr>
              <a:t>the same measurements, calibration and evidence trail. Built and running for 100 kVA; extension to 250 and 630 kVA is planned.</a:t>
            </a:r>
          </a:p>
        </p:txBody>
      </p:sp>
    </p:spTree>
    <p:extLst>
      <p:ext uri="{BB962C8B-B14F-4D97-AF65-F5344CB8AC3E}">
        <p14:creationId xmlns:p14="http://schemas.microsoft.com/office/powerpoint/2010/main" val="3690000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2286-FD0C-90D8-9712-D99886EA64E3}"/>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9A8D2322-B1A3-EEF6-AEFF-D7D37241EFD2}"/>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AC031204-E0A1-062D-F7CF-592256E3D51D}"/>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3F51B5AA-D10B-8472-D328-E78B5B2368C2}"/>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D5D4CA78-0F21-FE89-364D-F52B4B8CC588}"/>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A5AC39AB-3510-8244-FBEE-A6D480CFDCB5}"/>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F837F946-0E3D-75F4-4B2F-7CB50729C26A}"/>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1831D73A-3D49-E8A5-950F-5F3897A24792}"/>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1EF558B8-23BA-367A-4BA3-2327D0685EF7}"/>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2905A623-56E4-84B1-0D32-E50861EFAF9F}"/>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82619B16-9D48-F58F-89F5-5C607F764EF4}"/>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CFDEA33D-D7E8-7F6B-4462-20B3D703AA5F}"/>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DF95AD43-9851-BF3A-72F7-0266B1B43606}"/>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9168B33B-EB28-3A29-82CE-C7DD63982A11}"/>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388B5CBC-57AE-72BA-B268-A5923ADFB915}"/>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988C07FD-B571-EB84-B805-592DF2F50A62}"/>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2D21AA15-B9D2-F9FB-2C88-9EDCC15A5FF5}"/>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D90BCF95-E962-26E3-67E2-CB9B999CA4DB}"/>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0C5FA26B-1AA0-57F7-989F-D2EC39D64599}"/>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B6CADF6A-2411-F928-C2C3-15296290EB2B}"/>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7BB5850B-7D3D-A003-33B0-A0725A10C483}"/>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28EA0656-8CBD-3A79-F1EC-30AA99388B88}"/>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127E1243-16B6-1B8F-E19C-A594487719EA}"/>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4ED3E332-1317-B3AC-0010-B15C31C2FE55}"/>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F8A736A2-1464-17CB-AE8A-6968E57BD881}"/>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B55B47E4-2A0A-33D5-ABAE-1D34BE8B638B}"/>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38DBD3F5-DEA6-DF74-D388-FBE185866DE1}"/>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76640FC1-FDB3-CDB1-4C5E-BE5B8973F77E}"/>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A0EA7107-D0B4-9FCA-1D98-38037A4FFC06}"/>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DCCFF4FA-05B7-1C61-042F-A2B1200E17E7}"/>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B291F7EB-C001-A2E8-BAD6-563F45C98051}"/>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F0201C6B-088F-746B-9713-B5399FCE447A}"/>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05491AD7-947B-8A31-6FC5-8F37A421558A}"/>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122E5C45-8379-578C-E920-D774845A66E2}"/>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D08BCBCB-CEEB-6180-74DF-960A0FAA0A44}"/>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28064546-BF36-2FB0-5254-596E874448D5}"/>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BEB8AD1D-276B-490A-3426-BEFE7B4ABCB8}"/>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853FC30D-BE35-6B9C-E6A8-06B9837DAFAC}"/>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1D5DC3DD-D12B-AF06-5F85-9B97D32A6BF4}"/>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78729999-3D6B-B1B8-7FD5-95FA56ECCE2B}"/>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B921C649-EAB7-B44B-2645-14F6276A923B}"/>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FF2FAA9F-621B-F1D9-13F5-CB95773986C7}"/>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03BF028B-1830-5C2D-D96F-048B26FD20B3}"/>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1FE278BB-3348-FC36-BB87-5FB6B5CD9CE4}"/>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F3FD1B1F-3B8F-EBB2-F2EE-BB8F8949554A}"/>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E446228B-9362-5748-B293-1A382BF02791}"/>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2F4541CB-4DF6-9849-650B-81835A35ECD1}"/>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FC362E9B-5DC0-55A5-9483-7805B6317C95}"/>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E87B6471-07F4-CBCA-D81D-B72EBD4CEAC6}"/>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CDE5249D-9863-79D7-2CF2-F983DC5312CA}"/>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9A056201-D59F-7757-3ADA-4547B31D6DCC}"/>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E722A065-2A54-524A-A438-B963F8E4B9AE}"/>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94E0ECCD-00EE-3A5D-7F58-1D4698402226}"/>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6F3254B0-F708-2E23-875C-108B1B2F1C83}"/>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309B8DDF-34C4-FAB8-4006-136AA8ACE952}"/>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FD158ADD-6B04-E292-A99F-564EB0EFCF4A}"/>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4EA3A003-B736-7D82-BD6D-F0210EDA1FA0}"/>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4264749B-AB1E-EB39-097E-B9211380BE77}"/>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16E20A61-2FC2-A953-1C1C-341BEAC52B4A}"/>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C3C19F68-D986-85CB-2B0A-F404D9F8C456}"/>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E359CF1C-227A-8755-7B9E-3BD1DB4560D2}"/>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160DE026-E4DC-AFA2-1206-B58CDF9C472E}"/>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2CB9B4DE-DA6B-743B-FFE6-943B82803336}"/>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D93445D0-BCAB-13D8-693C-D2DB27F23729}"/>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DA3E96B7-4A53-BC0E-DA1F-C8B79FE2CB29}"/>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9E9C252D-30AA-FF38-8F7C-2E3D68899CD1}"/>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86ED8D89-6373-A379-DD81-DCD1656381D0}"/>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D1460668-F800-CE91-77BD-9860C9F8505B}"/>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F726C082-99FB-34D9-F000-9C6FA962D31E}"/>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Validation: How Reliable Is VoltMind?</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100 kVA flagship, fresh held-out synthetic benchmark (48,384 rows), tested after the model was locked.</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09 / 10</a:t>
            </a:r>
          </a:p>
        </p:txBody>
      </p:sp>
      <p:sp>
        <p:nvSpPr>
          <p:cNvPr id="95" name="Rectangle 94"/>
          <p:cNvSpPr/>
          <p:nvPr/>
        </p:nvSpPr>
        <p:spPr>
          <a:xfrm>
            <a:off x="548640" y="1508760"/>
            <a:ext cx="3611880" cy="16002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31520" y="1572768"/>
            <a:ext cx="3291840" cy="731520"/>
          </a:xfrm>
          <a:prstGeom prst="rect">
            <a:avLst/>
          </a:prstGeom>
          <a:noFill/>
        </p:spPr>
        <p:txBody>
          <a:bodyPr wrap="square" lIns="0" rIns="0" tIns="0" bIns="0" anchor="ctr">
            <a:spAutoFit/>
          </a:bodyPr>
          <a:lstStyle/>
          <a:p>
            <a:pPr algn="l"/>
            <a:r>
              <a:rPr sz="4000" b="1">
                <a:solidFill>
                  <a:srgbClr val="D46A12"/>
                </a:solidFill>
                <a:latin typeface="Arial"/>
              </a:rPr>
              <a:t>22 / 23</a:t>
            </a:r>
          </a:p>
        </p:txBody>
      </p:sp>
      <p:sp>
        <p:nvSpPr>
          <p:cNvPr id="97" name="TextBox 96"/>
          <p:cNvSpPr txBox="1"/>
          <p:nvPr/>
        </p:nvSpPr>
        <p:spPr>
          <a:xfrm>
            <a:off x="731520" y="2331720"/>
            <a:ext cx="3291840" cy="731520"/>
          </a:xfrm>
          <a:prstGeom prst="rect">
            <a:avLst/>
          </a:prstGeom>
          <a:noFill/>
        </p:spPr>
        <p:txBody>
          <a:bodyPr wrap="square" lIns="0" rIns="0" tIns="0" bIns="0" anchor="t">
            <a:spAutoFit/>
          </a:bodyPr>
          <a:lstStyle/>
          <a:p>
            <a:pPr algn="l"/>
            <a:r>
              <a:rPr sz="1300" b="1">
                <a:solidFill>
                  <a:srgbClr val="1E1E1E"/>
                </a:solidFill>
                <a:latin typeface="Arial"/>
              </a:rPr>
              <a:t>thermal events detected</a:t>
            </a:r>
          </a:p>
          <a:p>
            <a:pPr algn="l">
              <a:spcBef>
                <a:spcPts val="200"/>
              </a:spcBef>
            </a:pPr>
            <a:r>
              <a:rPr sz="1100" b="0">
                <a:solidFill>
                  <a:srgbClr val="555555"/>
                </a:solidFill>
                <a:latin typeface="Arial"/>
              </a:rPr>
              <a:t>Median delay 82.5 min, 90th percentile 218 min</a:t>
            </a:r>
          </a:p>
        </p:txBody>
      </p:sp>
      <p:sp>
        <p:nvSpPr>
          <p:cNvPr id="98" name="Rectangle 97"/>
          <p:cNvSpPr/>
          <p:nvPr/>
        </p:nvSpPr>
        <p:spPr>
          <a:xfrm>
            <a:off x="4320540" y="1508760"/>
            <a:ext cx="3611880" cy="16002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03420" y="1572768"/>
            <a:ext cx="3291840" cy="731520"/>
          </a:xfrm>
          <a:prstGeom prst="rect">
            <a:avLst/>
          </a:prstGeom>
          <a:noFill/>
        </p:spPr>
        <p:txBody>
          <a:bodyPr wrap="square" lIns="0" rIns="0" tIns="0" bIns="0" anchor="ctr">
            <a:spAutoFit/>
          </a:bodyPr>
          <a:lstStyle/>
          <a:p>
            <a:pPr algn="l"/>
            <a:r>
              <a:rPr sz="4000" b="1">
                <a:solidFill>
                  <a:srgbClr val="D46A12"/>
                </a:solidFill>
                <a:latin typeface="Arial"/>
              </a:rPr>
              <a:t>93.1%</a:t>
            </a:r>
          </a:p>
        </p:txBody>
      </p:sp>
      <p:sp>
        <p:nvSpPr>
          <p:cNvPr id="100" name="TextBox 99"/>
          <p:cNvSpPr txBox="1"/>
          <p:nvPr/>
        </p:nvSpPr>
        <p:spPr>
          <a:xfrm>
            <a:off x="4503420" y="2331720"/>
            <a:ext cx="3291840" cy="731520"/>
          </a:xfrm>
          <a:prstGeom prst="rect">
            <a:avLst/>
          </a:prstGeom>
          <a:noFill/>
        </p:spPr>
        <p:txBody>
          <a:bodyPr wrap="square" lIns="0" rIns="0" tIns="0" bIns="0" anchor="t">
            <a:spAutoFit/>
          </a:bodyPr>
          <a:lstStyle/>
          <a:p>
            <a:pPr algn="l"/>
            <a:r>
              <a:rPr sz="1300" b="1">
                <a:solidFill>
                  <a:srgbClr val="1E1E1E"/>
                </a:solidFill>
                <a:latin typeface="Arial"/>
              </a:rPr>
              <a:t>thermal assessment coverage</a:t>
            </a:r>
          </a:p>
          <a:p>
            <a:pPr algn="l">
              <a:spcBef>
                <a:spcPts val="200"/>
              </a:spcBef>
            </a:pPr>
            <a:r>
              <a:rPr sz="1100" b="0">
                <a:solidFill>
                  <a:srgbClr val="555555"/>
                </a:solidFill>
                <a:latin typeface="Arial"/>
              </a:rPr>
              <a:t>Rows the model cannot judge are marked unassessed</a:t>
            </a:r>
          </a:p>
        </p:txBody>
      </p:sp>
      <p:sp>
        <p:nvSpPr>
          <p:cNvPr id="101" name="Rectangle 100"/>
          <p:cNvSpPr/>
          <p:nvPr/>
        </p:nvSpPr>
        <p:spPr>
          <a:xfrm>
            <a:off x="8092440" y="1508760"/>
            <a:ext cx="3611880" cy="160020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275319" y="1572768"/>
            <a:ext cx="3291840" cy="731520"/>
          </a:xfrm>
          <a:prstGeom prst="rect">
            <a:avLst/>
          </a:prstGeom>
          <a:noFill/>
        </p:spPr>
        <p:txBody>
          <a:bodyPr wrap="square" lIns="0" rIns="0" tIns="0" bIns="0" anchor="ctr">
            <a:spAutoFit/>
          </a:bodyPr>
          <a:lstStyle/>
          <a:p>
            <a:pPr algn="l"/>
            <a:r>
              <a:rPr sz="4000" b="1">
                <a:solidFill>
                  <a:srgbClr val="D46A12"/>
                </a:solidFill>
                <a:latin typeface="Arial"/>
              </a:rPr>
              <a:t>0.127</a:t>
            </a:r>
          </a:p>
        </p:txBody>
      </p:sp>
      <p:sp>
        <p:nvSpPr>
          <p:cNvPr id="103" name="TextBox 102"/>
          <p:cNvSpPr txBox="1"/>
          <p:nvPr/>
        </p:nvSpPr>
        <p:spPr>
          <a:xfrm>
            <a:off x="8275319" y="2331720"/>
            <a:ext cx="3291840" cy="731520"/>
          </a:xfrm>
          <a:prstGeom prst="rect">
            <a:avLst/>
          </a:prstGeom>
          <a:noFill/>
        </p:spPr>
        <p:txBody>
          <a:bodyPr wrap="square" lIns="0" rIns="0" tIns="0" bIns="0" anchor="t">
            <a:spAutoFit/>
          </a:bodyPr>
          <a:lstStyle/>
          <a:p>
            <a:pPr algn="l"/>
            <a:r>
              <a:rPr sz="1300" b="1">
                <a:solidFill>
                  <a:srgbClr val="1E1E1E"/>
                </a:solidFill>
                <a:latin typeface="Arial"/>
              </a:rPr>
              <a:t>false episodes per healthy day</a:t>
            </a:r>
          </a:p>
          <a:p>
            <a:pPr algn="l">
              <a:spcBef>
                <a:spcPts val="200"/>
              </a:spcBef>
            </a:pPr>
            <a:r>
              <a:rPr sz="1100" b="0">
                <a:solidFill>
                  <a:srgbClr val="555555"/>
                </a:solidFill>
                <a:latin typeface="Arial"/>
              </a:rPr>
              <a:t>18 false episodes over 141.8 healthy days: about one every 8 days</a:t>
            </a:r>
          </a:p>
        </p:txBody>
      </p:sp>
      <p:sp>
        <p:nvSpPr>
          <p:cNvPr id="104" name="Rectangle 103"/>
          <p:cNvSpPr/>
          <p:nvPr/>
        </p:nvSpPr>
        <p:spPr>
          <a:xfrm>
            <a:off x="548640" y="3291840"/>
            <a:ext cx="4572000" cy="26974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85800" y="3401568"/>
            <a:ext cx="4297680" cy="274320"/>
          </a:xfrm>
          <a:prstGeom prst="rect">
            <a:avLst/>
          </a:prstGeom>
          <a:noFill/>
        </p:spPr>
        <p:txBody>
          <a:bodyPr wrap="square" lIns="0" rIns="0" tIns="0" bIns="0" anchor="t">
            <a:spAutoFit/>
          </a:bodyPr>
          <a:lstStyle/>
          <a:p>
            <a:pPr algn="l"/>
            <a:r>
              <a:rPr sz="1100" b="1">
                <a:solidFill>
                  <a:srgbClr val="D46A12"/>
                </a:solidFill>
                <a:latin typeface="Arial"/>
              </a:rPr>
              <a:t>BASELINE VS VOLTMIND  (SYNTHETIC)</a:t>
            </a:r>
          </a:p>
        </p:txBody>
      </p:sp>
      <p:sp>
        <p:nvSpPr>
          <p:cNvPr id="106" name="TextBox 105"/>
          <p:cNvSpPr txBox="1"/>
          <p:nvPr/>
        </p:nvSpPr>
        <p:spPr>
          <a:xfrm>
            <a:off x="2514600" y="3730752"/>
            <a:ext cx="868680" cy="274320"/>
          </a:xfrm>
          <a:prstGeom prst="rect">
            <a:avLst/>
          </a:prstGeom>
          <a:noFill/>
        </p:spPr>
        <p:txBody>
          <a:bodyPr wrap="square" lIns="0" rIns="0" tIns="0" bIns="0" anchor="t">
            <a:spAutoFit/>
          </a:bodyPr>
          <a:lstStyle/>
          <a:p>
            <a:pPr algn="ctr"/>
            <a:r>
              <a:rPr sz="1150" b="1">
                <a:solidFill>
                  <a:srgbClr val="555555"/>
                </a:solidFill>
                <a:latin typeface="Arial"/>
              </a:rPr>
              <a:t>Baseline</a:t>
            </a:r>
          </a:p>
        </p:txBody>
      </p:sp>
      <p:sp>
        <p:nvSpPr>
          <p:cNvPr id="107" name="TextBox 106"/>
          <p:cNvSpPr txBox="1"/>
          <p:nvPr/>
        </p:nvSpPr>
        <p:spPr>
          <a:xfrm>
            <a:off x="3429000" y="3730752"/>
            <a:ext cx="1554480" cy="274320"/>
          </a:xfrm>
          <a:prstGeom prst="rect">
            <a:avLst/>
          </a:prstGeom>
          <a:noFill/>
        </p:spPr>
        <p:txBody>
          <a:bodyPr wrap="square" lIns="0" rIns="0" tIns="0" bIns="0" anchor="t">
            <a:spAutoFit/>
          </a:bodyPr>
          <a:lstStyle/>
          <a:p>
            <a:pPr algn="ctr"/>
            <a:r>
              <a:rPr sz="1150" b="1">
                <a:solidFill>
                  <a:srgbClr val="D46A12"/>
                </a:solidFill>
                <a:latin typeface="Arial"/>
              </a:rPr>
              <a:t>VoltMind</a:t>
            </a:r>
          </a:p>
        </p:txBody>
      </p:sp>
      <p:sp>
        <p:nvSpPr>
          <p:cNvPr id="108" name="Rectangle 107"/>
          <p:cNvSpPr/>
          <p:nvPr/>
        </p:nvSpPr>
        <p:spPr>
          <a:xfrm>
            <a:off x="685800" y="4462272"/>
            <a:ext cx="4297680" cy="914"/>
          </a:xfrm>
          <a:prstGeom prst="rect">
            <a:avLst/>
          </a:prstGeom>
          <a:solidFill>
            <a:srgbClr val="C4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85800" y="4069080"/>
            <a:ext cx="1828800" cy="365760"/>
          </a:xfrm>
          <a:prstGeom prst="rect">
            <a:avLst/>
          </a:prstGeom>
          <a:noFill/>
        </p:spPr>
        <p:txBody>
          <a:bodyPr wrap="square" lIns="0" rIns="0" tIns="0" bIns="0" anchor="ctr">
            <a:spAutoFit/>
          </a:bodyPr>
          <a:lstStyle/>
          <a:p>
            <a:pPr algn="l"/>
            <a:r>
              <a:rPr sz="1250" b="1">
                <a:solidFill>
                  <a:srgbClr val="1E1E1E"/>
                </a:solidFill>
                <a:latin typeface="Arial"/>
              </a:rPr>
              <a:t>Events detected</a:t>
            </a:r>
          </a:p>
        </p:txBody>
      </p:sp>
      <p:sp>
        <p:nvSpPr>
          <p:cNvPr id="110" name="TextBox 109"/>
          <p:cNvSpPr txBox="1"/>
          <p:nvPr/>
        </p:nvSpPr>
        <p:spPr>
          <a:xfrm>
            <a:off x="2514600" y="4069080"/>
            <a:ext cx="868680" cy="365760"/>
          </a:xfrm>
          <a:prstGeom prst="rect">
            <a:avLst/>
          </a:prstGeom>
          <a:noFill/>
        </p:spPr>
        <p:txBody>
          <a:bodyPr wrap="square" lIns="0" rIns="0" tIns="0" bIns="0" anchor="ctr">
            <a:spAutoFit/>
          </a:bodyPr>
          <a:lstStyle/>
          <a:p>
            <a:pPr algn="ctr"/>
            <a:r>
              <a:rPr sz="1300" b="0">
                <a:solidFill>
                  <a:srgbClr val="1E1E1E"/>
                </a:solidFill>
                <a:latin typeface="Arial"/>
              </a:rPr>
              <a:t>20 / 23</a:t>
            </a:r>
          </a:p>
        </p:txBody>
      </p:sp>
      <p:sp>
        <p:nvSpPr>
          <p:cNvPr id="111" name="TextBox 110"/>
          <p:cNvSpPr txBox="1"/>
          <p:nvPr/>
        </p:nvSpPr>
        <p:spPr>
          <a:xfrm>
            <a:off x="3429000" y="4069080"/>
            <a:ext cx="1554480" cy="365760"/>
          </a:xfrm>
          <a:prstGeom prst="rect">
            <a:avLst/>
          </a:prstGeom>
          <a:noFill/>
        </p:spPr>
        <p:txBody>
          <a:bodyPr wrap="square" lIns="0" rIns="0" tIns="0" bIns="0" anchor="ctr">
            <a:spAutoFit/>
          </a:bodyPr>
          <a:lstStyle/>
          <a:p>
            <a:pPr algn="ctr"/>
            <a:r>
              <a:rPr sz="1300" b="1">
                <a:solidFill>
                  <a:srgbClr val="1E1E1E"/>
                </a:solidFill>
                <a:latin typeface="Arial"/>
              </a:rPr>
              <a:t>22 / 23</a:t>
            </a:r>
          </a:p>
        </p:txBody>
      </p:sp>
      <p:sp>
        <p:nvSpPr>
          <p:cNvPr id="112" name="Rectangle 111"/>
          <p:cNvSpPr/>
          <p:nvPr/>
        </p:nvSpPr>
        <p:spPr>
          <a:xfrm>
            <a:off x="685800" y="4919472"/>
            <a:ext cx="4297680" cy="914"/>
          </a:xfrm>
          <a:prstGeom prst="rect">
            <a:avLst/>
          </a:prstGeom>
          <a:solidFill>
            <a:srgbClr val="C4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85800" y="4526280"/>
            <a:ext cx="1828800" cy="365760"/>
          </a:xfrm>
          <a:prstGeom prst="rect">
            <a:avLst/>
          </a:prstGeom>
          <a:noFill/>
        </p:spPr>
        <p:txBody>
          <a:bodyPr wrap="square" lIns="0" rIns="0" tIns="0" bIns="0" anchor="ctr">
            <a:spAutoFit/>
          </a:bodyPr>
          <a:lstStyle/>
          <a:p>
            <a:pPr algn="l"/>
            <a:r>
              <a:rPr sz="1250" b="1">
                <a:solidFill>
                  <a:srgbClr val="1E1E1E"/>
                </a:solidFill>
                <a:latin typeface="Arial"/>
              </a:rPr>
              <a:t>Coverage</a:t>
            </a:r>
          </a:p>
        </p:txBody>
      </p:sp>
      <p:sp>
        <p:nvSpPr>
          <p:cNvPr id="114" name="TextBox 113"/>
          <p:cNvSpPr txBox="1"/>
          <p:nvPr/>
        </p:nvSpPr>
        <p:spPr>
          <a:xfrm>
            <a:off x="2514600" y="4526280"/>
            <a:ext cx="868680" cy="365760"/>
          </a:xfrm>
          <a:prstGeom prst="rect">
            <a:avLst/>
          </a:prstGeom>
          <a:noFill/>
        </p:spPr>
        <p:txBody>
          <a:bodyPr wrap="square" lIns="0" rIns="0" tIns="0" bIns="0" anchor="ctr">
            <a:spAutoFit/>
          </a:bodyPr>
          <a:lstStyle/>
          <a:p>
            <a:pPr algn="ctr"/>
            <a:r>
              <a:rPr sz="1300" b="0">
                <a:solidFill>
                  <a:srgbClr val="1E1E1E"/>
                </a:solidFill>
                <a:latin typeface="Arial"/>
              </a:rPr>
              <a:t>74.8%</a:t>
            </a:r>
          </a:p>
        </p:txBody>
      </p:sp>
      <p:sp>
        <p:nvSpPr>
          <p:cNvPr id="115" name="TextBox 114"/>
          <p:cNvSpPr txBox="1"/>
          <p:nvPr/>
        </p:nvSpPr>
        <p:spPr>
          <a:xfrm>
            <a:off x="3429000" y="4526280"/>
            <a:ext cx="1554480" cy="365760"/>
          </a:xfrm>
          <a:prstGeom prst="rect">
            <a:avLst/>
          </a:prstGeom>
          <a:noFill/>
        </p:spPr>
        <p:txBody>
          <a:bodyPr wrap="square" lIns="0" rIns="0" tIns="0" bIns="0" anchor="ctr">
            <a:spAutoFit/>
          </a:bodyPr>
          <a:lstStyle/>
          <a:p>
            <a:pPr algn="ctr"/>
            <a:r>
              <a:rPr sz="1300" b="1">
                <a:solidFill>
                  <a:srgbClr val="1E1E1E"/>
                </a:solidFill>
                <a:latin typeface="Arial"/>
              </a:rPr>
              <a:t>93.1%</a:t>
            </a:r>
          </a:p>
        </p:txBody>
      </p:sp>
      <p:sp>
        <p:nvSpPr>
          <p:cNvPr id="116" name="Rectangle 115"/>
          <p:cNvSpPr/>
          <p:nvPr/>
        </p:nvSpPr>
        <p:spPr>
          <a:xfrm>
            <a:off x="685800" y="5376672"/>
            <a:ext cx="4297680" cy="914"/>
          </a:xfrm>
          <a:prstGeom prst="rect">
            <a:avLst/>
          </a:prstGeom>
          <a:solidFill>
            <a:srgbClr val="C4C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85800" y="4983480"/>
            <a:ext cx="1828800" cy="365760"/>
          </a:xfrm>
          <a:prstGeom prst="rect">
            <a:avLst/>
          </a:prstGeom>
          <a:noFill/>
        </p:spPr>
        <p:txBody>
          <a:bodyPr wrap="square" lIns="0" rIns="0" tIns="0" bIns="0" anchor="ctr">
            <a:spAutoFit/>
          </a:bodyPr>
          <a:lstStyle/>
          <a:p>
            <a:pPr algn="l"/>
            <a:r>
              <a:rPr sz="1250" b="1">
                <a:solidFill>
                  <a:srgbClr val="1E1E1E"/>
                </a:solidFill>
                <a:latin typeface="Arial"/>
              </a:rPr>
              <a:t>False episodes / day</a:t>
            </a:r>
          </a:p>
        </p:txBody>
      </p:sp>
      <p:sp>
        <p:nvSpPr>
          <p:cNvPr id="118" name="TextBox 117"/>
          <p:cNvSpPr txBox="1"/>
          <p:nvPr/>
        </p:nvSpPr>
        <p:spPr>
          <a:xfrm>
            <a:off x="2514600" y="4983480"/>
            <a:ext cx="868680" cy="365760"/>
          </a:xfrm>
          <a:prstGeom prst="rect">
            <a:avLst/>
          </a:prstGeom>
          <a:noFill/>
        </p:spPr>
        <p:txBody>
          <a:bodyPr wrap="square" lIns="0" rIns="0" tIns="0" bIns="0" anchor="ctr">
            <a:spAutoFit/>
          </a:bodyPr>
          <a:lstStyle/>
          <a:p>
            <a:pPr algn="ctr"/>
            <a:r>
              <a:rPr sz="1300" b="0">
                <a:solidFill>
                  <a:srgbClr val="1E1E1E"/>
                </a:solidFill>
                <a:latin typeface="Arial"/>
              </a:rPr>
              <a:t>0.071</a:t>
            </a:r>
          </a:p>
        </p:txBody>
      </p:sp>
      <p:sp>
        <p:nvSpPr>
          <p:cNvPr id="119" name="TextBox 118"/>
          <p:cNvSpPr txBox="1"/>
          <p:nvPr/>
        </p:nvSpPr>
        <p:spPr>
          <a:xfrm>
            <a:off x="3429000" y="4983480"/>
            <a:ext cx="1554480" cy="365760"/>
          </a:xfrm>
          <a:prstGeom prst="rect">
            <a:avLst/>
          </a:prstGeom>
          <a:noFill/>
        </p:spPr>
        <p:txBody>
          <a:bodyPr wrap="square" lIns="0" rIns="0" tIns="0" bIns="0" anchor="ctr">
            <a:spAutoFit/>
          </a:bodyPr>
          <a:lstStyle/>
          <a:p>
            <a:pPr algn="ctr"/>
            <a:r>
              <a:rPr sz="1300" b="1">
                <a:solidFill>
                  <a:srgbClr val="1E1E1E"/>
                </a:solidFill>
                <a:latin typeface="Arial"/>
              </a:rPr>
              <a:t>0.127</a:t>
            </a:r>
          </a:p>
        </p:txBody>
      </p:sp>
      <p:sp>
        <p:nvSpPr>
          <p:cNvPr id="120" name="TextBox 119"/>
          <p:cNvSpPr txBox="1"/>
          <p:nvPr/>
        </p:nvSpPr>
        <p:spPr>
          <a:xfrm>
            <a:off x="685800" y="5486400"/>
            <a:ext cx="4297680" cy="457200"/>
          </a:xfrm>
          <a:prstGeom prst="rect">
            <a:avLst/>
          </a:prstGeom>
          <a:noFill/>
        </p:spPr>
        <p:txBody>
          <a:bodyPr wrap="square" lIns="0" rIns="0" tIns="0" bIns="0" anchor="t">
            <a:spAutoFit/>
          </a:bodyPr>
          <a:lstStyle/>
          <a:p>
            <a:pPr algn="l"/>
            <a:r>
              <a:rPr sz="1150" b="0">
                <a:solidFill>
                  <a:srgbClr val="555555"/>
                </a:solidFill>
                <a:latin typeface="Arial"/>
              </a:rPr>
              <a:t>More detection costs more false alerts. We report that trade-off.</a:t>
            </a:r>
          </a:p>
        </p:txBody>
      </p:sp>
      <p:sp>
        <p:nvSpPr>
          <p:cNvPr id="121" name="Rectangle 120"/>
          <p:cNvSpPr/>
          <p:nvPr/>
        </p:nvSpPr>
        <p:spPr>
          <a:xfrm>
            <a:off x="5257800" y="3291840"/>
            <a:ext cx="3108960" cy="26974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394960" y="3401568"/>
            <a:ext cx="2834640" cy="2478024"/>
          </a:xfrm>
          <a:prstGeom prst="rect">
            <a:avLst/>
          </a:prstGeom>
          <a:noFill/>
        </p:spPr>
        <p:txBody>
          <a:bodyPr wrap="square" lIns="0" rIns="0" tIns="0" bIns="0" anchor="t">
            <a:spAutoFit/>
          </a:bodyPr>
          <a:lstStyle/>
          <a:p>
            <a:pPr algn="l"/>
            <a:r>
              <a:rPr sz="1100" b="1">
                <a:solidFill>
                  <a:srgbClr val="D46A12"/>
                </a:solidFill>
                <a:latin typeface="Arial"/>
              </a:rPr>
              <a:t>SOFTWARE CHECKS</a:t>
            </a:r>
          </a:p>
          <a:p>
            <a:pPr algn="l">
              <a:spcBef>
                <a:spcPts val="400"/>
              </a:spcBef>
            </a:pPr>
            <a:r>
              <a:rPr sz="2200" b="1">
                <a:solidFill>
                  <a:srgbClr val="D46A12"/>
                </a:solidFill>
                <a:latin typeface="Arial"/>
              </a:rPr>
              <a:t>80</a:t>
            </a:r>
            <a:r>
              <a:rPr sz="1300" b="0">
                <a:solidFill>
                  <a:srgbClr val="1E1E1E"/>
                </a:solidFill>
                <a:latin typeface="Arial"/>
              </a:rPr>
              <a:t>  Python tests passed</a:t>
            </a:r>
          </a:p>
          <a:p>
            <a:pPr algn="l">
              <a:spcBef>
                <a:spcPts val="400"/>
              </a:spcBef>
            </a:pPr>
            <a:r>
              <a:rPr sz="2200" b="1">
                <a:solidFill>
                  <a:srgbClr val="D46A12"/>
                </a:solidFill>
                <a:latin typeface="Arial"/>
              </a:rPr>
              <a:t>18</a:t>
            </a:r>
            <a:r>
              <a:rPr sz="1300" b="0">
                <a:solidFill>
                  <a:srgbClr val="1E1E1E"/>
                </a:solidFill>
                <a:latin typeface="Arial"/>
              </a:rPr>
              <a:t>  frontend tests passed</a:t>
            </a:r>
          </a:p>
          <a:p>
            <a:pPr algn="l">
              <a:spcBef>
                <a:spcPts val="400"/>
              </a:spcBef>
            </a:pPr>
            <a:r>
              <a:rPr sz="1250" b="0">
                <a:solidFill>
                  <a:srgbClr val="1E1E1E"/>
                </a:solidFill>
                <a:latin typeface="Arial"/>
              </a:rPr>
              <a:t>209 model and data files preserved byte for byte</a:t>
            </a:r>
          </a:p>
          <a:p>
            <a:pPr algn="l">
              <a:spcBef>
                <a:spcPts val="400"/>
              </a:spcBef>
            </a:pPr>
            <a:r>
              <a:rPr sz="1150" b="0">
                <a:solidFill>
                  <a:srgbClr val="555555"/>
                </a:solidFill>
                <a:latin typeface="Arial"/>
              </a:rPr>
              <a:t>Software tests, not field accuracy.</a:t>
            </a:r>
          </a:p>
        </p:txBody>
      </p:sp>
      <p:sp>
        <p:nvSpPr>
          <p:cNvPr id="123" name="Rectangle 122"/>
          <p:cNvSpPr/>
          <p:nvPr/>
        </p:nvSpPr>
        <p:spPr>
          <a:xfrm>
            <a:off x="8503920" y="3291840"/>
            <a:ext cx="3200400" cy="26974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641080" y="3401568"/>
            <a:ext cx="2926080" cy="2478024"/>
          </a:xfrm>
          <a:prstGeom prst="rect">
            <a:avLst/>
          </a:prstGeom>
          <a:noFill/>
        </p:spPr>
        <p:txBody>
          <a:bodyPr wrap="square" lIns="0" rIns="0" tIns="0" bIns="0" anchor="t">
            <a:spAutoFit/>
          </a:bodyPr>
          <a:lstStyle/>
          <a:p>
            <a:pPr algn="l"/>
            <a:r>
              <a:rPr sz="1100" b="1">
                <a:solidFill>
                  <a:srgbClr val="D46A12"/>
                </a:solidFill>
                <a:latin typeface="Arial"/>
              </a:rPr>
              <a:t>LIMITS WE STATE</a:t>
            </a:r>
          </a:p>
          <a:p>
            <a:pPr algn="l">
              <a:spcBef>
                <a:spcPts val="400"/>
              </a:spcBef>
            </a:pPr>
            <a:r>
              <a:rPr sz="1250" b="0">
                <a:solidFill>
                  <a:srgbClr val="1E1E1E"/>
                </a:solidFill>
                <a:latin typeface="Arial"/>
              </a:rPr>
              <a:t>Synthetic only. Not yet tested on organiser or field data.</a:t>
            </a:r>
          </a:p>
          <a:p>
            <a:pPr algn="l">
              <a:spcBef>
                <a:spcPts val="400"/>
              </a:spcBef>
            </a:pPr>
            <a:r>
              <a:rPr sz="1250" b="0">
                <a:solidFill>
                  <a:srgbClr val="1E1E1E"/>
                </a:solidFill>
                <a:latin typeface="Arial"/>
              </a:rPr>
              <a:t>Oil head: 55.2% recall, counting abstentions.</a:t>
            </a:r>
          </a:p>
          <a:p>
            <a:pPr algn="l">
              <a:spcBef>
                <a:spcPts val="400"/>
              </a:spcBef>
            </a:pPr>
            <a:r>
              <a:rPr sz="1250" b="0">
                <a:solidFill>
                  <a:srgbClr val="1E1E1E"/>
                </a:solidFill>
                <a:latin typeface="Arial"/>
              </a:rPr>
              <a:t>No validated bushing fault, short-circuit or remaining-life diagnosis.</a:t>
            </a:r>
          </a:p>
        </p:txBody>
      </p:sp>
    </p:spTree>
    <p:extLst>
      <p:ext uri="{BB962C8B-B14F-4D97-AF65-F5344CB8AC3E}">
        <p14:creationId xmlns:p14="http://schemas.microsoft.com/office/powerpoint/2010/main" val="2999473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9DF88-3E1F-6C11-A2D6-4EC32E25DA79}"/>
            </a:ext>
          </a:extLst>
        </p:cNvPr>
        <p:cNvGrpSpPr/>
        <p:nvPr/>
      </p:nvGrpSpPr>
      <p:grpSpPr>
        <a:xfrm>
          <a:off x="0" y="0"/>
          <a:ext cx="0" cy="0"/>
          <a:chOff x="0" y="0"/>
          <a:chExt cx="0" cy="0"/>
        </a:xfrm>
      </p:grpSpPr>
      <p:sp>
        <p:nvSpPr>
          <p:cNvPr id="12" name="Label Mentor">
            <a:extLst>
              <a:ext uri="{FF2B5EF4-FFF2-40B4-BE49-F238E27FC236}">
                <a16:creationId xmlns:a16="http://schemas.microsoft.com/office/drawing/2014/main" id="{1D3F3CCC-B786-77CF-B8C2-A2C8E821B88C}"/>
              </a:ext>
            </a:extLst>
          </p:cNvPr>
          <p:cNvSpPr txBox="1"/>
          <p:nvPr/>
        </p:nvSpPr>
        <p:spPr>
          <a:xfrm>
            <a:off x="548640" y="5751576"/>
            <a:ext cx="1737360" cy="274320"/>
          </a:xfrm>
          <a:prstGeom prst="rect">
            <a:avLst/>
          </a:prstGeom>
          <a:noFill/>
          <a:ln/>
        </p:spPr>
        <p:txBody>
          <a:bodyPr wrap="square" lIns="0" tIns="0" rIns="0" bIns="0" rtlCol="0" anchor="t"/>
          <a:lstStyle/>
          <a:p>
            <a:pPr marL="0" indent="0">
              <a:buNone/>
            </a:pPr>
            <a:endParaRPr lang="en-US" sz="1300" dirty="0"/>
          </a:p>
        </p:txBody>
      </p:sp>
      <p:sp>
        <p:nvSpPr>
          <p:cNvPr id="14" name="Shape 12">
            <a:extLst>
              <a:ext uri="{FF2B5EF4-FFF2-40B4-BE49-F238E27FC236}">
                <a16:creationId xmlns:a16="http://schemas.microsoft.com/office/drawing/2014/main" id="{8EF605F4-6E4C-8444-37ED-D0CD37DBB606}"/>
              </a:ext>
            </a:extLst>
          </p:cNvPr>
          <p:cNvSpPr/>
          <p:nvPr/>
        </p:nvSpPr>
        <p:spPr>
          <a:xfrm flipV="1">
            <a:off x="9921240" y="1097280"/>
            <a:ext cx="685800" cy="4709160"/>
          </a:xfrm>
          <a:prstGeom prst="line">
            <a:avLst/>
          </a:prstGeom>
          <a:noFill/>
          <a:ln w="44450">
            <a:solidFill>
              <a:srgbClr val="BDBDBD"/>
            </a:solidFill>
            <a:prstDash val="solid"/>
          </a:ln>
        </p:spPr>
      </p:sp>
      <p:sp>
        <p:nvSpPr>
          <p:cNvPr id="15" name="Shape 13">
            <a:extLst>
              <a:ext uri="{FF2B5EF4-FFF2-40B4-BE49-F238E27FC236}">
                <a16:creationId xmlns:a16="http://schemas.microsoft.com/office/drawing/2014/main" id="{AD9E8EAE-0808-1C0D-5364-679D1016781D}"/>
              </a:ext>
            </a:extLst>
          </p:cNvPr>
          <p:cNvSpPr/>
          <p:nvPr/>
        </p:nvSpPr>
        <p:spPr>
          <a:xfrm>
            <a:off x="10789920" y="1097280"/>
            <a:ext cx="685800" cy="4709160"/>
          </a:xfrm>
          <a:prstGeom prst="line">
            <a:avLst/>
          </a:prstGeom>
          <a:noFill/>
          <a:ln w="44450">
            <a:solidFill>
              <a:srgbClr val="BDBDBD"/>
            </a:solidFill>
            <a:prstDash val="solid"/>
          </a:ln>
        </p:spPr>
      </p:sp>
      <p:sp>
        <p:nvSpPr>
          <p:cNvPr id="16" name="Shape 14">
            <a:extLst>
              <a:ext uri="{FF2B5EF4-FFF2-40B4-BE49-F238E27FC236}">
                <a16:creationId xmlns:a16="http://schemas.microsoft.com/office/drawing/2014/main" id="{E9822030-7F5E-A107-3C16-A27640A771E0}"/>
              </a:ext>
            </a:extLst>
          </p:cNvPr>
          <p:cNvSpPr/>
          <p:nvPr/>
        </p:nvSpPr>
        <p:spPr>
          <a:xfrm>
            <a:off x="10607040" y="1097280"/>
            <a:ext cx="182880" cy="0"/>
          </a:xfrm>
          <a:prstGeom prst="line">
            <a:avLst/>
          </a:prstGeom>
          <a:noFill/>
          <a:ln w="31750">
            <a:solidFill>
              <a:srgbClr val="BDBDBD"/>
            </a:solidFill>
            <a:prstDash val="solid"/>
          </a:ln>
        </p:spPr>
      </p:sp>
      <p:sp>
        <p:nvSpPr>
          <p:cNvPr id="17" name="Shape 15">
            <a:extLst>
              <a:ext uri="{FF2B5EF4-FFF2-40B4-BE49-F238E27FC236}">
                <a16:creationId xmlns:a16="http://schemas.microsoft.com/office/drawing/2014/main" id="{BB2112ED-686D-3A3A-5F65-7CC0F66B36D0}"/>
              </a:ext>
            </a:extLst>
          </p:cNvPr>
          <p:cNvSpPr/>
          <p:nvPr/>
        </p:nvSpPr>
        <p:spPr>
          <a:xfrm>
            <a:off x="10401300" y="2510028"/>
            <a:ext cx="594360" cy="0"/>
          </a:xfrm>
          <a:prstGeom prst="line">
            <a:avLst/>
          </a:prstGeom>
          <a:noFill/>
          <a:ln w="31750">
            <a:solidFill>
              <a:srgbClr val="BDBDBD"/>
            </a:solidFill>
            <a:prstDash val="solid"/>
          </a:ln>
        </p:spPr>
      </p:sp>
      <p:sp>
        <p:nvSpPr>
          <p:cNvPr id="18" name="Shape 16">
            <a:extLst>
              <a:ext uri="{FF2B5EF4-FFF2-40B4-BE49-F238E27FC236}">
                <a16:creationId xmlns:a16="http://schemas.microsoft.com/office/drawing/2014/main" id="{944A62D0-E77B-AB90-80EF-135721804037}"/>
              </a:ext>
            </a:extLst>
          </p:cNvPr>
          <p:cNvSpPr/>
          <p:nvPr/>
        </p:nvSpPr>
        <p:spPr>
          <a:xfrm>
            <a:off x="10229850" y="3687318"/>
            <a:ext cx="937260" cy="0"/>
          </a:xfrm>
          <a:prstGeom prst="line">
            <a:avLst/>
          </a:prstGeom>
          <a:noFill/>
          <a:ln w="31750">
            <a:solidFill>
              <a:srgbClr val="BDBDBD"/>
            </a:solidFill>
            <a:prstDash val="solid"/>
          </a:ln>
        </p:spPr>
      </p:sp>
      <p:sp>
        <p:nvSpPr>
          <p:cNvPr id="19" name="Shape 17">
            <a:extLst>
              <a:ext uri="{FF2B5EF4-FFF2-40B4-BE49-F238E27FC236}">
                <a16:creationId xmlns:a16="http://schemas.microsoft.com/office/drawing/2014/main" id="{BFDD1C14-794C-261C-628F-413CADAA9021}"/>
              </a:ext>
            </a:extLst>
          </p:cNvPr>
          <p:cNvSpPr/>
          <p:nvPr/>
        </p:nvSpPr>
        <p:spPr>
          <a:xfrm>
            <a:off x="10058400" y="4864608"/>
            <a:ext cx="1280160" cy="0"/>
          </a:xfrm>
          <a:prstGeom prst="line">
            <a:avLst/>
          </a:prstGeom>
          <a:noFill/>
          <a:ln w="31750">
            <a:solidFill>
              <a:srgbClr val="BDBDBD"/>
            </a:solidFill>
            <a:prstDash val="solid"/>
          </a:ln>
        </p:spPr>
      </p:sp>
      <p:sp>
        <p:nvSpPr>
          <p:cNvPr id="20" name="Shape 18">
            <a:extLst>
              <a:ext uri="{FF2B5EF4-FFF2-40B4-BE49-F238E27FC236}">
                <a16:creationId xmlns:a16="http://schemas.microsoft.com/office/drawing/2014/main" id="{FDC887C6-3B7B-EC03-C30C-000643921C48}"/>
              </a:ext>
            </a:extLst>
          </p:cNvPr>
          <p:cNvSpPr/>
          <p:nvPr/>
        </p:nvSpPr>
        <p:spPr>
          <a:xfrm>
            <a:off x="9921240" y="5806440"/>
            <a:ext cx="1554480" cy="0"/>
          </a:xfrm>
          <a:prstGeom prst="line">
            <a:avLst/>
          </a:prstGeom>
          <a:noFill/>
          <a:ln w="31750">
            <a:solidFill>
              <a:srgbClr val="BDBDBD"/>
            </a:solidFill>
            <a:prstDash val="solid"/>
          </a:ln>
        </p:spPr>
      </p:sp>
      <p:sp>
        <p:nvSpPr>
          <p:cNvPr id="21" name="Shape 19">
            <a:extLst>
              <a:ext uri="{FF2B5EF4-FFF2-40B4-BE49-F238E27FC236}">
                <a16:creationId xmlns:a16="http://schemas.microsoft.com/office/drawing/2014/main" id="{17AE4E45-794D-19D2-6D81-2FBAFDA730BF}"/>
              </a:ext>
            </a:extLst>
          </p:cNvPr>
          <p:cNvSpPr/>
          <p:nvPr/>
        </p:nvSpPr>
        <p:spPr>
          <a:xfrm>
            <a:off x="10607040" y="1097280"/>
            <a:ext cx="388620" cy="1412748"/>
          </a:xfrm>
          <a:prstGeom prst="line">
            <a:avLst/>
          </a:prstGeom>
          <a:noFill/>
          <a:ln w="19050">
            <a:solidFill>
              <a:srgbClr val="BDBDBD"/>
            </a:solidFill>
            <a:prstDash val="solid"/>
          </a:ln>
        </p:spPr>
      </p:sp>
      <p:sp>
        <p:nvSpPr>
          <p:cNvPr id="22" name="Shape 20">
            <a:extLst>
              <a:ext uri="{FF2B5EF4-FFF2-40B4-BE49-F238E27FC236}">
                <a16:creationId xmlns:a16="http://schemas.microsoft.com/office/drawing/2014/main" id="{3F9DE081-7FF3-B2D7-994F-9C72382D42B2}"/>
              </a:ext>
            </a:extLst>
          </p:cNvPr>
          <p:cNvSpPr/>
          <p:nvPr/>
        </p:nvSpPr>
        <p:spPr>
          <a:xfrm flipV="1">
            <a:off x="10401300" y="1097280"/>
            <a:ext cx="388620" cy="1412748"/>
          </a:xfrm>
          <a:prstGeom prst="line">
            <a:avLst/>
          </a:prstGeom>
          <a:noFill/>
          <a:ln w="19050">
            <a:solidFill>
              <a:srgbClr val="BDBDBD"/>
            </a:solidFill>
            <a:prstDash val="solid"/>
          </a:ln>
        </p:spPr>
      </p:sp>
      <p:sp>
        <p:nvSpPr>
          <p:cNvPr id="23" name="Shape 21">
            <a:extLst>
              <a:ext uri="{FF2B5EF4-FFF2-40B4-BE49-F238E27FC236}">
                <a16:creationId xmlns:a16="http://schemas.microsoft.com/office/drawing/2014/main" id="{218A87DB-4862-78CA-17F9-6BC953C181BF}"/>
              </a:ext>
            </a:extLst>
          </p:cNvPr>
          <p:cNvSpPr/>
          <p:nvPr/>
        </p:nvSpPr>
        <p:spPr>
          <a:xfrm>
            <a:off x="10401300" y="2510028"/>
            <a:ext cx="765810" cy="1177290"/>
          </a:xfrm>
          <a:prstGeom prst="line">
            <a:avLst/>
          </a:prstGeom>
          <a:noFill/>
          <a:ln w="19050">
            <a:solidFill>
              <a:srgbClr val="BDBDBD"/>
            </a:solidFill>
            <a:prstDash val="solid"/>
          </a:ln>
        </p:spPr>
      </p:sp>
      <p:sp>
        <p:nvSpPr>
          <p:cNvPr id="24" name="Shape 22">
            <a:extLst>
              <a:ext uri="{FF2B5EF4-FFF2-40B4-BE49-F238E27FC236}">
                <a16:creationId xmlns:a16="http://schemas.microsoft.com/office/drawing/2014/main" id="{17A253E1-FB99-3B2A-439F-6A54215B15DD}"/>
              </a:ext>
            </a:extLst>
          </p:cNvPr>
          <p:cNvSpPr/>
          <p:nvPr/>
        </p:nvSpPr>
        <p:spPr>
          <a:xfrm flipV="1">
            <a:off x="10229850" y="2510028"/>
            <a:ext cx="765810" cy="1177290"/>
          </a:xfrm>
          <a:prstGeom prst="line">
            <a:avLst/>
          </a:prstGeom>
          <a:noFill/>
          <a:ln w="19050">
            <a:solidFill>
              <a:srgbClr val="BDBDBD"/>
            </a:solidFill>
            <a:prstDash val="solid"/>
          </a:ln>
        </p:spPr>
      </p:sp>
      <p:sp>
        <p:nvSpPr>
          <p:cNvPr id="25" name="Shape 23">
            <a:extLst>
              <a:ext uri="{FF2B5EF4-FFF2-40B4-BE49-F238E27FC236}">
                <a16:creationId xmlns:a16="http://schemas.microsoft.com/office/drawing/2014/main" id="{60ED8B70-5812-E1F8-06E5-01DE15B87DD1}"/>
              </a:ext>
            </a:extLst>
          </p:cNvPr>
          <p:cNvSpPr/>
          <p:nvPr/>
        </p:nvSpPr>
        <p:spPr>
          <a:xfrm>
            <a:off x="10229850" y="3687318"/>
            <a:ext cx="1108710" cy="1177290"/>
          </a:xfrm>
          <a:prstGeom prst="line">
            <a:avLst/>
          </a:prstGeom>
          <a:noFill/>
          <a:ln w="19050">
            <a:solidFill>
              <a:srgbClr val="BDBDBD"/>
            </a:solidFill>
            <a:prstDash val="solid"/>
          </a:ln>
        </p:spPr>
      </p:sp>
      <p:sp>
        <p:nvSpPr>
          <p:cNvPr id="26" name="Shape 24">
            <a:extLst>
              <a:ext uri="{FF2B5EF4-FFF2-40B4-BE49-F238E27FC236}">
                <a16:creationId xmlns:a16="http://schemas.microsoft.com/office/drawing/2014/main" id="{DD0D5228-97C2-5030-7CFA-38CDCB6419BF}"/>
              </a:ext>
            </a:extLst>
          </p:cNvPr>
          <p:cNvSpPr/>
          <p:nvPr/>
        </p:nvSpPr>
        <p:spPr>
          <a:xfrm flipV="1">
            <a:off x="10058400" y="3687318"/>
            <a:ext cx="1108710" cy="1177290"/>
          </a:xfrm>
          <a:prstGeom prst="line">
            <a:avLst/>
          </a:prstGeom>
          <a:noFill/>
          <a:ln w="19050">
            <a:solidFill>
              <a:srgbClr val="BDBDBD"/>
            </a:solidFill>
            <a:prstDash val="solid"/>
          </a:ln>
        </p:spPr>
      </p:sp>
      <p:sp>
        <p:nvSpPr>
          <p:cNvPr id="27" name="Shape 25">
            <a:extLst>
              <a:ext uri="{FF2B5EF4-FFF2-40B4-BE49-F238E27FC236}">
                <a16:creationId xmlns:a16="http://schemas.microsoft.com/office/drawing/2014/main" id="{D0ED2C27-AA91-B39E-1BC8-98E5A0D0F3AE}"/>
              </a:ext>
            </a:extLst>
          </p:cNvPr>
          <p:cNvSpPr/>
          <p:nvPr/>
        </p:nvSpPr>
        <p:spPr>
          <a:xfrm>
            <a:off x="10058400" y="4864608"/>
            <a:ext cx="1417320" cy="941832"/>
          </a:xfrm>
          <a:prstGeom prst="line">
            <a:avLst/>
          </a:prstGeom>
          <a:noFill/>
          <a:ln w="19050">
            <a:solidFill>
              <a:srgbClr val="BDBDBD"/>
            </a:solidFill>
            <a:prstDash val="solid"/>
          </a:ln>
        </p:spPr>
      </p:sp>
      <p:sp>
        <p:nvSpPr>
          <p:cNvPr id="28" name="Shape 26">
            <a:extLst>
              <a:ext uri="{FF2B5EF4-FFF2-40B4-BE49-F238E27FC236}">
                <a16:creationId xmlns:a16="http://schemas.microsoft.com/office/drawing/2014/main" id="{1CDA60EF-6F47-23BB-BF12-5335C29BD985}"/>
              </a:ext>
            </a:extLst>
          </p:cNvPr>
          <p:cNvSpPr/>
          <p:nvPr/>
        </p:nvSpPr>
        <p:spPr>
          <a:xfrm flipV="1">
            <a:off x="9921240" y="4864608"/>
            <a:ext cx="1417320" cy="941832"/>
          </a:xfrm>
          <a:prstGeom prst="line">
            <a:avLst/>
          </a:prstGeom>
          <a:noFill/>
          <a:ln w="19050">
            <a:solidFill>
              <a:srgbClr val="BDBDBD"/>
            </a:solidFill>
            <a:prstDash val="solid"/>
          </a:ln>
        </p:spPr>
      </p:sp>
      <p:sp>
        <p:nvSpPr>
          <p:cNvPr id="29" name="Shape 27">
            <a:extLst>
              <a:ext uri="{FF2B5EF4-FFF2-40B4-BE49-F238E27FC236}">
                <a16:creationId xmlns:a16="http://schemas.microsoft.com/office/drawing/2014/main" id="{D44A7F4A-8AFE-9A97-9517-485E1C0DBE76}"/>
              </a:ext>
            </a:extLst>
          </p:cNvPr>
          <p:cNvSpPr/>
          <p:nvPr/>
        </p:nvSpPr>
        <p:spPr>
          <a:xfrm>
            <a:off x="9646920" y="1568196"/>
            <a:ext cx="2103120" cy="0"/>
          </a:xfrm>
          <a:prstGeom prst="line">
            <a:avLst/>
          </a:prstGeom>
          <a:noFill/>
          <a:ln w="50800">
            <a:solidFill>
              <a:srgbClr val="BDBDBD"/>
            </a:solidFill>
            <a:prstDash val="solid"/>
          </a:ln>
        </p:spPr>
      </p:sp>
      <p:sp>
        <p:nvSpPr>
          <p:cNvPr id="30" name="Shape 28">
            <a:extLst>
              <a:ext uri="{FF2B5EF4-FFF2-40B4-BE49-F238E27FC236}">
                <a16:creationId xmlns:a16="http://schemas.microsoft.com/office/drawing/2014/main" id="{B3106967-F912-0889-9E00-F578CB0CF734}"/>
              </a:ext>
            </a:extLst>
          </p:cNvPr>
          <p:cNvSpPr/>
          <p:nvPr/>
        </p:nvSpPr>
        <p:spPr>
          <a:xfrm>
            <a:off x="9418320" y="2886761"/>
            <a:ext cx="2560320" cy="0"/>
          </a:xfrm>
          <a:prstGeom prst="line">
            <a:avLst/>
          </a:prstGeom>
          <a:noFill/>
          <a:ln w="50800">
            <a:solidFill>
              <a:srgbClr val="BDBDBD"/>
            </a:solidFill>
            <a:prstDash val="solid"/>
          </a:ln>
        </p:spPr>
      </p:sp>
      <p:sp>
        <p:nvSpPr>
          <p:cNvPr id="31" name="Shape 29">
            <a:extLst>
              <a:ext uri="{FF2B5EF4-FFF2-40B4-BE49-F238E27FC236}">
                <a16:creationId xmlns:a16="http://schemas.microsoft.com/office/drawing/2014/main" id="{D2711D8D-3053-C395-5DBD-A6CE0E0CEE92}"/>
              </a:ext>
            </a:extLst>
          </p:cNvPr>
          <p:cNvSpPr/>
          <p:nvPr/>
        </p:nvSpPr>
        <p:spPr>
          <a:xfrm flipV="1">
            <a:off x="7360920" y="2834640"/>
            <a:ext cx="402336" cy="2971800"/>
          </a:xfrm>
          <a:prstGeom prst="line">
            <a:avLst/>
          </a:prstGeom>
          <a:noFill/>
          <a:ln w="44450">
            <a:solidFill>
              <a:srgbClr val="BDBDBD"/>
            </a:solidFill>
            <a:prstDash val="solid"/>
          </a:ln>
        </p:spPr>
      </p:sp>
      <p:sp>
        <p:nvSpPr>
          <p:cNvPr id="32" name="Shape 30">
            <a:extLst>
              <a:ext uri="{FF2B5EF4-FFF2-40B4-BE49-F238E27FC236}">
                <a16:creationId xmlns:a16="http://schemas.microsoft.com/office/drawing/2014/main" id="{3677D2B5-50B6-78CC-D90F-46E59956E3B0}"/>
              </a:ext>
            </a:extLst>
          </p:cNvPr>
          <p:cNvSpPr/>
          <p:nvPr/>
        </p:nvSpPr>
        <p:spPr>
          <a:xfrm>
            <a:off x="7872984" y="2834640"/>
            <a:ext cx="402336" cy="2971800"/>
          </a:xfrm>
          <a:prstGeom prst="line">
            <a:avLst/>
          </a:prstGeom>
          <a:noFill/>
          <a:ln w="44450">
            <a:solidFill>
              <a:srgbClr val="BDBDBD"/>
            </a:solidFill>
            <a:prstDash val="solid"/>
          </a:ln>
        </p:spPr>
      </p:sp>
      <p:sp>
        <p:nvSpPr>
          <p:cNvPr id="33" name="Shape 31">
            <a:extLst>
              <a:ext uri="{FF2B5EF4-FFF2-40B4-BE49-F238E27FC236}">
                <a16:creationId xmlns:a16="http://schemas.microsoft.com/office/drawing/2014/main" id="{037EC43F-73D6-97EB-FAD4-D91212F2D1BD}"/>
              </a:ext>
            </a:extLst>
          </p:cNvPr>
          <p:cNvSpPr/>
          <p:nvPr/>
        </p:nvSpPr>
        <p:spPr>
          <a:xfrm>
            <a:off x="7763256" y="2834640"/>
            <a:ext cx="109728" cy="0"/>
          </a:xfrm>
          <a:prstGeom prst="line">
            <a:avLst/>
          </a:prstGeom>
          <a:noFill/>
          <a:ln w="31750">
            <a:solidFill>
              <a:srgbClr val="BDBDBD"/>
            </a:solidFill>
            <a:prstDash val="solid"/>
          </a:ln>
        </p:spPr>
      </p:sp>
      <p:sp>
        <p:nvSpPr>
          <p:cNvPr id="34" name="Shape 32">
            <a:extLst>
              <a:ext uri="{FF2B5EF4-FFF2-40B4-BE49-F238E27FC236}">
                <a16:creationId xmlns:a16="http://schemas.microsoft.com/office/drawing/2014/main" id="{AF6DFC96-4037-921A-F623-74CC10C119EA}"/>
              </a:ext>
            </a:extLst>
          </p:cNvPr>
          <p:cNvSpPr/>
          <p:nvPr/>
        </p:nvSpPr>
        <p:spPr>
          <a:xfrm>
            <a:off x="7642555" y="3726180"/>
            <a:ext cx="351130" cy="0"/>
          </a:xfrm>
          <a:prstGeom prst="line">
            <a:avLst/>
          </a:prstGeom>
          <a:noFill/>
          <a:ln w="31750">
            <a:solidFill>
              <a:srgbClr val="BDBDBD"/>
            </a:solidFill>
            <a:prstDash val="solid"/>
          </a:ln>
        </p:spPr>
      </p:sp>
      <p:sp>
        <p:nvSpPr>
          <p:cNvPr id="35" name="Shape 33">
            <a:extLst>
              <a:ext uri="{FF2B5EF4-FFF2-40B4-BE49-F238E27FC236}">
                <a16:creationId xmlns:a16="http://schemas.microsoft.com/office/drawing/2014/main" id="{FF2C3CC2-C88E-07EF-48F2-A753056D12A3}"/>
              </a:ext>
            </a:extLst>
          </p:cNvPr>
          <p:cNvSpPr/>
          <p:nvPr/>
        </p:nvSpPr>
        <p:spPr>
          <a:xfrm>
            <a:off x="7541971" y="4469130"/>
            <a:ext cx="552298" cy="0"/>
          </a:xfrm>
          <a:prstGeom prst="line">
            <a:avLst/>
          </a:prstGeom>
          <a:noFill/>
          <a:ln w="31750">
            <a:solidFill>
              <a:srgbClr val="BDBDBD"/>
            </a:solidFill>
            <a:prstDash val="solid"/>
          </a:ln>
        </p:spPr>
      </p:sp>
      <p:sp>
        <p:nvSpPr>
          <p:cNvPr id="36" name="Shape 34">
            <a:extLst>
              <a:ext uri="{FF2B5EF4-FFF2-40B4-BE49-F238E27FC236}">
                <a16:creationId xmlns:a16="http://schemas.microsoft.com/office/drawing/2014/main" id="{589803F2-C684-9B46-4836-02C46355B913}"/>
              </a:ext>
            </a:extLst>
          </p:cNvPr>
          <p:cNvSpPr/>
          <p:nvPr/>
        </p:nvSpPr>
        <p:spPr>
          <a:xfrm>
            <a:off x="7441387" y="5212080"/>
            <a:ext cx="753466" cy="0"/>
          </a:xfrm>
          <a:prstGeom prst="line">
            <a:avLst/>
          </a:prstGeom>
          <a:noFill/>
          <a:ln w="31750">
            <a:solidFill>
              <a:srgbClr val="BDBDBD"/>
            </a:solidFill>
            <a:prstDash val="solid"/>
          </a:ln>
        </p:spPr>
      </p:sp>
      <p:sp>
        <p:nvSpPr>
          <p:cNvPr id="37" name="Shape 35">
            <a:extLst>
              <a:ext uri="{FF2B5EF4-FFF2-40B4-BE49-F238E27FC236}">
                <a16:creationId xmlns:a16="http://schemas.microsoft.com/office/drawing/2014/main" id="{FC3A14B9-B82C-4F60-22D2-58133F53C3C0}"/>
              </a:ext>
            </a:extLst>
          </p:cNvPr>
          <p:cNvSpPr/>
          <p:nvPr/>
        </p:nvSpPr>
        <p:spPr>
          <a:xfrm>
            <a:off x="7360920" y="5806440"/>
            <a:ext cx="914400" cy="0"/>
          </a:xfrm>
          <a:prstGeom prst="line">
            <a:avLst/>
          </a:prstGeom>
          <a:noFill/>
          <a:ln w="31750">
            <a:solidFill>
              <a:srgbClr val="BDBDBD"/>
            </a:solidFill>
            <a:prstDash val="solid"/>
          </a:ln>
        </p:spPr>
      </p:sp>
      <p:sp>
        <p:nvSpPr>
          <p:cNvPr id="38" name="Shape 36">
            <a:extLst>
              <a:ext uri="{FF2B5EF4-FFF2-40B4-BE49-F238E27FC236}">
                <a16:creationId xmlns:a16="http://schemas.microsoft.com/office/drawing/2014/main" id="{C86A7D34-456D-F846-B1F9-B1021C356FD7}"/>
              </a:ext>
            </a:extLst>
          </p:cNvPr>
          <p:cNvSpPr/>
          <p:nvPr/>
        </p:nvSpPr>
        <p:spPr>
          <a:xfrm>
            <a:off x="7763256" y="2834640"/>
            <a:ext cx="230429" cy="891540"/>
          </a:xfrm>
          <a:prstGeom prst="line">
            <a:avLst/>
          </a:prstGeom>
          <a:noFill/>
          <a:ln w="19050">
            <a:solidFill>
              <a:srgbClr val="BDBDBD"/>
            </a:solidFill>
            <a:prstDash val="solid"/>
          </a:ln>
        </p:spPr>
      </p:sp>
      <p:sp>
        <p:nvSpPr>
          <p:cNvPr id="39" name="Shape 37">
            <a:extLst>
              <a:ext uri="{FF2B5EF4-FFF2-40B4-BE49-F238E27FC236}">
                <a16:creationId xmlns:a16="http://schemas.microsoft.com/office/drawing/2014/main" id="{7DE39B96-B494-186C-6F98-6C8A30BA4F3D}"/>
              </a:ext>
            </a:extLst>
          </p:cNvPr>
          <p:cNvSpPr/>
          <p:nvPr/>
        </p:nvSpPr>
        <p:spPr>
          <a:xfrm flipV="1">
            <a:off x="7642555" y="2834640"/>
            <a:ext cx="230429" cy="891540"/>
          </a:xfrm>
          <a:prstGeom prst="line">
            <a:avLst/>
          </a:prstGeom>
          <a:noFill/>
          <a:ln w="19050">
            <a:solidFill>
              <a:srgbClr val="BDBDBD"/>
            </a:solidFill>
            <a:prstDash val="solid"/>
          </a:ln>
        </p:spPr>
      </p:sp>
      <p:sp>
        <p:nvSpPr>
          <p:cNvPr id="40" name="Shape 38">
            <a:extLst>
              <a:ext uri="{FF2B5EF4-FFF2-40B4-BE49-F238E27FC236}">
                <a16:creationId xmlns:a16="http://schemas.microsoft.com/office/drawing/2014/main" id="{A0069719-1847-EB91-9762-11DAA412A7F0}"/>
              </a:ext>
            </a:extLst>
          </p:cNvPr>
          <p:cNvSpPr/>
          <p:nvPr/>
        </p:nvSpPr>
        <p:spPr>
          <a:xfrm>
            <a:off x="7642555" y="3726180"/>
            <a:ext cx="451714" cy="742950"/>
          </a:xfrm>
          <a:prstGeom prst="line">
            <a:avLst/>
          </a:prstGeom>
          <a:noFill/>
          <a:ln w="19050">
            <a:solidFill>
              <a:srgbClr val="BDBDBD"/>
            </a:solidFill>
            <a:prstDash val="solid"/>
          </a:ln>
        </p:spPr>
      </p:sp>
      <p:sp>
        <p:nvSpPr>
          <p:cNvPr id="41" name="Shape 39">
            <a:extLst>
              <a:ext uri="{FF2B5EF4-FFF2-40B4-BE49-F238E27FC236}">
                <a16:creationId xmlns:a16="http://schemas.microsoft.com/office/drawing/2014/main" id="{51AC6C3C-CF60-99AF-6F4B-50D69BC143FC}"/>
              </a:ext>
            </a:extLst>
          </p:cNvPr>
          <p:cNvSpPr/>
          <p:nvPr/>
        </p:nvSpPr>
        <p:spPr>
          <a:xfrm flipV="1">
            <a:off x="7541971" y="3726180"/>
            <a:ext cx="451714" cy="742950"/>
          </a:xfrm>
          <a:prstGeom prst="line">
            <a:avLst/>
          </a:prstGeom>
          <a:noFill/>
          <a:ln w="19050">
            <a:solidFill>
              <a:srgbClr val="BDBDBD"/>
            </a:solidFill>
            <a:prstDash val="solid"/>
          </a:ln>
        </p:spPr>
      </p:sp>
      <p:sp>
        <p:nvSpPr>
          <p:cNvPr id="42" name="Shape 40">
            <a:extLst>
              <a:ext uri="{FF2B5EF4-FFF2-40B4-BE49-F238E27FC236}">
                <a16:creationId xmlns:a16="http://schemas.microsoft.com/office/drawing/2014/main" id="{6A9A0426-4F0F-277F-A979-DB7C2CCCF56F}"/>
              </a:ext>
            </a:extLst>
          </p:cNvPr>
          <p:cNvSpPr/>
          <p:nvPr/>
        </p:nvSpPr>
        <p:spPr>
          <a:xfrm>
            <a:off x="7541971" y="4469130"/>
            <a:ext cx="652882" cy="742950"/>
          </a:xfrm>
          <a:prstGeom prst="line">
            <a:avLst/>
          </a:prstGeom>
          <a:noFill/>
          <a:ln w="19050">
            <a:solidFill>
              <a:srgbClr val="BDBDBD"/>
            </a:solidFill>
            <a:prstDash val="solid"/>
          </a:ln>
        </p:spPr>
      </p:sp>
      <p:sp>
        <p:nvSpPr>
          <p:cNvPr id="43" name="Shape 41">
            <a:extLst>
              <a:ext uri="{FF2B5EF4-FFF2-40B4-BE49-F238E27FC236}">
                <a16:creationId xmlns:a16="http://schemas.microsoft.com/office/drawing/2014/main" id="{40F345DA-F4E9-F2D7-837A-7F4880DEEB75}"/>
              </a:ext>
            </a:extLst>
          </p:cNvPr>
          <p:cNvSpPr/>
          <p:nvPr/>
        </p:nvSpPr>
        <p:spPr>
          <a:xfrm flipV="1">
            <a:off x="7441387" y="4469130"/>
            <a:ext cx="652882" cy="742950"/>
          </a:xfrm>
          <a:prstGeom prst="line">
            <a:avLst/>
          </a:prstGeom>
          <a:noFill/>
          <a:ln w="19050">
            <a:solidFill>
              <a:srgbClr val="BDBDBD"/>
            </a:solidFill>
            <a:prstDash val="solid"/>
          </a:ln>
        </p:spPr>
      </p:sp>
      <p:sp>
        <p:nvSpPr>
          <p:cNvPr id="44" name="Shape 42">
            <a:extLst>
              <a:ext uri="{FF2B5EF4-FFF2-40B4-BE49-F238E27FC236}">
                <a16:creationId xmlns:a16="http://schemas.microsoft.com/office/drawing/2014/main" id="{F449ADC4-0C2D-AC2B-BAC1-41AF34A1406B}"/>
              </a:ext>
            </a:extLst>
          </p:cNvPr>
          <p:cNvSpPr/>
          <p:nvPr/>
        </p:nvSpPr>
        <p:spPr>
          <a:xfrm>
            <a:off x="7441387" y="5212080"/>
            <a:ext cx="833933" cy="594360"/>
          </a:xfrm>
          <a:prstGeom prst="line">
            <a:avLst/>
          </a:prstGeom>
          <a:noFill/>
          <a:ln w="19050">
            <a:solidFill>
              <a:srgbClr val="BDBDBD"/>
            </a:solidFill>
            <a:prstDash val="solid"/>
          </a:ln>
        </p:spPr>
      </p:sp>
      <p:sp>
        <p:nvSpPr>
          <p:cNvPr id="45" name="Shape 43">
            <a:extLst>
              <a:ext uri="{FF2B5EF4-FFF2-40B4-BE49-F238E27FC236}">
                <a16:creationId xmlns:a16="http://schemas.microsoft.com/office/drawing/2014/main" id="{8826451C-29A9-0AAF-9AF9-170226DEF08C}"/>
              </a:ext>
            </a:extLst>
          </p:cNvPr>
          <p:cNvSpPr/>
          <p:nvPr/>
        </p:nvSpPr>
        <p:spPr>
          <a:xfrm flipV="1">
            <a:off x="7360920" y="5212080"/>
            <a:ext cx="833933" cy="594360"/>
          </a:xfrm>
          <a:prstGeom prst="line">
            <a:avLst/>
          </a:prstGeom>
          <a:noFill/>
          <a:ln w="19050">
            <a:solidFill>
              <a:srgbClr val="BDBDBD"/>
            </a:solidFill>
            <a:prstDash val="solid"/>
          </a:ln>
        </p:spPr>
      </p:sp>
      <p:sp>
        <p:nvSpPr>
          <p:cNvPr id="46" name="Shape 44">
            <a:extLst>
              <a:ext uri="{FF2B5EF4-FFF2-40B4-BE49-F238E27FC236}">
                <a16:creationId xmlns:a16="http://schemas.microsoft.com/office/drawing/2014/main" id="{27773D87-196B-A293-E3BA-D66B4CB92FDC}"/>
              </a:ext>
            </a:extLst>
          </p:cNvPr>
          <p:cNvSpPr/>
          <p:nvPr/>
        </p:nvSpPr>
        <p:spPr>
          <a:xfrm>
            <a:off x="7223760" y="3131820"/>
            <a:ext cx="1188720" cy="0"/>
          </a:xfrm>
          <a:prstGeom prst="line">
            <a:avLst/>
          </a:prstGeom>
          <a:noFill/>
          <a:ln w="50800">
            <a:solidFill>
              <a:srgbClr val="BDBDBD"/>
            </a:solidFill>
            <a:prstDash val="solid"/>
          </a:ln>
        </p:spPr>
      </p:sp>
      <p:sp>
        <p:nvSpPr>
          <p:cNvPr id="47" name="Shape 45">
            <a:extLst>
              <a:ext uri="{FF2B5EF4-FFF2-40B4-BE49-F238E27FC236}">
                <a16:creationId xmlns:a16="http://schemas.microsoft.com/office/drawing/2014/main" id="{5145D862-EF8B-A59E-E9A4-5973901E8320}"/>
              </a:ext>
            </a:extLst>
          </p:cNvPr>
          <p:cNvSpPr/>
          <p:nvPr/>
        </p:nvSpPr>
        <p:spPr>
          <a:xfrm>
            <a:off x="7086600" y="3963924"/>
            <a:ext cx="1463040" cy="0"/>
          </a:xfrm>
          <a:prstGeom prst="line">
            <a:avLst/>
          </a:prstGeom>
          <a:noFill/>
          <a:ln w="50800">
            <a:solidFill>
              <a:srgbClr val="BDBDBD"/>
            </a:solidFill>
            <a:prstDash val="solid"/>
          </a:ln>
        </p:spPr>
      </p:sp>
      <p:sp>
        <p:nvSpPr>
          <p:cNvPr id="48" name="Shape 46">
            <a:extLst>
              <a:ext uri="{FF2B5EF4-FFF2-40B4-BE49-F238E27FC236}">
                <a16:creationId xmlns:a16="http://schemas.microsoft.com/office/drawing/2014/main" id="{1BBEB4A0-6A13-0554-4CDA-12D1E8B5FF8A}"/>
              </a:ext>
            </a:extLst>
          </p:cNvPr>
          <p:cNvSpPr/>
          <p:nvPr/>
        </p:nvSpPr>
        <p:spPr>
          <a:xfrm flipV="1">
            <a:off x="8412480" y="3123590"/>
            <a:ext cx="123444" cy="8230"/>
          </a:xfrm>
          <a:prstGeom prst="line">
            <a:avLst/>
          </a:prstGeom>
          <a:noFill/>
          <a:ln w="12700">
            <a:solidFill>
              <a:srgbClr val="C2C2C2"/>
            </a:solidFill>
            <a:prstDash val="solid"/>
          </a:ln>
        </p:spPr>
      </p:sp>
      <p:sp>
        <p:nvSpPr>
          <p:cNvPr id="49" name="Shape 47">
            <a:extLst>
              <a:ext uri="{FF2B5EF4-FFF2-40B4-BE49-F238E27FC236}">
                <a16:creationId xmlns:a16="http://schemas.microsoft.com/office/drawing/2014/main" id="{5EE2D68D-3239-907F-7EDF-9684EE9FAB37}"/>
              </a:ext>
            </a:extLst>
          </p:cNvPr>
          <p:cNvSpPr/>
          <p:nvPr/>
        </p:nvSpPr>
        <p:spPr>
          <a:xfrm flipV="1">
            <a:off x="8535924" y="3082442"/>
            <a:ext cx="123444" cy="41148"/>
          </a:xfrm>
          <a:prstGeom prst="line">
            <a:avLst/>
          </a:prstGeom>
          <a:noFill/>
          <a:ln w="12700">
            <a:solidFill>
              <a:srgbClr val="C2C2C2"/>
            </a:solidFill>
            <a:prstDash val="solid"/>
          </a:ln>
        </p:spPr>
      </p:sp>
      <p:sp>
        <p:nvSpPr>
          <p:cNvPr id="50" name="Shape 48">
            <a:extLst>
              <a:ext uri="{FF2B5EF4-FFF2-40B4-BE49-F238E27FC236}">
                <a16:creationId xmlns:a16="http://schemas.microsoft.com/office/drawing/2014/main" id="{BCC22142-82FA-86A6-3107-FBEABFB5AE23}"/>
              </a:ext>
            </a:extLst>
          </p:cNvPr>
          <p:cNvSpPr/>
          <p:nvPr/>
        </p:nvSpPr>
        <p:spPr>
          <a:xfrm flipV="1">
            <a:off x="8659368" y="3008376"/>
            <a:ext cx="123444" cy="74066"/>
          </a:xfrm>
          <a:prstGeom prst="line">
            <a:avLst/>
          </a:prstGeom>
          <a:noFill/>
          <a:ln w="12700">
            <a:solidFill>
              <a:srgbClr val="C2C2C2"/>
            </a:solidFill>
            <a:prstDash val="solid"/>
          </a:ln>
        </p:spPr>
      </p:sp>
      <p:sp>
        <p:nvSpPr>
          <p:cNvPr id="51" name="Shape 49">
            <a:extLst>
              <a:ext uri="{FF2B5EF4-FFF2-40B4-BE49-F238E27FC236}">
                <a16:creationId xmlns:a16="http://schemas.microsoft.com/office/drawing/2014/main" id="{D94DB4DD-2D2A-9289-FB9B-986C8C608A87}"/>
              </a:ext>
            </a:extLst>
          </p:cNvPr>
          <p:cNvSpPr/>
          <p:nvPr/>
        </p:nvSpPr>
        <p:spPr>
          <a:xfrm flipV="1">
            <a:off x="8782812" y="2901391"/>
            <a:ext cx="123444" cy="106985"/>
          </a:xfrm>
          <a:prstGeom prst="line">
            <a:avLst/>
          </a:prstGeom>
          <a:noFill/>
          <a:ln w="12700">
            <a:solidFill>
              <a:srgbClr val="C2C2C2"/>
            </a:solidFill>
            <a:prstDash val="solid"/>
          </a:ln>
        </p:spPr>
      </p:sp>
      <p:sp>
        <p:nvSpPr>
          <p:cNvPr id="52" name="Shape 50">
            <a:extLst>
              <a:ext uri="{FF2B5EF4-FFF2-40B4-BE49-F238E27FC236}">
                <a16:creationId xmlns:a16="http://schemas.microsoft.com/office/drawing/2014/main" id="{5FECF1A0-E3B5-1D19-ECAE-65D39F63FDA4}"/>
              </a:ext>
            </a:extLst>
          </p:cNvPr>
          <p:cNvSpPr/>
          <p:nvPr/>
        </p:nvSpPr>
        <p:spPr>
          <a:xfrm flipV="1">
            <a:off x="8906256" y="2761488"/>
            <a:ext cx="123444" cy="139903"/>
          </a:xfrm>
          <a:prstGeom prst="line">
            <a:avLst/>
          </a:prstGeom>
          <a:noFill/>
          <a:ln w="12700">
            <a:solidFill>
              <a:srgbClr val="C2C2C2"/>
            </a:solidFill>
            <a:prstDash val="solid"/>
          </a:ln>
        </p:spPr>
      </p:sp>
      <p:sp>
        <p:nvSpPr>
          <p:cNvPr id="53" name="Shape 51">
            <a:extLst>
              <a:ext uri="{FF2B5EF4-FFF2-40B4-BE49-F238E27FC236}">
                <a16:creationId xmlns:a16="http://schemas.microsoft.com/office/drawing/2014/main" id="{B38E4820-5945-071A-9F17-6E2794DB7062}"/>
              </a:ext>
            </a:extLst>
          </p:cNvPr>
          <p:cNvSpPr/>
          <p:nvPr/>
        </p:nvSpPr>
        <p:spPr>
          <a:xfrm flipV="1">
            <a:off x="9029700" y="2588666"/>
            <a:ext cx="123444" cy="172822"/>
          </a:xfrm>
          <a:prstGeom prst="line">
            <a:avLst/>
          </a:prstGeom>
          <a:noFill/>
          <a:ln w="12700">
            <a:solidFill>
              <a:srgbClr val="C2C2C2"/>
            </a:solidFill>
            <a:prstDash val="solid"/>
          </a:ln>
        </p:spPr>
      </p:sp>
      <p:sp>
        <p:nvSpPr>
          <p:cNvPr id="54" name="Shape 52">
            <a:extLst>
              <a:ext uri="{FF2B5EF4-FFF2-40B4-BE49-F238E27FC236}">
                <a16:creationId xmlns:a16="http://schemas.microsoft.com/office/drawing/2014/main" id="{4E466A2A-FDB6-4D12-46DF-C2C516570257}"/>
              </a:ext>
            </a:extLst>
          </p:cNvPr>
          <p:cNvSpPr/>
          <p:nvPr/>
        </p:nvSpPr>
        <p:spPr>
          <a:xfrm flipV="1">
            <a:off x="9153144" y="2382926"/>
            <a:ext cx="123444" cy="205740"/>
          </a:xfrm>
          <a:prstGeom prst="line">
            <a:avLst/>
          </a:prstGeom>
          <a:noFill/>
          <a:ln w="12700">
            <a:solidFill>
              <a:srgbClr val="C2C2C2"/>
            </a:solidFill>
            <a:prstDash val="solid"/>
          </a:ln>
        </p:spPr>
      </p:sp>
      <p:sp>
        <p:nvSpPr>
          <p:cNvPr id="55" name="Shape 53">
            <a:extLst>
              <a:ext uri="{FF2B5EF4-FFF2-40B4-BE49-F238E27FC236}">
                <a16:creationId xmlns:a16="http://schemas.microsoft.com/office/drawing/2014/main" id="{72F11D13-0ACF-1DD2-2EDA-2AC5D11B09EB}"/>
              </a:ext>
            </a:extLst>
          </p:cNvPr>
          <p:cNvSpPr/>
          <p:nvPr/>
        </p:nvSpPr>
        <p:spPr>
          <a:xfrm flipV="1">
            <a:off x="9276588" y="2144268"/>
            <a:ext cx="123444" cy="238658"/>
          </a:xfrm>
          <a:prstGeom prst="line">
            <a:avLst/>
          </a:prstGeom>
          <a:noFill/>
          <a:ln w="12700">
            <a:solidFill>
              <a:srgbClr val="C2C2C2"/>
            </a:solidFill>
            <a:prstDash val="solid"/>
          </a:ln>
        </p:spPr>
      </p:sp>
      <p:sp>
        <p:nvSpPr>
          <p:cNvPr id="56" name="Shape 54">
            <a:extLst>
              <a:ext uri="{FF2B5EF4-FFF2-40B4-BE49-F238E27FC236}">
                <a16:creationId xmlns:a16="http://schemas.microsoft.com/office/drawing/2014/main" id="{90FD61FD-98EC-5D09-37AE-0500C64C45C9}"/>
              </a:ext>
            </a:extLst>
          </p:cNvPr>
          <p:cNvSpPr/>
          <p:nvPr/>
        </p:nvSpPr>
        <p:spPr>
          <a:xfrm flipV="1">
            <a:off x="9400032" y="1872691"/>
            <a:ext cx="123444" cy="271577"/>
          </a:xfrm>
          <a:prstGeom prst="line">
            <a:avLst/>
          </a:prstGeom>
          <a:noFill/>
          <a:ln w="12700">
            <a:solidFill>
              <a:srgbClr val="C2C2C2"/>
            </a:solidFill>
            <a:prstDash val="solid"/>
          </a:ln>
        </p:spPr>
      </p:sp>
      <p:sp>
        <p:nvSpPr>
          <p:cNvPr id="57" name="Shape 55">
            <a:extLst>
              <a:ext uri="{FF2B5EF4-FFF2-40B4-BE49-F238E27FC236}">
                <a16:creationId xmlns:a16="http://schemas.microsoft.com/office/drawing/2014/main" id="{69F6E808-FFFF-2908-0CF8-D1FFC2945A33}"/>
              </a:ext>
            </a:extLst>
          </p:cNvPr>
          <p:cNvSpPr/>
          <p:nvPr/>
        </p:nvSpPr>
        <p:spPr>
          <a:xfrm flipV="1">
            <a:off x="9523476" y="1568196"/>
            <a:ext cx="123444" cy="304495"/>
          </a:xfrm>
          <a:prstGeom prst="line">
            <a:avLst/>
          </a:prstGeom>
          <a:noFill/>
          <a:ln w="12700">
            <a:solidFill>
              <a:srgbClr val="C2C2C2"/>
            </a:solidFill>
            <a:prstDash val="solid"/>
          </a:ln>
        </p:spPr>
      </p:sp>
      <p:sp>
        <p:nvSpPr>
          <p:cNvPr id="68" name="Shape 66">
            <a:extLst>
              <a:ext uri="{FF2B5EF4-FFF2-40B4-BE49-F238E27FC236}">
                <a16:creationId xmlns:a16="http://schemas.microsoft.com/office/drawing/2014/main" id="{2824C4BE-5DF8-278A-81D8-D1183625D54C}"/>
              </a:ext>
            </a:extLst>
          </p:cNvPr>
          <p:cNvSpPr/>
          <p:nvPr/>
        </p:nvSpPr>
        <p:spPr>
          <a:xfrm>
            <a:off x="8549640" y="3963924"/>
            <a:ext cx="86868" cy="40416"/>
          </a:xfrm>
          <a:prstGeom prst="line">
            <a:avLst/>
          </a:prstGeom>
          <a:noFill/>
          <a:ln w="12700">
            <a:solidFill>
              <a:srgbClr val="C2C2C2"/>
            </a:solidFill>
            <a:prstDash val="solid"/>
          </a:ln>
        </p:spPr>
      </p:sp>
      <p:sp>
        <p:nvSpPr>
          <p:cNvPr id="69" name="Shape 67">
            <a:extLst>
              <a:ext uri="{FF2B5EF4-FFF2-40B4-BE49-F238E27FC236}">
                <a16:creationId xmlns:a16="http://schemas.microsoft.com/office/drawing/2014/main" id="{4CF9D858-A8A3-7FB6-4A9D-D6560CD020E3}"/>
              </a:ext>
            </a:extLst>
          </p:cNvPr>
          <p:cNvSpPr/>
          <p:nvPr/>
        </p:nvSpPr>
        <p:spPr>
          <a:xfrm>
            <a:off x="8636508" y="4004340"/>
            <a:ext cx="86868" cy="7498"/>
          </a:xfrm>
          <a:prstGeom prst="line">
            <a:avLst/>
          </a:prstGeom>
          <a:noFill/>
          <a:ln w="12700">
            <a:solidFill>
              <a:srgbClr val="C2C2C2"/>
            </a:solidFill>
            <a:prstDash val="solid"/>
          </a:ln>
        </p:spPr>
      </p:sp>
      <p:sp>
        <p:nvSpPr>
          <p:cNvPr id="70" name="Shape 68">
            <a:extLst>
              <a:ext uri="{FF2B5EF4-FFF2-40B4-BE49-F238E27FC236}">
                <a16:creationId xmlns:a16="http://schemas.microsoft.com/office/drawing/2014/main" id="{5DC76FAB-48B7-3EAE-B095-8276E6E6B9DA}"/>
              </a:ext>
            </a:extLst>
          </p:cNvPr>
          <p:cNvSpPr/>
          <p:nvPr/>
        </p:nvSpPr>
        <p:spPr>
          <a:xfrm flipV="1">
            <a:off x="8723376" y="3986418"/>
            <a:ext cx="86868" cy="25420"/>
          </a:xfrm>
          <a:prstGeom prst="line">
            <a:avLst/>
          </a:prstGeom>
          <a:noFill/>
          <a:ln w="12700">
            <a:solidFill>
              <a:srgbClr val="C2C2C2"/>
            </a:solidFill>
            <a:prstDash val="solid"/>
          </a:ln>
        </p:spPr>
      </p:sp>
      <p:sp>
        <p:nvSpPr>
          <p:cNvPr id="71" name="Shape 69">
            <a:extLst>
              <a:ext uri="{FF2B5EF4-FFF2-40B4-BE49-F238E27FC236}">
                <a16:creationId xmlns:a16="http://schemas.microsoft.com/office/drawing/2014/main" id="{4038D58C-D23C-2BD8-51FD-D0C4C773DC87}"/>
              </a:ext>
            </a:extLst>
          </p:cNvPr>
          <p:cNvSpPr/>
          <p:nvPr/>
        </p:nvSpPr>
        <p:spPr>
          <a:xfrm flipV="1">
            <a:off x="8810244" y="3928080"/>
            <a:ext cx="86868" cy="58339"/>
          </a:xfrm>
          <a:prstGeom prst="line">
            <a:avLst/>
          </a:prstGeom>
          <a:noFill/>
          <a:ln w="12700">
            <a:solidFill>
              <a:srgbClr val="C2C2C2"/>
            </a:solidFill>
            <a:prstDash val="solid"/>
          </a:ln>
        </p:spPr>
      </p:sp>
      <p:sp>
        <p:nvSpPr>
          <p:cNvPr id="72" name="Shape 70">
            <a:extLst>
              <a:ext uri="{FF2B5EF4-FFF2-40B4-BE49-F238E27FC236}">
                <a16:creationId xmlns:a16="http://schemas.microsoft.com/office/drawing/2014/main" id="{E28BC78D-CD91-75A5-A774-7DF5E3C3A32A}"/>
              </a:ext>
            </a:extLst>
          </p:cNvPr>
          <p:cNvSpPr/>
          <p:nvPr/>
        </p:nvSpPr>
        <p:spPr>
          <a:xfrm flipV="1">
            <a:off x="8897112" y="3836822"/>
            <a:ext cx="86868" cy="91257"/>
          </a:xfrm>
          <a:prstGeom prst="line">
            <a:avLst/>
          </a:prstGeom>
          <a:noFill/>
          <a:ln w="12700">
            <a:solidFill>
              <a:srgbClr val="C2C2C2"/>
            </a:solidFill>
            <a:prstDash val="solid"/>
          </a:ln>
        </p:spPr>
      </p:sp>
      <p:sp>
        <p:nvSpPr>
          <p:cNvPr id="73" name="Shape 71">
            <a:extLst>
              <a:ext uri="{FF2B5EF4-FFF2-40B4-BE49-F238E27FC236}">
                <a16:creationId xmlns:a16="http://schemas.microsoft.com/office/drawing/2014/main" id="{BA396522-F4A0-8B2F-05E9-E3AC48E51F3B}"/>
              </a:ext>
            </a:extLst>
          </p:cNvPr>
          <p:cNvSpPr/>
          <p:nvPr/>
        </p:nvSpPr>
        <p:spPr>
          <a:xfrm flipV="1">
            <a:off x="8983980" y="3712647"/>
            <a:ext cx="86868" cy="124176"/>
          </a:xfrm>
          <a:prstGeom prst="line">
            <a:avLst/>
          </a:prstGeom>
          <a:noFill/>
          <a:ln w="12700">
            <a:solidFill>
              <a:srgbClr val="C2C2C2"/>
            </a:solidFill>
            <a:prstDash val="solid"/>
          </a:ln>
        </p:spPr>
      </p:sp>
      <p:sp>
        <p:nvSpPr>
          <p:cNvPr id="74" name="Shape 72">
            <a:extLst>
              <a:ext uri="{FF2B5EF4-FFF2-40B4-BE49-F238E27FC236}">
                <a16:creationId xmlns:a16="http://schemas.microsoft.com/office/drawing/2014/main" id="{27F6E166-6CFB-E498-E862-CDBFC5AFD78F}"/>
              </a:ext>
            </a:extLst>
          </p:cNvPr>
          <p:cNvSpPr/>
          <p:nvPr/>
        </p:nvSpPr>
        <p:spPr>
          <a:xfrm flipV="1">
            <a:off x="9070848" y="3555553"/>
            <a:ext cx="86868" cy="157094"/>
          </a:xfrm>
          <a:prstGeom prst="line">
            <a:avLst/>
          </a:prstGeom>
          <a:noFill/>
          <a:ln w="12700">
            <a:solidFill>
              <a:srgbClr val="C2C2C2"/>
            </a:solidFill>
            <a:prstDash val="solid"/>
          </a:ln>
        </p:spPr>
      </p:sp>
      <p:sp>
        <p:nvSpPr>
          <p:cNvPr id="75" name="Shape 73">
            <a:extLst>
              <a:ext uri="{FF2B5EF4-FFF2-40B4-BE49-F238E27FC236}">
                <a16:creationId xmlns:a16="http://schemas.microsoft.com/office/drawing/2014/main" id="{28296FFE-79CB-3CBE-079E-CBFD5B3A94EE}"/>
              </a:ext>
            </a:extLst>
          </p:cNvPr>
          <p:cNvSpPr/>
          <p:nvPr/>
        </p:nvSpPr>
        <p:spPr>
          <a:xfrm flipV="1">
            <a:off x="9157716" y="3365541"/>
            <a:ext cx="86868" cy="190012"/>
          </a:xfrm>
          <a:prstGeom prst="line">
            <a:avLst/>
          </a:prstGeom>
          <a:noFill/>
          <a:ln w="12700">
            <a:solidFill>
              <a:srgbClr val="C2C2C2"/>
            </a:solidFill>
            <a:prstDash val="solid"/>
          </a:ln>
        </p:spPr>
      </p:sp>
      <p:sp>
        <p:nvSpPr>
          <p:cNvPr id="76" name="Shape 74">
            <a:extLst>
              <a:ext uri="{FF2B5EF4-FFF2-40B4-BE49-F238E27FC236}">
                <a16:creationId xmlns:a16="http://schemas.microsoft.com/office/drawing/2014/main" id="{51699BF9-BACF-D2E2-C8BB-F877A71E020A}"/>
              </a:ext>
            </a:extLst>
          </p:cNvPr>
          <p:cNvSpPr/>
          <p:nvPr/>
        </p:nvSpPr>
        <p:spPr>
          <a:xfrm flipV="1">
            <a:off x="9244584" y="3142610"/>
            <a:ext cx="86868" cy="222931"/>
          </a:xfrm>
          <a:prstGeom prst="line">
            <a:avLst/>
          </a:prstGeom>
          <a:noFill/>
          <a:ln w="12700">
            <a:solidFill>
              <a:srgbClr val="C2C2C2"/>
            </a:solidFill>
            <a:prstDash val="solid"/>
          </a:ln>
        </p:spPr>
      </p:sp>
      <p:sp>
        <p:nvSpPr>
          <p:cNvPr id="77" name="Shape 75">
            <a:extLst>
              <a:ext uri="{FF2B5EF4-FFF2-40B4-BE49-F238E27FC236}">
                <a16:creationId xmlns:a16="http://schemas.microsoft.com/office/drawing/2014/main" id="{F117090E-FBC8-3ACB-3F99-A972D6611123}"/>
              </a:ext>
            </a:extLst>
          </p:cNvPr>
          <p:cNvSpPr/>
          <p:nvPr/>
        </p:nvSpPr>
        <p:spPr>
          <a:xfrm flipV="1">
            <a:off x="9331452" y="2886761"/>
            <a:ext cx="86868" cy="255849"/>
          </a:xfrm>
          <a:prstGeom prst="line">
            <a:avLst/>
          </a:prstGeom>
          <a:noFill/>
          <a:ln w="12700">
            <a:solidFill>
              <a:srgbClr val="C2C2C2"/>
            </a:solidFill>
            <a:prstDash val="solid"/>
          </a:ln>
        </p:spPr>
      </p:sp>
      <p:sp>
        <p:nvSpPr>
          <p:cNvPr id="78" name="Shape 76">
            <a:extLst>
              <a:ext uri="{FF2B5EF4-FFF2-40B4-BE49-F238E27FC236}">
                <a16:creationId xmlns:a16="http://schemas.microsoft.com/office/drawing/2014/main" id="{F608F327-1455-77E0-FB4E-3C1B14DA6602}"/>
              </a:ext>
            </a:extLst>
          </p:cNvPr>
          <p:cNvSpPr/>
          <p:nvPr/>
        </p:nvSpPr>
        <p:spPr>
          <a:xfrm flipV="1">
            <a:off x="7045452" y="3963924"/>
            <a:ext cx="41148" cy="128016"/>
          </a:xfrm>
          <a:prstGeom prst="line">
            <a:avLst/>
          </a:prstGeom>
          <a:noFill/>
          <a:ln w="12700">
            <a:solidFill>
              <a:srgbClr val="C2C2C2"/>
            </a:solidFill>
            <a:prstDash val="solid"/>
          </a:ln>
        </p:spPr>
      </p:sp>
      <p:sp>
        <p:nvSpPr>
          <p:cNvPr id="79" name="Shape 77">
            <a:extLst>
              <a:ext uri="{FF2B5EF4-FFF2-40B4-BE49-F238E27FC236}">
                <a16:creationId xmlns:a16="http://schemas.microsoft.com/office/drawing/2014/main" id="{5F2F9B7F-FD3D-4E1A-959B-E1B441A91B4F}"/>
              </a:ext>
            </a:extLst>
          </p:cNvPr>
          <p:cNvSpPr/>
          <p:nvPr/>
        </p:nvSpPr>
        <p:spPr>
          <a:xfrm flipV="1">
            <a:off x="7004304" y="4091940"/>
            <a:ext cx="41148" cy="109728"/>
          </a:xfrm>
          <a:prstGeom prst="line">
            <a:avLst/>
          </a:prstGeom>
          <a:noFill/>
          <a:ln w="12700">
            <a:solidFill>
              <a:srgbClr val="C2C2C2"/>
            </a:solidFill>
            <a:prstDash val="solid"/>
          </a:ln>
        </p:spPr>
      </p:sp>
      <p:sp>
        <p:nvSpPr>
          <p:cNvPr id="80" name="Shape 78">
            <a:extLst>
              <a:ext uri="{FF2B5EF4-FFF2-40B4-BE49-F238E27FC236}">
                <a16:creationId xmlns:a16="http://schemas.microsoft.com/office/drawing/2014/main" id="{9E8A7A8F-CDBD-593B-765C-11E6F348DB21}"/>
              </a:ext>
            </a:extLst>
          </p:cNvPr>
          <p:cNvSpPr/>
          <p:nvPr/>
        </p:nvSpPr>
        <p:spPr>
          <a:xfrm flipV="1">
            <a:off x="6963156" y="4201668"/>
            <a:ext cx="41148" cy="91440"/>
          </a:xfrm>
          <a:prstGeom prst="line">
            <a:avLst/>
          </a:prstGeom>
          <a:noFill/>
          <a:ln w="12700">
            <a:solidFill>
              <a:srgbClr val="C2C2C2"/>
            </a:solidFill>
            <a:prstDash val="solid"/>
          </a:ln>
        </p:spPr>
      </p:sp>
      <p:sp>
        <p:nvSpPr>
          <p:cNvPr id="81" name="Shape 79">
            <a:extLst>
              <a:ext uri="{FF2B5EF4-FFF2-40B4-BE49-F238E27FC236}">
                <a16:creationId xmlns:a16="http://schemas.microsoft.com/office/drawing/2014/main" id="{8B303E9C-DE6A-8C29-7C73-B6E003D685A8}"/>
              </a:ext>
            </a:extLst>
          </p:cNvPr>
          <p:cNvSpPr/>
          <p:nvPr/>
        </p:nvSpPr>
        <p:spPr>
          <a:xfrm flipV="1">
            <a:off x="6922008" y="4293108"/>
            <a:ext cx="41148" cy="73152"/>
          </a:xfrm>
          <a:prstGeom prst="line">
            <a:avLst/>
          </a:prstGeom>
          <a:noFill/>
          <a:ln w="12700">
            <a:solidFill>
              <a:srgbClr val="C2C2C2"/>
            </a:solidFill>
            <a:prstDash val="solid"/>
          </a:ln>
        </p:spPr>
      </p:sp>
      <p:sp>
        <p:nvSpPr>
          <p:cNvPr id="82" name="Shape 80">
            <a:extLst>
              <a:ext uri="{FF2B5EF4-FFF2-40B4-BE49-F238E27FC236}">
                <a16:creationId xmlns:a16="http://schemas.microsoft.com/office/drawing/2014/main" id="{52F5E8A4-6056-52AE-5AF1-6185AEA8E533}"/>
              </a:ext>
            </a:extLst>
          </p:cNvPr>
          <p:cNvSpPr/>
          <p:nvPr/>
        </p:nvSpPr>
        <p:spPr>
          <a:xfrm flipV="1">
            <a:off x="6880860" y="4366260"/>
            <a:ext cx="41148" cy="54864"/>
          </a:xfrm>
          <a:prstGeom prst="line">
            <a:avLst/>
          </a:prstGeom>
          <a:noFill/>
          <a:ln w="12700">
            <a:solidFill>
              <a:srgbClr val="C2C2C2"/>
            </a:solidFill>
            <a:prstDash val="solid"/>
          </a:ln>
        </p:spPr>
      </p:sp>
      <p:sp>
        <p:nvSpPr>
          <p:cNvPr id="83" name="Shape 81">
            <a:extLst>
              <a:ext uri="{FF2B5EF4-FFF2-40B4-BE49-F238E27FC236}">
                <a16:creationId xmlns:a16="http://schemas.microsoft.com/office/drawing/2014/main" id="{DF618E37-1AFD-2166-FEE3-6AF4E50BCBDB}"/>
              </a:ext>
            </a:extLst>
          </p:cNvPr>
          <p:cNvSpPr/>
          <p:nvPr/>
        </p:nvSpPr>
        <p:spPr>
          <a:xfrm flipV="1">
            <a:off x="6839712" y="4421124"/>
            <a:ext cx="41148" cy="36576"/>
          </a:xfrm>
          <a:prstGeom prst="line">
            <a:avLst/>
          </a:prstGeom>
          <a:noFill/>
          <a:ln w="12700">
            <a:solidFill>
              <a:srgbClr val="C2C2C2"/>
            </a:solidFill>
            <a:prstDash val="solid"/>
          </a:ln>
        </p:spPr>
      </p:sp>
      <p:sp>
        <p:nvSpPr>
          <p:cNvPr id="84" name="Shape 82">
            <a:extLst>
              <a:ext uri="{FF2B5EF4-FFF2-40B4-BE49-F238E27FC236}">
                <a16:creationId xmlns:a16="http://schemas.microsoft.com/office/drawing/2014/main" id="{BF0C2F40-5435-8264-3D32-90587DC19163}"/>
              </a:ext>
            </a:extLst>
          </p:cNvPr>
          <p:cNvSpPr/>
          <p:nvPr/>
        </p:nvSpPr>
        <p:spPr>
          <a:xfrm flipV="1">
            <a:off x="6798564" y="4457700"/>
            <a:ext cx="41148" cy="18288"/>
          </a:xfrm>
          <a:prstGeom prst="line">
            <a:avLst/>
          </a:prstGeom>
          <a:noFill/>
          <a:ln w="12700">
            <a:solidFill>
              <a:srgbClr val="C2C2C2"/>
            </a:solidFill>
            <a:prstDash val="solid"/>
          </a:ln>
        </p:spPr>
      </p:sp>
      <p:sp>
        <p:nvSpPr>
          <p:cNvPr id="85" name="Shape 83">
            <a:extLst>
              <a:ext uri="{FF2B5EF4-FFF2-40B4-BE49-F238E27FC236}">
                <a16:creationId xmlns:a16="http://schemas.microsoft.com/office/drawing/2014/main" id="{1174C162-ADA3-1402-F0B1-15930517F9E8}"/>
              </a:ext>
            </a:extLst>
          </p:cNvPr>
          <p:cNvSpPr/>
          <p:nvPr/>
        </p:nvSpPr>
        <p:spPr>
          <a:xfrm flipV="1">
            <a:off x="6757416" y="4475988"/>
            <a:ext cx="41148" cy="0"/>
          </a:xfrm>
          <a:prstGeom prst="line">
            <a:avLst/>
          </a:prstGeom>
          <a:noFill/>
          <a:ln w="12700">
            <a:solidFill>
              <a:srgbClr val="C2C2C2"/>
            </a:solidFill>
            <a:prstDash val="solid"/>
          </a:ln>
        </p:spPr>
      </p:sp>
      <p:sp>
        <p:nvSpPr>
          <p:cNvPr id="86" name="Shape 84">
            <a:extLst>
              <a:ext uri="{FF2B5EF4-FFF2-40B4-BE49-F238E27FC236}">
                <a16:creationId xmlns:a16="http://schemas.microsoft.com/office/drawing/2014/main" id="{16933040-6259-7406-8605-2F66F0B9450E}"/>
              </a:ext>
            </a:extLst>
          </p:cNvPr>
          <p:cNvSpPr/>
          <p:nvPr/>
        </p:nvSpPr>
        <p:spPr>
          <a:xfrm>
            <a:off x="6716268" y="4457700"/>
            <a:ext cx="41148" cy="18288"/>
          </a:xfrm>
          <a:prstGeom prst="line">
            <a:avLst/>
          </a:prstGeom>
          <a:noFill/>
          <a:ln w="12700">
            <a:solidFill>
              <a:srgbClr val="C2C2C2"/>
            </a:solidFill>
            <a:prstDash val="solid"/>
          </a:ln>
        </p:spPr>
      </p:sp>
      <p:sp>
        <p:nvSpPr>
          <p:cNvPr id="87" name="Shape 85">
            <a:extLst>
              <a:ext uri="{FF2B5EF4-FFF2-40B4-BE49-F238E27FC236}">
                <a16:creationId xmlns:a16="http://schemas.microsoft.com/office/drawing/2014/main" id="{323C1F4E-94CD-CFD2-A30D-8CFC74EAD040}"/>
              </a:ext>
            </a:extLst>
          </p:cNvPr>
          <p:cNvSpPr/>
          <p:nvPr/>
        </p:nvSpPr>
        <p:spPr>
          <a:xfrm>
            <a:off x="6675120" y="4421124"/>
            <a:ext cx="41148" cy="36576"/>
          </a:xfrm>
          <a:prstGeom prst="line">
            <a:avLst/>
          </a:prstGeom>
          <a:noFill/>
          <a:ln w="12700">
            <a:solidFill>
              <a:srgbClr val="C2C2C2"/>
            </a:solidFill>
            <a:prstDash val="solid"/>
          </a:ln>
        </p:spPr>
      </p:sp>
      <p:sp>
        <p:nvSpPr>
          <p:cNvPr id="88" name="Sensor node 1">
            <a:extLst>
              <a:ext uri="{FF2B5EF4-FFF2-40B4-BE49-F238E27FC236}">
                <a16:creationId xmlns:a16="http://schemas.microsoft.com/office/drawing/2014/main" id="{3DBCFF52-290C-52AC-8F5B-B15A830626F3}"/>
              </a:ext>
            </a:extLst>
          </p:cNvPr>
          <p:cNvSpPr/>
          <p:nvPr/>
        </p:nvSpPr>
        <p:spPr>
          <a:xfrm>
            <a:off x="8947404" y="2679192"/>
            <a:ext cx="164592" cy="164592"/>
          </a:xfrm>
          <a:prstGeom prst="ellipse">
            <a:avLst/>
          </a:prstGeom>
          <a:solidFill>
            <a:srgbClr val="D46A12"/>
          </a:solidFill>
          <a:ln w="19050">
            <a:solidFill>
              <a:srgbClr val="E6E6E6"/>
            </a:solidFill>
            <a:prstDash val="solid"/>
          </a:ln>
        </p:spPr>
      </p:sp>
      <p:sp>
        <p:nvSpPr>
          <p:cNvPr id="89" name="Sensor node 2">
            <a:extLst>
              <a:ext uri="{FF2B5EF4-FFF2-40B4-BE49-F238E27FC236}">
                <a16:creationId xmlns:a16="http://schemas.microsoft.com/office/drawing/2014/main" id="{EEC2312D-43E6-29A5-E887-79FC7EB6E1EC}"/>
              </a:ext>
            </a:extLst>
          </p:cNvPr>
          <p:cNvSpPr/>
          <p:nvPr/>
        </p:nvSpPr>
        <p:spPr>
          <a:xfrm>
            <a:off x="8901684" y="3754526"/>
            <a:ext cx="164592" cy="164592"/>
          </a:xfrm>
          <a:prstGeom prst="ellipse">
            <a:avLst/>
          </a:prstGeom>
          <a:solidFill>
            <a:srgbClr val="D46A12"/>
          </a:solidFill>
          <a:ln w="19050">
            <a:solidFill>
              <a:srgbClr val="E6E6E6"/>
            </a:solidFill>
            <a:prstDash val="solid"/>
          </a:ln>
        </p:spPr>
      </p:sp>
      <p:pic>
        <p:nvPicPr>
          <p:cNvPr id="3" name="Picture 2">
            <a:extLst>
              <a:ext uri="{FF2B5EF4-FFF2-40B4-BE49-F238E27FC236}">
                <a16:creationId xmlns:a16="http://schemas.microsoft.com/office/drawing/2014/main" id="{CC6C03CF-45CD-246A-3F27-FD7D3903E365}"/>
              </a:ext>
            </a:extLst>
          </p:cNvPr>
          <p:cNvPicPr>
            <a:picLocks noChangeAspect="1"/>
          </p:cNvPicPr>
          <p:nvPr/>
        </p:nvPicPr>
        <p:blipFill>
          <a:blip r:embed="rId3"/>
          <a:stretch>
            <a:fillRect/>
          </a:stretch>
        </p:blipFill>
        <p:spPr>
          <a:xfrm>
            <a:off x="104020" y="6110934"/>
            <a:ext cx="10962085" cy="615585"/>
          </a:xfrm>
          <a:prstGeom prst="rect">
            <a:avLst/>
          </a:prstGeom>
        </p:spPr>
      </p:pic>
      <p:sp>
        <p:nvSpPr>
          <p:cNvPr id="90" name="Title"/>
          <p:cNvSpPr txBox="1"/>
          <p:nvPr/>
        </p:nvSpPr>
        <p:spPr>
          <a:xfrm>
            <a:off x="1051560" y="429768"/>
            <a:ext cx="10332720" cy="548640"/>
          </a:xfrm>
          <a:prstGeom prst="rect">
            <a:avLst/>
          </a:prstGeom>
          <a:noFill/>
        </p:spPr>
        <p:txBody>
          <a:bodyPr wrap="square" lIns="0" rIns="0" tIns="0" bIns="0" anchor="ctr">
            <a:spAutoFit/>
          </a:bodyPr>
          <a:lstStyle/>
          <a:p>
            <a:pPr algn="l"/>
            <a:r>
              <a:rPr sz="2800" b="1">
                <a:solidFill>
                  <a:srgbClr val="1E1E1E"/>
                </a:solidFill>
                <a:latin typeface="Arial"/>
              </a:rPr>
              <a:t>From Prototype to Real-World Impact</a:t>
            </a:r>
          </a:p>
        </p:txBody>
      </p:sp>
      <p:sp>
        <p:nvSpPr>
          <p:cNvPr id="91" name="Subtitle"/>
          <p:cNvSpPr txBox="1"/>
          <p:nvPr/>
        </p:nvSpPr>
        <p:spPr>
          <a:xfrm>
            <a:off x="548640" y="1024128"/>
            <a:ext cx="11064240" cy="320040"/>
          </a:xfrm>
          <a:prstGeom prst="rect">
            <a:avLst/>
          </a:prstGeom>
          <a:noFill/>
        </p:spPr>
        <p:txBody>
          <a:bodyPr wrap="square" lIns="0" rIns="0" tIns="0" bIns="0" anchor="t">
            <a:spAutoFit/>
          </a:bodyPr>
          <a:lstStyle/>
          <a:p>
            <a:pPr algn="l"/>
            <a:r>
              <a:rPr sz="1400" b="0">
                <a:solidFill>
                  <a:srgbClr val="555555"/>
                </a:solidFill>
                <a:latin typeface="Arial"/>
              </a:rPr>
              <a:t>The next step is real data. Everything beyond that depends on it.</a:t>
            </a:r>
          </a:p>
        </p:txBody>
      </p:sp>
      <p:cxnSp>
        <p:nvCxnSpPr>
          <p:cNvPr id="92" name="Connector 91"/>
          <p:cNvCxnSpPr/>
          <p:nvPr/>
        </p:nvCxnSpPr>
        <p:spPr>
          <a:xfrm>
            <a:off x="548640" y="6117336"/>
            <a:ext cx="11155680" cy="0"/>
          </a:xfrm>
          <a:prstGeom prst="line">
            <a:avLst/>
          </a:prstGeom>
          <a:ln w="9525">
            <a:solidFill>
              <a:srgbClr val="BDBDBD"/>
            </a:solidFill>
          </a:ln>
        </p:spPr>
        <p:style>
          <a:lnRef idx="2">
            <a:schemeClr val="accent1"/>
          </a:lnRef>
          <a:fillRef idx="0">
            <a:schemeClr val="accent1"/>
          </a:fillRef>
          <a:effectRef idx="1">
            <a:schemeClr val="accent1"/>
          </a:effectRef>
          <a:fontRef idx="minor">
            <a:schemeClr val="tx1"/>
          </a:fontRef>
        </p:style>
      </p:cxnSp>
      <p:sp>
        <p:nvSpPr>
          <p:cNvPr id="93" name="Footer"/>
          <p:cNvSpPr txBox="1"/>
          <p:nvPr/>
        </p:nvSpPr>
        <p:spPr>
          <a:xfrm>
            <a:off x="548640" y="6291072"/>
            <a:ext cx="8686800" cy="228600"/>
          </a:xfrm>
          <a:prstGeom prst="rect">
            <a:avLst/>
          </a:prstGeom>
          <a:noFill/>
        </p:spPr>
        <p:txBody>
          <a:bodyPr wrap="square" lIns="0" rIns="0" tIns="0" bIns="0" anchor="t">
            <a:spAutoFit/>
          </a:bodyPr>
          <a:lstStyle/>
          <a:p>
            <a:pPr algn="l"/>
            <a:r>
              <a:rPr sz="1000" b="1">
                <a:solidFill>
                  <a:srgbClr val="555555"/>
                </a:solidFill>
                <a:latin typeface="Arial"/>
              </a:rPr>
              <a:t>VOLTMIND  /  DISTRIBUTION TRANSFORMER DIGITAL TWIN  /  DIGITAL TWIN HACKATHON  ·  ORGANISED BY CPRI</a:t>
            </a:r>
          </a:p>
        </p:txBody>
      </p:sp>
      <p:sp>
        <p:nvSpPr>
          <p:cNvPr id="94" name="Page"/>
          <p:cNvSpPr txBox="1"/>
          <p:nvPr/>
        </p:nvSpPr>
        <p:spPr>
          <a:xfrm>
            <a:off x="10332720" y="6291072"/>
            <a:ext cx="1371600" cy="228600"/>
          </a:xfrm>
          <a:prstGeom prst="rect">
            <a:avLst/>
          </a:prstGeom>
          <a:noFill/>
        </p:spPr>
        <p:txBody>
          <a:bodyPr wrap="square" lIns="0" rIns="0" tIns="0" bIns="0" anchor="t">
            <a:spAutoFit/>
          </a:bodyPr>
          <a:lstStyle/>
          <a:p>
            <a:pPr algn="r"/>
            <a:r>
              <a:rPr sz="1000" b="1">
                <a:solidFill>
                  <a:srgbClr val="D46A12"/>
                </a:solidFill>
                <a:latin typeface="Arial"/>
              </a:rPr>
              <a:t>10 / 10</a:t>
            </a:r>
          </a:p>
        </p:txBody>
      </p:sp>
      <p:sp>
        <p:nvSpPr>
          <p:cNvPr id="95" name="Rectangle 94"/>
          <p:cNvSpPr/>
          <p:nvPr/>
        </p:nvSpPr>
        <p:spPr>
          <a:xfrm>
            <a:off x="548640" y="1508760"/>
            <a:ext cx="2606040" cy="24231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13232" y="1627632"/>
            <a:ext cx="2331720" cy="274320"/>
          </a:xfrm>
          <a:prstGeom prst="rect">
            <a:avLst/>
          </a:prstGeom>
          <a:noFill/>
        </p:spPr>
        <p:txBody>
          <a:bodyPr wrap="square" lIns="0" rIns="0" tIns="0" bIns="0" anchor="t">
            <a:spAutoFit/>
          </a:bodyPr>
          <a:lstStyle/>
          <a:p>
            <a:pPr algn="l"/>
            <a:r>
              <a:rPr sz="1100" b="1">
                <a:solidFill>
                  <a:srgbClr val="D46A12"/>
                </a:solidFill>
                <a:latin typeface="Arial"/>
              </a:rPr>
              <a:t>TODAY</a:t>
            </a:r>
          </a:p>
        </p:txBody>
      </p:sp>
      <p:sp>
        <p:nvSpPr>
          <p:cNvPr id="97" name="TextBox 96"/>
          <p:cNvSpPr txBox="1"/>
          <p:nvPr/>
        </p:nvSpPr>
        <p:spPr>
          <a:xfrm>
            <a:off x="713232" y="1920240"/>
            <a:ext cx="2331720" cy="365760"/>
          </a:xfrm>
          <a:prstGeom prst="rect">
            <a:avLst/>
          </a:prstGeom>
          <a:noFill/>
        </p:spPr>
        <p:txBody>
          <a:bodyPr wrap="square" lIns="0" rIns="0" tIns="0" bIns="0" anchor="t">
            <a:spAutoFit/>
          </a:bodyPr>
          <a:lstStyle/>
          <a:p>
            <a:pPr algn="l"/>
            <a:r>
              <a:rPr sz="1500" b="1">
                <a:solidFill>
                  <a:srgbClr val="1E1E1E"/>
                </a:solidFill>
                <a:latin typeface="Arial"/>
              </a:rPr>
              <a:t>Working prototype</a:t>
            </a:r>
          </a:p>
        </p:txBody>
      </p:sp>
      <p:sp>
        <p:nvSpPr>
          <p:cNvPr id="98" name="TextBox 97"/>
          <p:cNvSpPr txBox="1"/>
          <p:nvPr/>
        </p:nvSpPr>
        <p:spPr>
          <a:xfrm>
            <a:off x="713232" y="2395728"/>
            <a:ext cx="2286000" cy="1463040"/>
          </a:xfrm>
          <a:prstGeom prst="rect">
            <a:avLst/>
          </a:prstGeom>
          <a:noFill/>
        </p:spPr>
        <p:txBody>
          <a:bodyPr wrap="square" lIns="0" rIns="0" tIns="0" bIns="0" anchor="t">
            <a:spAutoFit/>
          </a:bodyPr>
          <a:lstStyle/>
          <a:p>
            <a:pPr algn="l"/>
            <a:r>
              <a:rPr sz="1250" b="0">
                <a:solidFill>
                  <a:srgbClr val="1E1E1E"/>
                </a:solidFill>
                <a:latin typeface="Arial"/>
              </a:rPr>
              <a:t>Replay of recorded SCADA data</a:t>
            </a:r>
          </a:p>
          <a:p>
            <a:pPr algn="l">
              <a:spcBef>
                <a:spcPts val="600"/>
              </a:spcBef>
            </a:pPr>
            <a:r>
              <a:rPr sz="1250" b="0">
                <a:solidFill>
                  <a:srgbClr val="1E1E1E"/>
                </a:solidFill>
                <a:latin typeface="Arial"/>
              </a:rPr>
              <a:t>Three rating-specific detectors</a:t>
            </a:r>
          </a:p>
          <a:p>
            <a:pPr algn="l">
              <a:spcBef>
                <a:spcPts val="600"/>
              </a:spcBef>
            </a:pPr>
            <a:r>
              <a:rPr sz="1250" b="0">
                <a:solidFill>
                  <a:srgbClr val="1E1E1E"/>
                </a:solidFill>
                <a:latin typeface="Arial"/>
              </a:rPr>
              <a:t>Five investigation tools on 100 kVA</a:t>
            </a:r>
          </a:p>
        </p:txBody>
      </p:sp>
      <p:cxnSp>
        <p:nvCxnSpPr>
          <p:cNvPr id="99" name="Connector 98"/>
          <p:cNvCxnSpPr/>
          <p:nvPr/>
        </p:nvCxnSpPr>
        <p:spPr>
          <a:xfrm>
            <a:off x="3163824" y="2743200"/>
            <a:ext cx="225856"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3398824" y="1508760"/>
            <a:ext cx="2606040" cy="242316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563416" y="1627632"/>
            <a:ext cx="2331720" cy="274320"/>
          </a:xfrm>
          <a:prstGeom prst="rect">
            <a:avLst/>
          </a:prstGeom>
          <a:noFill/>
        </p:spPr>
        <p:txBody>
          <a:bodyPr wrap="square" lIns="0" rIns="0" tIns="0" bIns="0" anchor="t">
            <a:spAutoFit/>
          </a:bodyPr>
          <a:lstStyle/>
          <a:p>
            <a:pPr algn="l"/>
            <a:r>
              <a:rPr sz="1100" b="1">
                <a:solidFill>
                  <a:srgbClr val="D46A12"/>
                </a:solidFill>
                <a:latin typeface="Arial"/>
              </a:rPr>
              <a:t>NEXT</a:t>
            </a:r>
          </a:p>
        </p:txBody>
      </p:sp>
      <p:sp>
        <p:nvSpPr>
          <p:cNvPr id="102" name="TextBox 101"/>
          <p:cNvSpPr txBox="1"/>
          <p:nvPr/>
        </p:nvSpPr>
        <p:spPr>
          <a:xfrm>
            <a:off x="3563416" y="1920240"/>
            <a:ext cx="2331720" cy="365760"/>
          </a:xfrm>
          <a:prstGeom prst="rect">
            <a:avLst/>
          </a:prstGeom>
          <a:noFill/>
        </p:spPr>
        <p:txBody>
          <a:bodyPr wrap="square" lIns="0" rIns="0" tIns="0" bIns="0" anchor="t">
            <a:spAutoFit/>
          </a:bodyPr>
          <a:lstStyle/>
          <a:p>
            <a:pPr algn="l"/>
            <a:r>
              <a:rPr sz="1500" b="1">
                <a:solidFill>
                  <a:srgbClr val="1E1E1E"/>
                </a:solidFill>
                <a:latin typeface="Arial"/>
              </a:rPr>
              <a:t>Prove it on real assets</a:t>
            </a:r>
          </a:p>
        </p:txBody>
      </p:sp>
      <p:sp>
        <p:nvSpPr>
          <p:cNvPr id="103" name="TextBox 102"/>
          <p:cNvSpPr txBox="1"/>
          <p:nvPr/>
        </p:nvSpPr>
        <p:spPr>
          <a:xfrm>
            <a:off x="3563416" y="2395728"/>
            <a:ext cx="2286000" cy="1463040"/>
          </a:xfrm>
          <a:prstGeom prst="rect">
            <a:avLst/>
          </a:prstGeom>
          <a:noFill/>
        </p:spPr>
        <p:txBody>
          <a:bodyPr wrap="square" lIns="0" rIns="0" tIns="0" bIns="0" anchor="t">
            <a:spAutoFit/>
          </a:bodyPr>
          <a:lstStyle/>
          <a:p>
            <a:pPr algn="l"/>
            <a:r>
              <a:rPr sz="1250" b="0">
                <a:solidFill>
                  <a:srgbClr val="1E1E1E"/>
                </a:solidFill>
                <a:latin typeface="Arial"/>
              </a:rPr>
              <a:t>Live SCADA / IoT feed</a:t>
            </a:r>
          </a:p>
          <a:p>
            <a:pPr algn="l">
              <a:spcBef>
                <a:spcPts val="600"/>
              </a:spcBef>
            </a:pPr>
            <a:r>
              <a:rPr sz="1250" b="0">
                <a:solidFill>
                  <a:srgbClr val="1E1E1E"/>
                </a:solidFill>
                <a:latin typeface="Arial"/>
              </a:rPr>
              <a:t>Independent commissioning</a:t>
            </a:r>
          </a:p>
          <a:p>
            <a:pPr algn="l">
              <a:spcBef>
                <a:spcPts val="600"/>
              </a:spcBef>
            </a:pPr>
            <a:r>
              <a:rPr sz="1250" b="0">
                <a:solidFill>
                  <a:srgbClr val="1E1E1E"/>
                </a:solidFill>
                <a:latin typeface="Arial"/>
              </a:rPr>
              <a:t>Field validation against observations</a:t>
            </a:r>
          </a:p>
        </p:txBody>
      </p:sp>
      <p:cxnSp>
        <p:nvCxnSpPr>
          <p:cNvPr id="104" name="Connector 103"/>
          <p:cNvCxnSpPr/>
          <p:nvPr/>
        </p:nvCxnSpPr>
        <p:spPr>
          <a:xfrm>
            <a:off x="6014008" y="2743200"/>
            <a:ext cx="225857"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6249009" y="1508760"/>
            <a:ext cx="2606040" cy="24231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413601" y="1627632"/>
            <a:ext cx="2331720" cy="274320"/>
          </a:xfrm>
          <a:prstGeom prst="rect">
            <a:avLst/>
          </a:prstGeom>
          <a:noFill/>
        </p:spPr>
        <p:txBody>
          <a:bodyPr wrap="square" lIns="0" rIns="0" tIns="0" bIns="0" anchor="t">
            <a:spAutoFit/>
          </a:bodyPr>
          <a:lstStyle/>
          <a:p>
            <a:pPr algn="l"/>
            <a:r>
              <a:rPr sz="1100" b="1">
                <a:solidFill>
                  <a:srgbClr val="D46A12"/>
                </a:solidFill>
                <a:latin typeface="Arial"/>
              </a:rPr>
              <a:t>THEN</a:t>
            </a:r>
          </a:p>
        </p:txBody>
      </p:sp>
      <p:sp>
        <p:nvSpPr>
          <p:cNvPr id="107" name="TextBox 106"/>
          <p:cNvSpPr txBox="1"/>
          <p:nvPr/>
        </p:nvSpPr>
        <p:spPr>
          <a:xfrm>
            <a:off x="6413601" y="1920240"/>
            <a:ext cx="2331720" cy="365760"/>
          </a:xfrm>
          <a:prstGeom prst="rect">
            <a:avLst/>
          </a:prstGeom>
          <a:noFill/>
        </p:spPr>
        <p:txBody>
          <a:bodyPr wrap="square" lIns="0" rIns="0" tIns="0" bIns="0" anchor="t">
            <a:spAutoFit/>
          </a:bodyPr>
          <a:lstStyle/>
          <a:p>
            <a:pPr algn="l"/>
            <a:r>
              <a:rPr sz="1500" b="1">
                <a:solidFill>
                  <a:srgbClr val="1E1E1E"/>
                </a:solidFill>
                <a:latin typeface="Arial"/>
              </a:rPr>
              <a:t>Broaden</a:t>
            </a:r>
          </a:p>
        </p:txBody>
      </p:sp>
      <p:sp>
        <p:nvSpPr>
          <p:cNvPr id="108" name="TextBox 107"/>
          <p:cNvSpPr txBox="1"/>
          <p:nvPr/>
        </p:nvSpPr>
        <p:spPr>
          <a:xfrm>
            <a:off x="6413601" y="2395728"/>
            <a:ext cx="2286000" cy="1463040"/>
          </a:xfrm>
          <a:prstGeom prst="rect">
            <a:avLst/>
          </a:prstGeom>
          <a:noFill/>
        </p:spPr>
        <p:txBody>
          <a:bodyPr wrap="square" lIns="0" rIns="0" tIns="0" bIns="0" anchor="t">
            <a:spAutoFit/>
          </a:bodyPr>
          <a:lstStyle/>
          <a:p>
            <a:pPr algn="l"/>
            <a:r>
              <a:rPr sz="1250" b="0">
                <a:solidFill>
                  <a:srgbClr val="1E1E1E"/>
                </a:solidFill>
                <a:latin typeface="Arial"/>
              </a:rPr>
              <a:t>Investigation tools for 250 and 630 kVA</a:t>
            </a:r>
          </a:p>
          <a:p>
            <a:pPr algn="l">
              <a:spcBef>
                <a:spcPts val="600"/>
              </a:spcBef>
            </a:pPr>
            <a:r>
              <a:rPr sz="1250" b="0">
                <a:solidFill>
                  <a:srgbClr val="1E1E1E"/>
                </a:solidFill>
                <a:latin typeface="Arial"/>
              </a:rPr>
              <a:t>Better fault diagnosis</a:t>
            </a:r>
          </a:p>
          <a:p>
            <a:pPr algn="l">
              <a:spcBef>
                <a:spcPts val="600"/>
              </a:spcBef>
            </a:pPr>
            <a:r>
              <a:rPr sz="1250" b="0">
                <a:solidFill>
                  <a:srgbClr val="1E1E1E"/>
                </a:solidFill>
                <a:latin typeface="Arial"/>
              </a:rPr>
              <a:t>Maintenance work-order integration</a:t>
            </a:r>
          </a:p>
        </p:txBody>
      </p:sp>
      <p:cxnSp>
        <p:nvCxnSpPr>
          <p:cNvPr id="109" name="Connector 108"/>
          <p:cNvCxnSpPr/>
          <p:nvPr/>
        </p:nvCxnSpPr>
        <p:spPr>
          <a:xfrm>
            <a:off x="8864193" y="2743200"/>
            <a:ext cx="225857" cy="0"/>
          </a:xfrm>
          <a:prstGeom prst="line">
            <a:avLst/>
          </a:prstGeom>
          <a:ln w="19050">
            <a:solidFill>
              <a:srgbClr val="D46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9099194" y="1508760"/>
            <a:ext cx="2606040" cy="242316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63786" y="1627632"/>
            <a:ext cx="2331720" cy="274320"/>
          </a:xfrm>
          <a:prstGeom prst="rect">
            <a:avLst/>
          </a:prstGeom>
          <a:noFill/>
        </p:spPr>
        <p:txBody>
          <a:bodyPr wrap="square" lIns="0" rIns="0" tIns="0" bIns="0" anchor="t">
            <a:spAutoFit/>
          </a:bodyPr>
          <a:lstStyle/>
          <a:p>
            <a:pPr algn="l"/>
            <a:r>
              <a:rPr sz="1100" b="1">
                <a:solidFill>
                  <a:srgbClr val="D46A12"/>
                </a:solidFill>
                <a:latin typeface="Arial"/>
              </a:rPr>
              <a:t>LATER</a:t>
            </a:r>
          </a:p>
        </p:txBody>
      </p:sp>
      <p:sp>
        <p:nvSpPr>
          <p:cNvPr id="112" name="TextBox 111"/>
          <p:cNvSpPr txBox="1"/>
          <p:nvPr/>
        </p:nvSpPr>
        <p:spPr>
          <a:xfrm>
            <a:off x="9263786" y="1920240"/>
            <a:ext cx="2331720" cy="365760"/>
          </a:xfrm>
          <a:prstGeom prst="rect">
            <a:avLst/>
          </a:prstGeom>
          <a:noFill/>
        </p:spPr>
        <p:txBody>
          <a:bodyPr wrap="square" lIns="0" rIns="0" tIns="0" bIns="0" anchor="t">
            <a:spAutoFit/>
          </a:bodyPr>
          <a:lstStyle/>
          <a:p>
            <a:pPr algn="l"/>
            <a:r>
              <a:rPr sz="1500" b="1">
                <a:solidFill>
                  <a:srgbClr val="1E1E1E"/>
                </a:solidFill>
                <a:latin typeface="Arial"/>
              </a:rPr>
              <a:t>Plan ahead</a:t>
            </a:r>
          </a:p>
        </p:txBody>
      </p:sp>
      <p:sp>
        <p:nvSpPr>
          <p:cNvPr id="113" name="TextBox 112"/>
          <p:cNvSpPr txBox="1"/>
          <p:nvPr/>
        </p:nvSpPr>
        <p:spPr>
          <a:xfrm>
            <a:off x="9263786" y="2395728"/>
            <a:ext cx="2286000" cy="1463040"/>
          </a:xfrm>
          <a:prstGeom prst="rect">
            <a:avLst/>
          </a:prstGeom>
          <a:noFill/>
        </p:spPr>
        <p:txBody>
          <a:bodyPr wrap="square" lIns="0" rIns="0" tIns="0" bIns="0" anchor="t">
            <a:spAutoFit/>
          </a:bodyPr>
          <a:lstStyle/>
          <a:p>
            <a:pPr algn="l"/>
            <a:r>
              <a:rPr sz="1250" b="0">
                <a:solidFill>
                  <a:srgbClr val="1E1E1E"/>
                </a:solidFill>
                <a:latin typeface="Arial"/>
              </a:rPr>
              <a:t>Ageing and remaining-life studies</a:t>
            </a:r>
          </a:p>
          <a:p>
            <a:pPr algn="l">
              <a:spcBef>
                <a:spcPts val="600"/>
              </a:spcBef>
            </a:pPr>
            <a:r>
              <a:rPr sz="1250" b="0">
                <a:solidFill>
                  <a:srgbClr val="1E1E1E"/>
                </a:solidFill>
                <a:latin typeface="Arial"/>
              </a:rPr>
              <a:t>Fleet-level view across many transformers</a:t>
            </a:r>
          </a:p>
          <a:p>
            <a:pPr algn="l">
              <a:spcBef>
                <a:spcPts val="600"/>
              </a:spcBef>
            </a:pPr>
            <a:r>
              <a:rPr sz="1250" b="0">
                <a:solidFill>
                  <a:srgbClr val="1E1E1E"/>
                </a:solidFill>
                <a:latin typeface="Arial"/>
              </a:rPr>
              <a:t>Needs long-term field data</a:t>
            </a:r>
          </a:p>
        </p:txBody>
      </p:sp>
      <p:sp>
        <p:nvSpPr>
          <p:cNvPr id="114" name="Rectangle 113"/>
          <p:cNvSpPr/>
          <p:nvPr/>
        </p:nvSpPr>
        <p:spPr>
          <a:xfrm>
            <a:off x="548640" y="4069080"/>
            <a:ext cx="3611880" cy="10972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85800" y="4178808"/>
            <a:ext cx="3337560" cy="877824"/>
          </a:xfrm>
          <a:prstGeom prst="rect">
            <a:avLst/>
          </a:prstGeom>
          <a:noFill/>
        </p:spPr>
        <p:txBody>
          <a:bodyPr wrap="square" lIns="0" rIns="0" tIns="0" bIns="0" anchor="t">
            <a:spAutoFit/>
          </a:bodyPr>
          <a:lstStyle/>
          <a:p>
            <a:pPr algn="l"/>
            <a:r>
              <a:rPr sz="1100" b="1">
                <a:solidFill>
                  <a:srgbClr val="D46A12"/>
                </a:solidFill>
                <a:latin typeface="Arial"/>
              </a:rPr>
              <a:t>FOR MAINTENANCE TEAMS</a:t>
            </a:r>
          </a:p>
          <a:p>
            <a:pPr algn="l">
              <a:spcBef>
                <a:spcPts val="400"/>
              </a:spcBef>
            </a:pPr>
            <a:r>
              <a:rPr sz="1250" b="0">
                <a:solidFill>
                  <a:srgbClr val="1E1E1E"/>
                </a:solidFill>
                <a:latin typeface="Arial"/>
              </a:rPr>
              <a:t>Look into a developing gap earlier, instead of waiting for a fixed alarm limit.</a:t>
            </a:r>
          </a:p>
        </p:txBody>
      </p:sp>
      <p:sp>
        <p:nvSpPr>
          <p:cNvPr id="116" name="Rectangle 115"/>
          <p:cNvSpPr/>
          <p:nvPr/>
        </p:nvSpPr>
        <p:spPr>
          <a:xfrm>
            <a:off x="4320540" y="4069080"/>
            <a:ext cx="3611880" cy="10972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57700" y="4178808"/>
            <a:ext cx="3337560" cy="877824"/>
          </a:xfrm>
          <a:prstGeom prst="rect">
            <a:avLst/>
          </a:prstGeom>
          <a:noFill/>
        </p:spPr>
        <p:txBody>
          <a:bodyPr wrap="square" lIns="0" rIns="0" tIns="0" bIns="0" anchor="t">
            <a:spAutoFit/>
          </a:bodyPr>
          <a:lstStyle/>
          <a:p>
            <a:pPr algn="l"/>
            <a:r>
              <a:rPr sz="1100" b="1">
                <a:solidFill>
                  <a:srgbClr val="D46A12"/>
                </a:solidFill>
                <a:latin typeface="Arial"/>
              </a:rPr>
              <a:t>FOR ASSET REVIEWERS</a:t>
            </a:r>
          </a:p>
          <a:p>
            <a:pPr algn="l">
              <a:spcBef>
                <a:spcPts val="400"/>
              </a:spcBef>
            </a:pPr>
            <a:r>
              <a:rPr sz="1250" b="0">
                <a:solidFill>
                  <a:srgbClr val="1E1E1E"/>
                </a:solidFill>
                <a:latin typeface="Arial"/>
              </a:rPr>
              <a:t>Every alert carries its readings, scores and data quality, so it can be reviewed.</a:t>
            </a:r>
          </a:p>
        </p:txBody>
      </p:sp>
      <p:sp>
        <p:nvSpPr>
          <p:cNvPr id="118" name="Rectangle 117"/>
          <p:cNvSpPr/>
          <p:nvPr/>
        </p:nvSpPr>
        <p:spPr>
          <a:xfrm>
            <a:off x="8092440" y="4069080"/>
            <a:ext cx="3611880" cy="1097280"/>
          </a:xfrm>
          <a:prstGeom prst="rect">
            <a:avLst/>
          </a:prstGeom>
          <a:solidFill>
            <a:srgbClr val="F5F5F5"/>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229600" y="4178808"/>
            <a:ext cx="3337560" cy="877824"/>
          </a:xfrm>
          <a:prstGeom prst="rect">
            <a:avLst/>
          </a:prstGeom>
          <a:noFill/>
        </p:spPr>
        <p:txBody>
          <a:bodyPr wrap="square" lIns="0" rIns="0" tIns="0" bIns="0" anchor="t">
            <a:spAutoFit/>
          </a:bodyPr>
          <a:lstStyle/>
          <a:p>
            <a:pPr algn="l"/>
            <a:r>
              <a:rPr sz="1100" b="1">
                <a:solidFill>
                  <a:srgbClr val="D46A12"/>
                </a:solidFill>
                <a:latin typeface="Arial"/>
              </a:rPr>
              <a:t>FOR ENGINEERS</a:t>
            </a:r>
          </a:p>
          <a:p>
            <a:pPr algn="l">
              <a:spcBef>
                <a:spcPts val="400"/>
              </a:spcBef>
            </a:pPr>
            <a:r>
              <a:rPr sz="1250" b="0">
                <a:solidFill>
                  <a:srgbClr val="1E1E1E"/>
                </a:solidFill>
                <a:latin typeface="Arial"/>
              </a:rPr>
              <a:t>Test whether a repair held, and keep the final call.</a:t>
            </a:r>
          </a:p>
        </p:txBody>
      </p:sp>
      <p:sp>
        <p:nvSpPr>
          <p:cNvPr id="120" name="Rectangle 119"/>
          <p:cNvSpPr/>
          <p:nvPr/>
        </p:nvSpPr>
        <p:spPr>
          <a:xfrm>
            <a:off x="548640" y="5349240"/>
            <a:ext cx="11155680" cy="457200"/>
          </a:xfrm>
          <a:prstGeom prst="rect">
            <a:avLst/>
          </a:prstGeom>
          <a:solidFill>
            <a:srgbClr val="F6DEC8"/>
          </a:solidFill>
          <a:ln w="9525">
            <a:solidFill>
              <a:srgbClr val="C4C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13232" y="5349240"/>
            <a:ext cx="10881360" cy="457200"/>
          </a:xfrm>
          <a:prstGeom prst="rect">
            <a:avLst/>
          </a:prstGeom>
          <a:noFill/>
        </p:spPr>
        <p:txBody>
          <a:bodyPr wrap="square" lIns="0" rIns="0" tIns="0" bIns="0" anchor="ctr">
            <a:spAutoFit/>
          </a:bodyPr>
          <a:lstStyle/>
          <a:p>
            <a:pPr algn="l"/>
            <a:r>
              <a:rPr sz="1400" b="1">
                <a:solidFill>
                  <a:srgbClr val="D46A12"/>
                </a:solidFill>
                <a:latin typeface="Arial"/>
              </a:rPr>
              <a:t>Our ask: </a:t>
            </a:r>
            <a:r>
              <a:rPr sz="1400" b="1">
                <a:solidFill>
                  <a:srgbClr val="1E1E1E"/>
                </a:solidFill>
                <a:latin typeface="Arial"/>
              </a:rPr>
              <a:t>real transformer SCADA data, so we can test the locked models on real assets.</a:t>
            </a:r>
          </a:p>
        </p:txBody>
      </p:sp>
      <p:sp>
        <p:nvSpPr>
          <p:cNvPr id="122" name="TextBox 121"/>
          <p:cNvSpPr txBox="1"/>
          <p:nvPr/>
        </p:nvSpPr>
        <p:spPr>
          <a:xfrm>
            <a:off x="548640" y="5870448"/>
            <a:ext cx="11155680" cy="201168"/>
          </a:xfrm>
          <a:prstGeom prst="rect">
            <a:avLst/>
          </a:prstGeom>
          <a:noFill/>
        </p:spPr>
        <p:txBody>
          <a:bodyPr wrap="square" lIns="0" rIns="0" tIns="0" bIns="0" anchor="t">
            <a:spAutoFit/>
          </a:bodyPr>
          <a:lstStyle/>
          <a:p>
            <a:pPr algn="l"/>
            <a:r>
              <a:rPr sz="1050" b="0">
                <a:solidFill>
                  <a:srgbClr val="555555"/>
                </a:solidFill>
                <a:latin typeface="Arial"/>
              </a:rPr>
              <a:t>Impact statements are goals. Savings and failure prevention have not been field-validated.</a:t>
            </a:r>
          </a:p>
        </p:txBody>
      </p:sp>
    </p:spTree>
    <p:extLst>
      <p:ext uri="{BB962C8B-B14F-4D97-AF65-F5344CB8AC3E}">
        <p14:creationId xmlns:p14="http://schemas.microsoft.com/office/powerpoint/2010/main" val="2861663685"/>
      </p:ext>
    </p:extLst>
  </p:cSld>
  <p:clrMapOvr>
    <a:masterClrMapping/>
  </p:clrMapOvr>
</p:sld>
</file>

<file path=ppt/theme/theme1.xml><?xml version="1.0" encoding="utf-8"?>
<a:theme xmlns:a="http://schemas.openxmlformats.org/drawingml/2006/main" name="CPRI Grid Grey">
  <a:themeElements>
    <a:clrScheme name="CPRI Grid Grey">
      <a:dk1>
        <a:srgbClr val="1E1E1E"/>
      </a:dk1>
      <a:lt1>
        <a:srgbClr val="F5F5F5"/>
      </a:lt1>
      <a:dk2>
        <a:srgbClr val="555555"/>
      </a:dk2>
      <a:lt2>
        <a:srgbClr val="E6E6E6"/>
      </a:lt2>
      <a:accent1>
        <a:srgbClr val="D46A12"/>
      </a:accent1>
      <a:accent2>
        <a:srgbClr val="BDBDBD"/>
      </a:accent2>
      <a:accent3>
        <a:srgbClr val="F1D9C3"/>
      </a:accent3>
      <a:accent4>
        <a:srgbClr val="8A8A8A"/>
      </a:accent4>
      <a:accent5>
        <a:srgbClr val="6F6F6F"/>
      </a:accent5>
      <a:accent6>
        <a:srgbClr val="B0541A"/>
      </a:accent6>
      <a:hlink>
        <a:srgbClr val="D46A12"/>
      </a:hlink>
      <a:folHlink>
        <a:srgbClr val="8A8A8A"/>
      </a:folHlink>
    </a:clrScheme>
    <a:fontScheme name="CPRI Grid Gr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370</Words>
  <Application>Microsoft Office PowerPoint</Application>
  <PresentationFormat>Widescreen</PresentationFormat>
  <Paragraphs>20</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CPRI Grid Grey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 CPRI Hackathon Final Presentation (Template)</dc:title>
  <dc:subject>PptxGenJS Presentation</dc:subject>
  <dc:creator>Team</dc:creator>
  <cp:lastModifiedBy>V K</cp:lastModifiedBy>
  <cp:revision>2</cp:revision>
  <dcterms:created xsi:type="dcterms:W3CDTF">2026-10-10T12:45:37Z</dcterms:created>
  <dcterms:modified xsi:type="dcterms:W3CDTF">2026-10-10T13:18:09Z</dcterms:modified>
</cp:coreProperties>
</file>